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9.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0.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18a6d930-1dfd-c774-25f1-dd9400e0718f}">
          <p14:sldIdLst>
            <p14:sldId id="256"/>
          </p14:sldIdLst>
        </p14:section>
        <p14:section name="요약" id="{3842d5d3-2cbb-8a73-0b80-a99908c24548}">
          <p14:sldIdLst>
            <p14:sldId id="257"/>
            <p14:sldId id="258"/>
          </p14:sldIdLst>
        </p14:section>
        <p14:section name="데이터 진단" id="{79ec5911-9565-e917-869c-2a2a7231f756}">
          <p14:sldIdLst>
            <p14:sldId id="259"/>
            <p14:sldId id="260"/>
            <p14:sldId id="261"/>
          </p14:sldIdLst>
        </p14:section>
        <p14:section name="예측 모델" id="{4904693f-d9f7-560a-5c33-146a1aa34a12}">
          <p14:sldIdLst>
            <p14:sldId id="262"/>
            <p14:sldId id="263"/>
            <p14:sldId id="264"/>
            <p14:sldId id="265"/>
            <p14:sldId id="266"/>
          </p14:sldIdLst>
        </p14:section>
        <p14:section name="오류 분석·경보" id="{a3a8def2-f249-50f2-516c-7bb3e5e0ab1a}">
          <p14:sldIdLst>
            <p14:sldId id="267"/>
            <p14:sldId id="268"/>
            <p14:sldId id="269"/>
          </p14:sldIdLst>
        </p14:section>
        <p14:section name="현장 활용" id="{16b7fb9e-1721-1750-478a-2fefb0710a22}">
          <p14:sldIdLst>
            <p14:sldId id="270"/>
            <p14:sldId id="271"/>
            <p14:sldId id="272"/>
            <p14:sldId id="273"/>
          </p14:sldIdLst>
        </p14:section>
        <p14:section name="운영 화면·차별성" id="{dd05a6d9-3076-bba5-ab09-51e83728b0c8}">
          <p14:sldIdLst>
            <p14:sldId id="274"/>
            <p14:sldId id="275"/>
          </p14:sldIdLst>
        </p14:section>
        <p14:section name="재현성·결론" id="{91e70a16-2395-7082-9cd8-14d8f672074f}">
          <p14:sldIdLst>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가동일 평균 전력</c:v>
                </c:pt>
              </c:strCache>
            </c:strRef>
          </c:tx>
          <c:spPr>
            <a:solidFill>
              <a:schemeClr val="accent5"/>
            </a:solidFill>
            <a:ln w="38100" cap="flat">
              <a:solidFill>
                <a:schemeClr val="accent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chemeClr val="accent5"/>
              </a:solidFill>
              <a:ln w="9525" cap="flat">
                <a:solidFill>
                  <a:schemeClr val="accent5"/>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59.6</c:v>
                </c:pt>
                <c:pt idx="1">
                  <c:v>87.9</c:v>
                </c:pt>
                <c:pt idx="2">
                  <c:v>91.4</c:v>
                </c:pt>
                <c:pt idx="3">
                  <c:v>88.5</c:v>
                </c:pt>
                <c:pt idx="4">
                  <c:v>90</c:v>
                </c:pt>
                <c:pt idx="5">
                  <c:v>77.9</c:v>
                </c:pt>
                <c:pt idx="6">
                  <c:v>91.8</c:v>
                </c:pt>
                <c:pt idx="7">
                  <c:v>113.6</c:v>
                </c:pt>
                <c:pt idx="8">
                  <c:v>170.2</c:v>
                </c:pt>
                <c:pt idx="9">
                  <c:v>169.1</c:v>
                </c:pt>
                <c:pt idx="10">
                  <c:v>161.6</c:v>
                </c:pt>
                <c:pt idx="11">
                  <c:v>169.9</c:v>
                </c:pt>
                <c:pt idx="12">
                  <c:v>105</c:v>
                </c:pt>
                <c:pt idx="13">
                  <c:v>167.3</c:v>
                </c:pt>
                <c:pt idx="14">
                  <c:v>166.2</c:v>
                </c:pt>
                <c:pt idx="15">
                  <c:v>155.3</c:v>
                </c:pt>
                <c:pt idx="16">
                  <c:v>157.7</c:v>
                </c:pt>
                <c:pt idx="17">
                  <c:v>129.5</c:v>
                </c:pt>
                <c:pt idx="18">
                  <c:v>148.9</c:v>
                </c:pt>
                <c:pt idx="19">
                  <c:v>135.5</c:v>
                </c:pt>
                <c:pt idx="20">
                  <c:v>117.4</c:v>
                </c:pt>
                <c:pt idx="21">
                  <c:v>115.9</c:v>
                </c:pt>
                <c:pt idx="22">
                  <c:v>107.2</c:v>
                </c:pt>
                <c:pt idx="23">
                  <c:v>100.8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733"/>
                </a:solidFill>
                <a:latin typeface="+mn-lt"/>
              </a:defRPr>
            </a:pPr>
            <a:r>
              <a:rPr sz="1300" b="0" i="0" u="none" strike="noStrike">
                <a:solidFill>
                  <a:srgbClr val="1C2733"/>
                </a:solidFill>
                <a:latin typeface="+mn-lt"/>
              </a:rPr>
              <a:t>시각별 평균 전력 (가동일 vs 휴무일, 0 to 23시)</a:t>
            </a:r>
          </a:p>
        </c:rich>
      </c:tx>
      <c:layout/>
      <c:overlay val="0"/>
    </c:title>
    <c:autoTitleDeleted val="0"/>
    <c:plotArea>
      <c:layout/>
      <c:lineChart>
        <c:varyColors val="0"/>
        <c:ser>
          <c:idx val="0"/>
          <c:order val="0"/>
          <c:tx>
            <c:strRef>
              <c:f>Sheet1!$B$1</c:f>
              <c:strCache>
                <c:ptCount val="1"/>
                <c:pt idx="0">
                  <c:v>가동일 평균 전력</c:v>
                </c:pt>
              </c:strCache>
            </c:strRef>
          </c:tx>
          <c:spPr>
            <a:solidFill>
              <a:schemeClr val="accent1"/>
            </a:solidFill>
            <a:ln w="38100" cap="flat">
              <a:solidFill>
                <a:schemeClr val="accent1"/>
              </a:solidFill>
              <a:prstDash val="solid"/>
              <a:round/>
            </a:ln>
            <a:effectLst/>
          </c:spPr>
          <c:invertIfNegative val="0"/>
          <c:dLbls>
            <c:numFmt formatCode="#,##0" sourceLinked="0"/>
            <c:txPr>
              <a:bodyPr/>
              <a:lstStyle/>
              <a:p>
                <a:pPr>
                  <a:defRPr b="0" i="0" strike="noStrike" sz="1100" u="none">
                    <a:solidFill>
                      <a:srgbClr val="1C2733"/>
                    </a:solidFill>
                    <a:latin typeface="+mn-lt"/>
                  </a:defRPr>
                </a:pPr>
              </a:p>
            </c:txPr>
            <c:showLegendKey val="0"/>
            <c:showVal val="0"/>
            <c:showCatName val="0"/>
            <c:showSerName val="0"/>
            <c:showPercent val="0"/>
            <c:showBubbleSize val="0"/>
            <c:showLeaderLines val="0"/>
          </c:dLbls>
          <c:marker>
            <c:symbol val="circle"/>
            <c:size val="6"/>
            <c:spPr>
              <a:solidFill>
                <a:schemeClr val="accent1"/>
              </a:solidFill>
              <a:ln w="9525" cap="flat">
                <a:solidFill>
                  <a:schemeClr val="accent1"/>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59.6</c:v>
                </c:pt>
                <c:pt idx="1">
                  <c:v>87.9</c:v>
                </c:pt>
                <c:pt idx="2">
                  <c:v>91.4</c:v>
                </c:pt>
                <c:pt idx="3">
                  <c:v>88.5</c:v>
                </c:pt>
                <c:pt idx="4">
                  <c:v>90</c:v>
                </c:pt>
                <c:pt idx="5">
                  <c:v>77.9</c:v>
                </c:pt>
                <c:pt idx="6">
                  <c:v>91.8</c:v>
                </c:pt>
                <c:pt idx="7">
                  <c:v>113.6</c:v>
                </c:pt>
                <c:pt idx="8">
                  <c:v>170.2</c:v>
                </c:pt>
                <c:pt idx="9">
                  <c:v>169.1</c:v>
                </c:pt>
                <c:pt idx="10">
                  <c:v>161.6</c:v>
                </c:pt>
                <c:pt idx="11">
                  <c:v>169.9</c:v>
                </c:pt>
                <c:pt idx="12">
                  <c:v>105</c:v>
                </c:pt>
                <c:pt idx="13">
                  <c:v>167.3</c:v>
                </c:pt>
                <c:pt idx="14">
                  <c:v>166.2</c:v>
                </c:pt>
                <c:pt idx="15">
                  <c:v>155.3</c:v>
                </c:pt>
                <c:pt idx="16">
                  <c:v>157.7</c:v>
                </c:pt>
                <c:pt idx="17">
                  <c:v>129.5</c:v>
                </c:pt>
                <c:pt idx="18">
                  <c:v>148.9</c:v>
                </c:pt>
                <c:pt idx="19">
                  <c:v>135.5</c:v>
                </c:pt>
                <c:pt idx="20">
                  <c:v>117.4</c:v>
                </c:pt>
                <c:pt idx="21">
                  <c:v>115.9</c:v>
                </c:pt>
                <c:pt idx="22">
                  <c:v>107.2</c:v>
                </c:pt>
                <c:pt idx="23">
                  <c:v>100.8</c:v>
                </c:pt>
              </c:numCache>
            </c:numRef>
          </c:val>
          <c:smooth val="0"/>
        </c:ser>
        <c:ser>
          <c:idx val="1"/>
          <c:order val="1"/>
          <c:tx>
            <c:strRef>
              <c:f>Sheet1!$C$1</c:f>
              <c:strCache>
                <c:ptCount val="1"/>
                <c:pt idx="0">
                  <c:v>휴무일 평균 전력</c:v>
                </c:pt>
              </c:strCache>
            </c:strRef>
          </c:tx>
          <c:spPr>
            <a:solidFill>
              <a:schemeClr val="accent3"/>
            </a:solidFill>
            <a:ln w="38100" cap="flat">
              <a:solidFill>
                <a:schemeClr val="accent3"/>
              </a:solidFill>
              <a:prstDash val="solid"/>
              <a:round/>
            </a:ln>
            <a:effectLst/>
          </c:spPr>
          <c:invertIfNegative val="0"/>
          <c:dLbls>
            <c:numFmt formatCode="#,##0" sourceLinked="0"/>
            <c:txPr>
              <a:bodyPr/>
              <a:lstStyle/>
              <a:p>
                <a:pPr>
                  <a:defRPr b="0" i="0" strike="noStrike" sz="1100" u="none">
                    <a:solidFill>
                      <a:srgbClr val="1C2733"/>
                    </a:solidFill>
                    <a:latin typeface="+mn-lt"/>
                  </a:defRPr>
                </a:pPr>
              </a:p>
            </c:txPr>
            <c:showLegendKey val="0"/>
            <c:showVal val="0"/>
            <c:showCatName val="0"/>
            <c:showSerName val="0"/>
            <c:showPercent val="0"/>
            <c:showBubbleSize val="0"/>
            <c:showLeaderLines val="0"/>
          </c:dLbls>
          <c:marker>
            <c:symbol val="circle"/>
            <c:size val="6"/>
            <c:spPr>
              <a:solidFill>
                <a:schemeClr val="accent3"/>
              </a:solidFill>
              <a:ln w="9525" cap="flat">
                <a:solidFill>
                  <a:schemeClr val="accent3"/>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Sheet1!$C$2:$C$25</c:f>
              <c:numCache>
                <c:formatCode>General</c:formatCode>
                <c:ptCount val="24"/>
                <c:pt idx="0">
                  <c:v>22.5</c:v>
                </c:pt>
                <c:pt idx="1">
                  <c:v>22.2</c:v>
                </c:pt>
                <c:pt idx="2">
                  <c:v>21.8</c:v>
                </c:pt>
                <c:pt idx="3">
                  <c:v>22.2</c:v>
                </c:pt>
                <c:pt idx="4">
                  <c:v>22.8</c:v>
                </c:pt>
                <c:pt idx="5">
                  <c:v>21.6</c:v>
                </c:pt>
                <c:pt idx="6">
                  <c:v>21.7</c:v>
                </c:pt>
                <c:pt idx="7">
                  <c:v>22.5</c:v>
                </c:pt>
                <c:pt idx="8">
                  <c:v>21.8</c:v>
                </c:pt>
                <c:pt idx="9">
                  <c:v>21.9</c:v>
                </c:pt>
                <c:pt idx="10">
                  <c:v>22.4</c:v>
                </c:pt>
                <c:pt idx="11">
                  <c:v>22.3</c:v>
                </c:pt>
                <c:pt idx="12">
                  <c:v>22.1</c:v>
                </c:pt>
                <c:pt idx="13">
                  <c:v>21.7</c:v>
                </c:pt>
                <c:pt idx="14">
                  <c:v>22.8</c:v>
                </c:pt>
                <c:pt idx="15">
                  <c:v>21.8</c:v>
                </c:pt>
                <c:pt idx="16">
                  <c:v>22.2</c:v>
                </c:pt>
                <c:pt idx="17">
                  <c:v>22.7</c:v>
                </c:pt>
                <c:pt idx="18">
                  <c:v>21.6</c:v>
                </c:pt>
                <c:pt idx="19">
                  <c:v>21.8</c:v>
                </c:pt>
                <c:pt idx="20">
                  <c:v>22.3</c:v>
                </c:pt>
                <c:pt idx="21">
                  <c:v>22.2</c:v>
                </c:pt>
                <c:pt idx="22">
                  <c:v>21.9</c:v>
                </c:pt>
                <c:pt idx="23">
                  <c:v>23</c:v>
                </c:pt>
              </c:numCache>
            </c:numRef>
          </c:val>
          <c:smooth val="0"/>
        </c:ser>
        <c:dLbls>
          <c:numFmt formatCode="#,##0" sourceLinked="0"/>
          <c:txPr>
            <a:bodyPr/>
            <a:lstStyle/>
            <a:p>
              <a:pPr>
                <a:defRPr b="0" i="0" strike="noStrike" sz="1100" u="none">
                  <a:solidFill>
                    <a:srgbClr val="1C27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5CCD3"/>
            </a:solidFill>
            <a:prstDash val="solid"/>
            <a:round/>
          </a:ln>
        </c:spPr>
        <c:txPr>
          <a:bodyPr/>
          <a:lstStyle/>
          <a:p>
            <a:pPr>
              <a:defRPr sz="11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200"/>
          <c:min val="0"/>
        </c:scaling>
        <c:delete val="0"/>
        <c:axPos val="l"/>
        <c:majorGridlines>
          <c:spPr>
            <a:ln w="9525" cap="flat">
              <a:solidFill>
                <a:srgbClr val="E3E7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4A5560"/>
                </a:solidFill>
                <a:latin typeface="+mn-lt"/>
              </a:defRPr>
            </a:pPr>
            <a:endParaRPr lang="en-US"/>
          </a:p>
        </c:txPr>
        <c:crossAx val="2094734554"/>
        <c:crosses val="autoZero"/>
        <c:crossBetween val="between"/>
        <c:majorUnit val="50"/>
      </c:valAx>
      <c:spPr>
        <a:noFill/>
        <a:ln>
          <a:noFill/>
        </a:ln>
        <a:effectLst/>
      </c:spPr>
    </c:plotArea>
    <c:legend>
      <c:legendPos val="b"/>
      <c:overlay val="0"/>
      <c:txPr>
        <a:bodyPr/>
        <a:lstStyle/>
        <a:p>
          <a:pPr>
            <a:defRPr sz="1100">
              <a:solidFill>
                <a:srgbClr val="1C27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733"/>
                </a:solidFill>
                <a:latin typeface="+mn-lt"/>
              </a:defRPr>
            </a:pPr>
            <a:r>
              <a:rPr sz="1300" b="0" i="0" u="none" strike="noStrike">
                <a:solidFill>
                  <a:srgbClr val="1C2733"/>
                </a:solidFill>
                <a:latin typeface="+mn-lt"/>
              </a:rPr>
              <a:t>월별 복제일과 고유일 (일)</a:t>
            </a:r>
          </a:p>
        </c:rich>
      </c:tx>
      <c:layout/>
      <c:overlay val="0"/>
    </c:title>
    <c:autoTitleDeleted val="0"/>
    <c:plotArea>
      <c:layout/>
      <c:barChart>
        <c:barDir val="col"/>
        <c:grouping val="stacked"/>
        <c:varyColors val="0"/>
        <c:ser>
          <c:idx val="0"/>
          <c:order val="0"/>
          <c:tx>
            <c:strRef>
              <c:f>Sheet1!$B$1</c:f>
              <c:strCache>
                <c:ptCount val="1"/>
                <c:pt idx="0">
                  <c:v>복제일</c:v>
                </c:pt>
              </c:strCache>
            </c:strRef>
          </c:tx>
          <c:spPr>
            <a:solidFill>
              <a:schemeClr val="accent3"/>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Sheet1!$A$2:$A$10</c:f>
              <c:multiLvlStrCache>
                <c:ptCount val="9"/>
                <c:lvl>
                  <c:pt idx="0">
                    <c:v>1월</c:v>
                  </c:pt>
                  <c:pt idx="1">
                    <c:v>2월</c:v>
                  </c:pt>
                  <c:pt idx="2">
                    <c:v>3월</c:v>
                  </c:pt>
                  <c:pt idx="3">
                    <c:v>4월</c:v>
                  </c:pt>
                  <c:pt idx="4">
                    <c:v>5월</c:v>
                  </c:pt>
                  <c:pt idx="5">
                    <c:v>6월</c:v>
                  </c:pt>
                  <c:pt idx="6">
                    <c:v>7월</c:v>
                  </c:pt>
                  <c:pt idx="7">
                    <c:v>8월</c:v>
                  </c:pt>
                  <c:pt idx="8">
                    <c:v>9월</c:v>
                  </c:pt>
                </c:lvl>
              </c:multiLvlStrCache>
            </c:multiLvlStrRef>
          </c:cat>
          <c:val>
            <c:numRef>
              <c:f>Sheet1!$B$2:$B$10</c:f>
              <c:numCache>
                <c:formatCode>General</c:formatCode>
                <c:ptCount val="9"/>
                <c:pt idx="0">
                  <c:v>27</c:v>
                </c:pt>
                <c:pt idx="1">
                  <c:v>28</c:v>
                </c:pt>
                <c:pt idx="2">
                  <c:v>29</c:v>
                </c:pt>
                <c:pt idx="3">
                  <c:v>30</c:v>
                </c:pt>
                <c:pt idx="4">
                  <c:v>17</c:v>
                </c:pt>
                <c:pt idx="5">
                  <c:v>28</c:v>
                </c:pt>
                <c:pt idx="6">
                  <c:v>2</c:v>
                </c:pt>
                <c:pt idx="7">
                  <c:v>0</c:v>
                </c:pt>
                <c:pt idx="8">
                  <c:v>0</c:v>
                </c:pt>
              </c:numCache>
            </c:numRef>
          </c:val>
        </c:ser>
        <c:ser>
          <c:idx val="1"/>
          <c:order val="1"/>
          <c:tx>
            <c:strRef>
              <c:f>Sheet1!$C$1</c:f>
              <c:strCache>
                <c:ptCount val="1"/>
                <c:pt idx="0">
                  <c:v>고유일</c:v>
                </c:pt>
              </c:strCache>
            </c:strRef>
          </c:tx>
          <c:spPr>
            <a:solidFill>
              <a:schemeClr val="accent1"/>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Sheet1!$A$2:$A$10</c:f>
              <c:multiLvlStrCache>
                <c:ptCount val="9"/>
                <c:lvl>
                  <c:pt idx="0">
                    <c:v>1월</c:v>
                  </c:pt>
                  <c:pt idx="1">
                    <c:v>2월</c:v>
                  </c:pt>
                  <c:pt idx="2">
                    <c:v>3월</c:v>
                  </c:pt>
                  <c:pt idx="3">
                    <c:v>4월</c:v>
                  </c:pt>
                  <c:pt idx="4">
                    <c:v>5월</c:v>
                  </c:pt>
                  <c:pt idx="5">
                    <c:v>6월</c:v>
                  </c:pt>
                  <c:pt idx="6">
                    <c:v>7월</c:v>
                  </c:pt>
                  <c:pt idx="7">
                    <c:v>8월</c:v>
                  </c:pt>
                  <c:pt idx="8">
                    <c:v>9월</c:v>
                  </c:pt>
                </c:lvl>
              </c:multiLvlStrCache>
            </c:multiLvlStrRef>
          </c:cat>
          <c:val>
            <c:numRef>
              <c:f>Sheet1!$C$2:$C$10</c:f>
              <c:numCache>
                <c:formatCode>General</c:formatCode>
                <c:ptCount val="9"/>
                <c:pt idx="0">
                  <c:v>4</c:v>
                </c:pt>
                <c:pt idx="1">
                  <c:v>0</c:v>
                </c:pt>
                <c:pt idx="2">
                  <c:v>2</c:v>
                </c:pt>
                <c:pt idx="3">
                  <c:v>0</c:v>
                </c:pt>
                <c:pt idx="4">
                  <c:v>14</c:v>
                </c:pt>
                <c:pt idx="5">
                  <c:v>2</c:v>
                </c:pt>
                <c:pt idx="6">
                  <c:v>29</c:v>
                </c:pt>
                <c:pt idx="7">
                  <c:v>31</c:v>
                </c:pt>
                <c:pt idx="8">
                  <c:v>14</c:v>
                </c:pt>
              </c:numCache>
            </c:numRef>
          </c:val>
        </c:ser>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CD3"/>
            </a:solidFill>
            <a:prstDash val="solid"/>
            <a:round/>
          </a:ln>
        </c:spPr>
        <c:txPr>
          <a:bodyPr/>
          <a:lstStyle/>
          <a:p>
            <a:pPr>
              <a:defRPr sz="11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4A55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C27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733"/>
                </a:solidFill>
                <a:latin typeface="+mn-lt"/>
              </a:defRPr>
            </a:pPr>
            <a:r>
              <a:rPr sz="1300" b="0" i="0" u="none" strike="noStrike">
                <a:solidFill>
                  <a:srgbClr val="1C2733"/>
                </a:solidFill>
                <a:latin typeface="+mn-lt"/>
              </a:rPr>
              <a:t>피어슨 상관계수: 모집단에 따라 역전</a:t>
            </a:r>
          </a:p>
        </c:rich>
      </c:tx>
      <c:layout/>
      <c:overlay val="0"/>
    </c:title>
    <c:autoTitleDeleted val="0"/>
    <c:plotArea>
      <c:layout/>
      <c:barChart>
        <c:barDir val="col"/>
        <c:grouping val="clustered"/>
        <c:varyColors val="0"/>
        <c:ser>
          <c:idx val="0"/>
          <c:order val="0"/>
          <c:tx>
            <c:strRef>
              <c:f>Sheet1!$B$1</c:f>
              <c:strCache>
                <c:ptCount val="1"/>
                <c:pt idx="0">
                  <c:v>전체 242일 (휴무일 포함)</c:v>
                </c:pt>
              </c:strCache>
            </c:strRef>
          </c:tx>
          <c:spPr>
            <a:solidFill>
              <a:schemeClr val="accent3"/>
            </a:solidFill>
            <a:effectLst/>
          </c:spPr>
          <c:invertIfNegative val="0"/>
          <c:dLbls>
            <c:numFmt formatCode="0.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cat>
            <c:multiLvlStrRef>
              <c:f>Sheet1!$A$2:$A$3</c:f>
              <c:multiLvlStrCache>
                <c:ptCount val="2"/>
                <c:lvl>
                  <c:pt idx="0">
                    <c:v>일생산량 ↔ 일최대전력</c:v>
                  </c:pt>
                  <c:pt idx="1">
                    <c:v>일평균기온 ↔ 일최대전력</c:v>
                  </c:pt>
                </c:lvl>
              </c:multiLvlStrCache>
            </c:multiLvlStrRef>
          </c:cat>
          <c:val>
            <c:numRef>
              <c:f>Sheet1!$B$2:$B$3</c:f>
              <c:numCache>
                <c:formatCode>General</c:formatCode>
                <c:ptCount val="2"/>
                <c:pt idx="0">
                  <c:v>0.85</c:v>
                </c:pt>
                <c:pt idx="1">
                  <c:v>-0.003</c:v>
                </c:pt>
              </c:numCache>
            </c:numRef>
          </c:val>
        </c:ser>
        <c:ser>
          <c:idx val="1"/>
          <c:order val="1"/>
          <c:tx>
            <c:strRef>
              <c:f>Sheet1!$C$1</c:f>
              <c:strCache>
                <c:ptCount val="1"/>
                <c:pt idx="0">
                  <c:v>가동일 156일 (일생산 5,000 초과)</c:v>
                </c:pt>
              </c:strCache>
            </c:strRef>
          </c:tx>
          <c:spPr>
            <a:solidFill>
              <a:schemeClr val="accent1"/>
            </a:solidFill>
            <a:effectLst/>
          </c:spPr>
          <c:invertIfNegative val="0"/>
          <c:dLbls>
            <c:numFmt formatCode="0.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cat>
            <c:multiLvlStrRef>
              <c:f>Sheet1!$A$2:$A$3</c:f>
              <c:multiLvlStrCache>
                <c:ptCount val="2"/>
                <c:lvl>
                  <c:pt idx="0">
                    <c:v>일생산량 ↔ 일최대전력</c:v>
                  </c:pt>
                  <c:pt idx="1">
                    <c:v>일평균기온 ↔ 일최대전력</c:v>
                  </c:pt>
                </c:lvl>
              </c:multiLvlStrCache>
            </c:multiLvlStrRef>
          </c:cat>
          <c:val>
            <c:numRef>
              <c:f>Sheet1!$C$2:$C$3</c:f>
              <c:numCache>
                <c:formatCode>General</c:formatCode>
                <c:ptCount val="2"/>
                <c:pt idx="0">
                  <c:v>0.094</c:v>
                </c:pt>
                <c:pt idx="1">
                  <c:v>0.366</c:v>
                </c:pt>
              </c:numCache>
            </c:numRef>
          </c:val>
        </c:ser>
        <c:dLbls>
          <c:numFmt formatCode="0.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CD3"/>
            </a:solidFill>
            <a:prstDash val="solid"/>
            <a:round/>
          </a:ln>
        </c:spPr>
        <c:txPr>
          <a:bodyPr/>
          <a:lstStyle/>
          <a:p>
            <a:pPr>
              <a:defRPr sz="11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1"/>
          <c:min val="-0.1"/>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4A55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C27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733"/>
                </a:solidFill>
                <a:latin typeface="+mn-lt"/>
              </a:defRPr>
            </a:pPr>
            <a:r>
              <a:rPr sz="1300" b="0" i="0" u="none" strike="noStrike">
                <a:solidFill>
                  <a:srgbClr val="1C2733"/>
                </a:solidFill>
                <a:latin typeface="+mn-lt"/>
              </a:rPr>
              <a:t>단순 규칙 4종의 MAE (7 to 9월)</a:t>
            </a:r>
          </a:p>
        </c:rich>
      </c:tx>
      <c:layout/>
      <c:overlay val="0"/>
    </c:title>
    <c:autoTitleDeleted val="0"/>
    <c:plotArea>
      <c:layout/>
      <c:barChart>
        <c:barDir val="bar"/>
        <c:grouping val="clustered"/>
        <c:varyColors val="0"/>
        <c:ser>
          <c:idx val="0"/>
          <c:order val="0"/>
          <c:tx>
            <c:strRef>
              <c:f>Sheet1!$B$1</c:f>
              <c:strCache>
                <c:ptCount val="1"/>
                <c:pt idx="0">
                  <c:v>MAE</c:v>
                </c:pt>
              </c:strCache>
            </c:strRef>
          </c:tx>
          <c:spPr>
            <a:solidFill>
              <a:srgbClr val="8C9AA6"/>
            </a:solidFill>
            <a:effectLst/>
          </c:spPr>
          <c:invertIfNegative val="0"/>
          <c:dLbls>
            <c:numFmt formatCode="0.0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dPt>
            <c:idx val="0"/>
            <c:invertIfNegative val="0"/>
            <c:bubble3D val="0"/>
            <c:spPr>
              <a:solidFill>
                <a:srgbClr val="8C9AA6"/>
              </a:solidFill>
              <a:effectLst/>
            </c:spPr>
          </c:dPt>
          <c:dPt>
            <c:idx val="1"/>
            <c:invertIfNegative val="0"/>
            <c:bubble3D val="0"/>
            <c:spPr>
              <a:solidFill>
                <a:srgbClr val="8C9AA6"/>
              </a:solidFill>
              <a:effectLst/>
            </c:spPr>
          </c:dPt>
          <c:dPt>
            <c:idx val="2"/>
            <c:invertIfNegative val="0"/>
            <c:bubble3D val="0"/>
            <c:spPr>
              <a:solidFill>
                <a:srgbClr val="8C9AA6"/>
              </a:solidFill>
              <a:effectLst/>
            </c:spPr>
          </c:dPt>
          <c:dPt>
            <c:idx val="3"/>
            <c:invertIfNegative val="0"/>
            <c:bubble3D val="0"/>
            <c:spPr>
              <a:solidFill>
                <a:srgbClr val="15283A"/>
              </a:solidFill>
              <a:effectLst/>
            </c:spPr>
          </c:dPt>
          <c:cat>
            <c:multiLvlStrRef>
              <c:f>Sheet1!$A$2:$A$5</c:f>
              <c:multiLvlStrCache>
                <c:ptCount val="4"/>
                <c:lvl>
                  <c:pt idx="0">
                    <c:v>전체 평균</c:v>
                  </c:pt>
                  <c:pt idx="1">
                    <c:v>전일 동일 시각</c:v>
                  </c:pt>
                  <c:pt idx="2">
                    <c:v>요일×시각 평균</c:v>
                  </c:pt>
                  <c:pt idx="3">
                    <c:v>전주 동일 시각</c:v>
                  </c:pt>
                </c:lvl>
              </c:multiLvlStrCache>
            </c:multiLvlStrRef>
          </c:cat>
          <c:val>
            <c:numRef>
              <c:f>Sheet1!$B$2:$B$5</c:f>
              <c:numCache>
                <c:formatCode>General</c:formatCode>
                <c:ptCount val="4"/>
                <c:pt idx="0">
                  <c:v>53.21</c:v>
                </c:pt>
                <c:pt idx="1">
                  <c:v>34.94</c:v>
                </c:pt>
                <c:pt idx="2">
                  <c:v>24.15</c:v>
                </c:pt>
                <c:pt idx="3">
                  <c:v>22.92</c:v>
                </c:pt>
              </c:numCache>
            </c:numRef>
          </c:val>
        </c:ser>
        <c:dLbls>
          <c:numFmt formatCode="0.0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C5CCD3"/>
            </a:solidFill>
            <a:prstDash val="solid"/>
            <a:round/>
          </a:ln>
        </c:spPr>
        <c:txPr>
          <a:bodyPr/>
          <a:lstStyle/>
          <a:p>
            <a:pPr>
              <a:defRPr sz="11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65"/>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4A55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733"/>
                </a:solidFill>
                <a:latin typeface="+mn-lt"/>
              </a:defRPr>
            </a:pPr>
            <a:r>
              <a:rPr sz="1300" b="0" i="0" u="none" strike="noStrike">
                <a:solidFill>
                  <a:srgbClr val="1C2733"/>
                </a:solidFill>
                <a:latin typeface="+mn-lt"/>
              </a:rPr>
              <a:t>복제일 가중치별 MAE (h7_full, 7 to 9월)</a:t>
            </a:r>
          </a:p>
        </c:rich>
      </c:tx>
      <c:layout/>
      <c:overlay val="0"/>
    </c:title>
    <c:autoTitleDeleted val="0"/>
    <c:plotArea>
      <c:layout/>
      <c:barChart>
        <c:barDir val="col"/>
        <c:grouping val="clustered"/>
        <c:varyColors val="0"/>
        <c:ser>
          <c:idx val="0"/>
          <c:order val="0"/>
          <c:tx>
            <c:strRef>
              <c:f>Sheet1!$B$1</c:f>
              <c:strCache>
                <c:ptCount val="1"/>
                <c:pt idx="0">
                  <c:v>h7_full MAE</c:v>
                </c:pt>
              </c:strCache>
            </c:strRef>
          </c:tx>
          <c:spPr>
            <a:solidFill>
              <a:srgbClr val="B83A3A"/>
            </a:solidFill>
            <a:effectLst/>
          </c:spPr>
          <c:invertIfNegative val="0"/>
          <c:dLbls>
            <c:numFmt formatCode="0.0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dPt>
            <c:idx val="0"/>
            <c:invertIfNegative val="0"/>
            <c:bubble3D val="0"/>
            <c:spPr>
              <a:solidFill>
                <a:srgbClr val="B83A3A"/>
              </a:solidFill>
              <a:effectLst/>
            </c:spPr>
          </c:dPt>
          <c:dPt>
            <c:idx val="1"/>
            <c:invertIfNegative val="0"/>
            <c:bubble3D val="0"/>
            <c:spPr>
              <a:solidFill>
                <a:srgbClr val="8C9AA6"/>
              </a:solidFill>
              <a:effectLst/>
            </c:spPr>
          </c:dPt>
          <c:dPt>
            <c:idx val="2"/>
            <c:invertIfNegative val="0"/>
            <c:bubble3D val="0"/>
            <c:spPr>
              <a:solidFill>
                <a:srgbClr val="8C9AA6"/>
              </a:solidFill>
              <a:effectLst/>
            </c:spPr>
          </c:dPt>
          <c:dPt>
            <c:idx val="3"/>
            <c:invertIfNegative val="0"/>
            <c:bubble3D val="0"/>
            <c:spPr>
              <a:solidFill>
                <a:srgbClr val="0E7C61"/>
              </a:solidFill>
              <a:effectLst/>
            </c:spPr>
          </c:dPt>
          <c:dPt>
            <c:idx val="4"/>
            <c:invertIfNegative val="0"/>
            <c:bubble3D val="0"/>
            <c:spPr>
              <a:solidFill>
                <a:srgbClr val="8C9AA6"/>
              </a:solidFill>
              <a:effectLst/>
            </c:spPr>
          </c:dPt>
          <c:dPt>
            <c:idx val="5"/>
            <c:invertIfNegative val="0"/>
            <c:bubble3D val="0"/>
            <c:spPr>
              <a:solidFill>
                <a:srgbClr val="8C9AA6"/>
              </a:solidFill>
              <a:effectLst/>
            </c:spPr>
          </c:dPt>
          <c:dPt>
            <c:idx val="6"/>
            <c:invertIfNegative val="0"/>
            <c:bubble3D val="0"/>
            <c:spPr>
              <a:solidFill>
                <a:srgbClr val="8C9AA6"/>
              </a:solidFill>
              <a:effectLst/>
            </c:spPr>
          </c:dPt>
          <c:cat>
            <c:multiLvlStrRef>
              <c:f>Sheet1!$A$2:$A$8</c:f>
              <c:multiLvlStrCache>
                <c:ptCount val="7"/>
                <c:lvl>
                  <c:pt idx="0">
                    <c:v>0 (제외)</c:v>
                  </c:pt>
                  <c:pt idx="1">
                    <c:v>0.05</c:v>
                  </c:pt>
                  <c:pt idx="2">
                    <c:v>0.1</c:v>
                  </c:pt>
                  <c:pt idx="3">
                    <c:v>0.3</c:v>
                  </c:pt>
                  <c:pt idx="4">
                    <c:v>0.5</c:v>
                  </c:pt>
                  <c:pt idx="5">
                    <c:v>0.7</c:v>
                  </c:pt>
                  <c:pt idx="6">
                    <c:v>1.0</c:v>
                  </c:pt>
                </c:lvl>
              </c:multiLvlStrCache>
            </c:multiLvlStrRef>
          </c:cat>
          <c:val>
            <c:numRef>
              <c:f>Sheet1!$B$2:$B$8</c:f>
              <c:numCache>
                <c:formatCode>General</c:formatCode>
                <c:ptCount val="7"/>
                <c:pt idx="0">
                  <c:v>13.19</c:v>
                </c:pt>
                <c:pt idx="1">
                  <c:v>7.74</c:v>
                </c:pt>
                <c:pt idx="2">
                  <c:v>7.14</c:v>
                </c:pt>
                <c:pt idx="3">
                  <c:v>7.15</c:v>
                </c:pt>
                <c:pt idx="4">
                  <c:v>7.76</c:v>
                </c:pt>
                <c:pt idx="5">
                  <c:v>8.07</c:v>
                </c:pt>
                <c:pt idx="6">
                  <c:v>8.05</c:v>
                </c:pt>
              </c:numCache>
            </c:numRef>
          </c:val>
        </c:ser>
        <c:dLbls>
          <c:numFmt formatCode="0.0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CD3"/>
            </a:solidFill>
            <a:prstDash val="solid"/>
            <a:round/>
          </a:ln>
        </c:spPr>
        <c:txPr>
          <a:bodyPr/>
          <a:lstStyle/>
          <a:p>
            <a:pPr>
              <a:defRPr sz="11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15"/>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4A55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733"/>
                </a:solidFill>
                <a:latin typeface="+mn-lt"/>
              </a:defRPr>
            </a:pPr>
            <a:r>
              <a:rPr sz="1300" b="0" i="0" u="none" strike="noStrike">
                <a:solidFill>
                  <a:srgbClr val="1C2733"/>
                </a:solidFill>
                <a:latin typeface="+mn-lt"/>
              </a:rPr>
              <a:t>단계별 MAE (7 to 9월, 시드 3개 평균)</a:t>
            </a:r>
          </a:p>
        </c:rich>
      </c:tx>
      <c:layout/>
      <c:overlay val="0"/>
    </c:title>
    <c:autoTitleDeleted val="0"/>
    <c:plotArea>
      <c:layout/>
      <c:barChart>
        <c:barDir val="col"/>
        <c:grouping val="clustered"/>
        <c:varyColors val="0"/>
        <c:ser>
          <c:idx val="0"/>
          <c:order val="0"/>
          <c:tx>
            <c:strRef>
              <c:f>Sheet1!$B$1</c:f>
              <c:strCache>
                <c:ptCount val="1"/>
                <c:pt idx="0">
                  <c:v>전체 MAE</c:v>
                </c:pt>
              </c:strCache>
            </c:strRef>
          </c:tx>
          <c:spPr>
            <a:solidFill>
              <a:schemeClr val="accent1"/>
            </a:solidFill>
            <a:effectLst/>
          </c:spPr>
          <c:invertIfNegative val="0"/>
          <c:dLbls>
            <c:numFmt formatCode="0.0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cat>
            <c:multiLvlStrRef>
              <c:f>Sheet1!$A$2:$A$7</c:f>
              <c:multiLvlStrCache>
                <c:ptCount val="6"/>
                <c:lvl>
                  <c:pt idx="0">
                    <c:v>기준 (full)</c:v>
                  </c:pt>
                  <c:pt idx="1">
                    <c:v>h7_full</c:v>
                  </c:pt>
                  <c:pt idx="2">
                    <c:v>+ 가중 0.3</c:v>
                  </c:pt>
                  <c:pt idx="3">
                    <c:v>+ 얕은 나무</c:v>
                  </c:pt>
                  <c:pt idx="4">
                    <c:v>+ 피크 가중</c:v>
                  </c:pt>
                  <c:pt idx="5">
                    <c:v>+ L군 (최종)</c:v>
                  </c:pt>
                </c:lvl>
              </c:multiLvlStrCache>
            </c:multiLvlStrRef>
          </c:cat>
          <c:val>
            <c:numRef>
              <c:f>Sheet1!$B$2:$B$7</c:f>
              <c:numCache>
                <c:formatCode>General</c:formatCode>
                <c:ptCount val="6"/>
                <c:pt idx="0">
                  <c:v>9.15</c:v>
                </c:pt>
                <c:pt idx="1">
                  <c:v>8.05</c:v>
                </c:pt>
                <c:pt idx="2">
                  <c:v>7.15</c:v>
                </c:pt>
                <c:pt idx="3">
                  <c:v>6.75</c:v>
                </c:pt>
                <c:pt idx="4">
                  <c:v>6.79</c:v>
                </c:pt>
                <c:pt idx="5">
                  <c:v>6.57</c:v>
                </c:pt>
              </c:numCache>
            </c:numRef>
          </c:val>
        </c:ser>
        <c:ser>
          <c:idx val="1"/>
          <c:order val="1"/>
          <c:tx>
            <c:strRef>
              <c:f>Sheet1!$C$1</c:f>
              <c:strCache>
                <c:ptCount val="1"/>
                <c:pt idx="0">
                  <c:v>피크 구간 MAE</c:v>
                </c:pt>
              </c:strCache>
            </c:strRef>
          </c:tx>
          <c:spPr>
            <a:solidFill>
              <a:schemeClr val="accent2"/>
            </a:solidFill>
            <a:effectLst/>
          </c:spPr>
          <c:invertIfNegative val="0"/>
          <c:dLbls>
            <c:numFmt formatCode="0.0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cat>
            <c:multiLvlStrRef>
              <c:f>Sheet1!$A$2:$A$7</c:f>
              <c:multiLvlStrCache>
                <c:ptCount val="6"/>
                <c:lvl>
                  <c:pt idx="0">
                    <c:v>기준 (full)</c:v>
                  </c:pt>
                  <c:pt idx="1">
                    <c:v>h7_full</c:v>
                  </c:pt>
                  <c:pt idx="2">
                    <c:v>+ 가중 0.3</c:v>
                  </c:pt>
                  <c:pt idx="3">
                    <c:v>+ 얕은 나무</c:v>
                  </c:pt>
                  <c:pt idx="4">
                    <c:v>+ 피크 가중</c:v>
                  </c:pt>
                  <c:pt idx="5">
                    <c:v>+ L군 (최종)</c:v>
                  </c:pt>
                </c:lvl>
              </c:multiLvlStrCache>
            </c:multiLvlStrRef>
          </c:cat>
          <c:val>
            <c:numRef>
              <c:f>Sheet1!$C$2:$C$7</c:f>
              <c:numCache>
                <c:formatCode>General</c:formatCode>
                <c:ptCount val="6"/>
                <c:pt idx="0">
                  <c:v>16.19</c:v>
                </c:pt>
                <c:pt idx="1">
                  <c:v>17.35</c:v>
                </c:pt>
                <c:pt idx="2">
                  <c:v>16.54</c:v>
                </c:pt>
                <c:pt idx="3">
                  <c:v>14.89</c:v>
                </c:pt>
                <c:pt idx="4">
                  <c:v>12.75</c:v>
                </c:pt>
                <c:pt idx="5">
                  <c:v>12.49</c:v>
                </c:pt>
              </c:numCache>
            </c:numRef>
          </c:val>
        </c:ser>
        <c:dLbls>
          <c:numFmt formatCode="0.0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CD3"/>
            </a:solidFill>
            <a:prstDash val="solid"/>
            <a:round/>
          </a:ln>
        </c:spPr>
        <c:txPr>
          <a:bodyPr/>
          <a:lstStyle/>
          <a:p>
            <a:pPr>
              <a:defRPr sz="11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20"/>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4A55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C27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733"/>
                </a:solidFill>
                <a:latin typeface="+mn-lt"/>
              </a:defRPr>
            </a:pPr>
            <a:r>
              <a:rPr sz="1300" b="0" i="0" u="none" strike="noStrike">
                <a:solidFill>
                  <a:srgbClr val="1C2733"/>
                </a:solidFill>
                <a:latin typeface="+mn-lt"/>
              </a:rPr>
              <a:t>7 to 9월 검증 (1,708행)</a:t>
            </a:r>
          </a:p>
        </c:rich>
      </c:tx>
      <c:layout/>
      <c:overlay val="0"/>
    </c:title>
    <c:autoTitleDeleted val="0"/>
    <c:plotArea>
      <c:layout/>
      <c:barChart>
        <c:barDir val="col"/>
        <c:grouping val="clustered"/>
        <c:varyColors val="0"/>
        <c:ser>
          <c:idx val="0"/>
          <c:order val="0"/>
          <c:tx>
            <c:strRef>
              <c:f>Sheet1!$B$1</c:f>
              <c:strCache>
                <c:ptCount val="1"/>
                <c:pt idx="0">
                  <c:v>목표선 (단순 규칙)</c:v>
                </c:pt>
              </c:strCache>
            </c:strRef>
          </c:tx>
          <c:spPr>
            <a:solidFill>
              <a:schemeClr val="accent3"/>
            </a:solidFill>
            <a:effectLst/>
          </c:spPr>
          <c:invertIfNegative val="0"/>
          <c:dLbls>
            <c:numFmt formatCode="0.0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cat>
            <c:multiLvlStrRef>
              <c:f>Sheet1!$A$2:$A$4</c:f>
              <c:multiLvlStrCache>
                <c:ptCount val="3"/>
                <c:lvl>
                  <c:pt idx="0">
                    <c:v>MAE (−71%)</c:v>
                  </c:pt>
                  <c:pt idx="1">
                    <c:v>RMSE (−73%)</c:v>
                  </c:pt>
                  <c:pt idx="2">
                    <c:v>피크 구간 MAE (−65%)</c:v>
                  </c:pt>
                </c:lvl>
              </c:multiLvlStrCache>
            </c:multiLvlStrRef>
          </c:cat>
          <c:val>
            <c:numRef>
              <c:f>Sheet1!$B$2:$B$4</c:f>
              <c:numCache>
                <c:formatCode>General</c:formatCode>
                <c:ptCount val="3"/>
                <c:pt idx="0">
                  <c:v>22.92</c:v>
                </c:pt>
                <c:pt idx="1">
                  <c:v>35.06</c:v>
                </c:pt>
                <c:pt idx="2">
                  <c:v>35.71</c:v>
                </c:pt>
              </c:numCache>
            </c:numRef>
          </c:val>
        </c:ser>
        <c:ser>
          <c:idx val="1"/>
          <c:order val="1"/>
          <c:tx>
            <c:strRef>
              <c:f>Sheet1!$C$1</c:f>
              <c:strCache>
                <c:ptCount val="1"/>
                <c:pt idx="0">
                  <c:v>최종 모델</c:v>
                </c:pt>
              </c:strCache>
            </c:strRef>
          </c:tx>
          <c:spPr>
            <a:solidFill>
              <a:schemeClr val="accent1"/>
            </a:solidFill>
            <a:effectLst/>
          </c:spPr>
          <c:invertIfNegative val="0"/>
          <c:dLbls>
            <c:numFmt formatCode="0.0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cat>
            <c:multiLvlStrRef>
              <c:f>Sheet1!$A$2:$A$4</c:f>
              <c:multiLvlStrCache>
                <c:ptCount val="3"/>
                <c:lvl>
                  <c:pt idx="0">
                    <c:v>MAE (−71%)</c:v>
                  </c:pt>
                  <c:pt idx="1">
                    <c:v>RMSE (−73%)</c:v>
                  </c:pt>
                  <c:pt idx="2">
                    <c:v>피크 구간 MAE (−65%)</c:v>
                  </c:pt>
                </c:lvl>
              </c:multiLvlStrCache>
            </c:multiLvlStrRef>
          </c:cat>
          <c:val>
            <c:numRef>
              <c:f>Sheet1!$C$2:$C$4</c:f>
              <c:numCache>
                <c:formatCode>General</c:formatCode>
                <c:ptCount val="3"/>
                <c:pt idx="0">
                  <c:v>6.57</c:v>
                </c:pt>
                <c:pt idx="1">
                  <c:v>9.61</c:v>
                </c:pt>
                <c:pt idx="2">
                  <c:v>12.49</c:v>
                </c:pt>
              </c:numCache>
            </c:numRef>
          </c:val>
        </c:ser>
        <c:dLbls>
          <c:numFmt formatCode="0.0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CD3"/>
            </a:solidFill>
            <a:prstDash val="solid"/>
            <a:round/>
          </a:ln>
        </c:spPr>
        <c:txPr>
          <a:bodyPr/>
          <a:lstStyle/>
          <a:p>
            <a:pPr>
              <a:defRPr sz="11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42"/>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4A55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C27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733"/>
                </a:solidFill>
                <a:latin typeface="+mn-lt"/>
              </a:defRPr>
            </a:pPr>
            <a:r>
              <a:rPr sz="1300" b="0" i="0" u="none" strike="noStrike">
                <a:solidFill>
                  <a:srgbClr val="1C2733"/>
                </a:solidFill>
                <a:latin typeface="+mn-lt"/>
              </a:rPr>
              <a:t>정보군별 |SHAP| 배율 (피크 구간 / 전체)</a:t>
            </a:r>
          </a:p>
        </c:rich>
      </c:tx>
      <c:layout/>
      <c:overlay val="0"/>
    </c:title>
    <c:autoTitleDeleted val="0"/>
    <c:plotArea>
      <c:layout/>
      <c:barChart>
        <c:barDir val="bar"/>
        <c:grouping val="clustered"/>
        <c:varyColors val="0"/>
        <c:ser>
          <c:idx val="0"/>
          <c:order val="0"/>
          <c:tx>
            <c:strRef>
              <c:f>Sheet1!$B$1</c:f>
              <c:strCache>
                <c:ptCount val="1"/>
                <c:pt idx="0">
                  <c:v>배율</c:v>
                </c:pt>
              </c:strCache>
            </c:strRef>
          </c:tx>
          <c:spPr>
            <a:solidFill>
              <a:srgbClr val="8C9AA6"/>
            </a:solidFill>
            <a:effectLst/>
          </c:spPr>
          <c:invertIfNegative val="0"/>
          <c:dLbls>
            <c:numFmt formatCode="0.00&quot;배&quot;"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dPt>
            <c:idx val="0"/>
            <c:invertIfNegative val="0"/>
            <c:bubble3D val="0"/>
            <c:spPr>
              <a:solidFill>
                <a:srgbClr val="8C9AA6"/>
              </a:solidFill>
              <a:effectLst/>
            </c:spPr>
          </c:dPt>
          <c:dPt>
            <c:idx val="1"/>
            <c:invertIfNegative val="0"/>
            <c:bubble3D val="0"/>
            <c:spPr>
              <a:solidFill>
                <a:srgbClr val="0E7C61"/>
              </a:solidFill>
              <a:effectLst/>
            </c:spPr>
          </c:dPt>
          <c:dPt>
            <c:idx val="2"/>
            <c:invertIfNegative val="0"/>
            <c:bubble3D val="0"/>
            <c:spPr>
              <a:solidFill>
                <a:srgbClr val="D9622B"/>
              </a:solidFill>
              <a:effectLst/>
            </c:spPr>
          </c:dPt>
          <c:dPt>
            <c:idx val="3"/>
            <c:invertIfNegative val="0"/>
            <c:bubble3D val="0"/>
            <c:spPr>
              <a:solidFill>
                <a:srgbClr val="0E7C61"/>
              </a:solidFill>
              <a:effectLst/>
            </c:spPr>
          </c:dPt>
          <c:cat>
            <c:multiLvlStrRef>
              <c:f>Sheet1!$A$2:$A$5</c:f>
              <c:multiLvlStrCache>
                <c:ptCount val="4"/>
                <c:lvl>
                  <c:pt idx="0">
                    <c:v>생산계획·휴무</c:v>
                  </c:pt>
                  <c:pt idx="1">
                    <c:v>과거 전력</c:v>
                  </c:pt>
                  <c:pt idx="2">
                    <c:v>기상</c:v>
                  </c:pt>
                  <c:pt idx="3">
                    <c:v>달력</c:v>
                  </c:pt>
                </c:lvl>
              </c:multiLvlStrCache>
            </c:multiLvlStrRef>
          </c:cat>
          <c:val>
            <c:numRef>
              <c:f>Sheet1!$B$2:$B$5</c:f>
              <c:numCache>
                <c:formatCode>General</c:formatCode>
                <c:ptCount val="4"/>
                <c:pt idx="0">
                  <c:v>0.95</c:v>
                </c:pt>
                <c:pt idx="1">
                  <c:v>1.5</c:v>
                </c:pt>
                <c:pt idx="2">
                  <c:v>1.56</c:v>
                </c:pt>
                <c:pt idx="3">
                  <c:v>1.43</c:v>
                </c:pt>
              </c:numCache>
            </c:numRef>
          </c:val>
        </c:ser>
        <c:dLbls>
          <c:numFmt formatCode="0.00&quot;배&quot;"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5CCD3"/>
            </a:solidFill>
            <a:prstDash val="solid"/>
            <a:round/>
          </a:ln>
        </c:spPr>
        <c:txPr>
          <a:bodyPr/>
          <a:lstStyle/>
          <a:p>
            <a:pPr>
              <a:defRPr sz="11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1.9"/>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4A55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733"/>
                </a:solidFill>
                <a:latin typeface="+mn-lt"/>
              </a:defRPr>
            </a:pPr>
            <a:r>
              <a:rPr sz="1300" b="0" i="0" u="none" strike="noStrike">
                <a:solidFill>
                  <a:srgbClr val="1C2733"/>
                </a:solidFill>
                <a:latin typeface="+mn-lt"/>
              </a:rPr>
              <a:t>조건별 MAE (5 to 9월, 시드 평균 예측)</a:t>
            </a:r>
          </a:p>
        </c:rich>
      </c:tx>
      <c:layout/>
      <c:overlay val="0"/>
    </c:title>
    <c:autoTitleDeleted val="0"/>
    <c:plotArea>
      <c:layout/>
      <c:barChart>
        <c:barDir val="bar"/>
        <c:grouping val="clustered"/>
        <c:varyColors val="0"/>
        <c:ser>
          <c:idx val="0"/>
          <c:order val="0"/>
          <c:tx>
            <c:strRef>
              <c:f>Sheet1!$B$1</c:f>
              <c:strCache>
                <c:ptCount val="1"/>
                <c:pt idx="0">
                  <c:v>MAE</c:v>
                </c:pt>
              </c:strCache>
            </c:strRef>
          </c:tx>
          <c:spPr>
            <a:solidFill>
              <a:srgbClr val="0E7C61"/>
            </a:solidFill>
            <a:effectLst/>
          </c:spPr>
          <c:invertIfNegative val="0"/>
          <c:dLbls>
            <c:numFmt formatCode="0.0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dPt>
            <c:idx val="0"/>
            <c:invertIfNegative val="0"/>
            <c:bubble3D val="0"/>
            <c:spPr>
              <a:solidFill>
                <a:srgbClr val="0E7C61"/>
              </a:solidFill>
              <a:effectLst/>
            </c:spPr>
          </c:dPt>
          <c:dPt>
            <c:idx val="1"/>
            <c:invertIfNegative val="0"/>
            <c:bubble3D val="0"/>
            <c:spPr>
              <a:solidFill>
                <a:srgbClr val="0E7C61"/>
              </a:solidFill>
              <a:effectLst/>
            </c:spPr>
          </c:dPt>
          <c:dPt>
            <c:idx val="2"/>
            <c:invertIfNegative val="0"/>
            <c:bubble3D val="0"/>
            <c:spPr>
              <a:solidFill>
                <a:srgbClr val="E0A23A"/>
              </a:solidFill>
              <a:effectLst/>
            </c:spPr>
          </c:dPt>
          <c:dPt>
            <c:idx val="3"/>
            <c:invertIfNegative val="0"/>
            <c:bubble3D val="0"/>
            <c:spPr>
              <a:solidFill>
                <a:srgbClr val="E0A23A"/>
              </a:solidFill>
              <a:effectLst/>
            </c:spPr>
          </c:dPt>
          <c:dPt>
            <c:idx val="4"/>
            <c:invertIfNegative val="0"/>
            <c:bubble3D val="0"/>
            <c:spPr>
              <a:solidFill>
                <a:srgbClr val="B83A3A"/>
              </a:solidFill>
              <a:effectLst/>
            </c:spPr>
          </c:dPt>
          <c:dPt>
            <c:idx val="5"/>
            <c:invertIfNegative val="0"/>
            <c:bubble3D val="0"/>
            <c:spPr>
              <a:solidFill>
                <a:srgbClr val="B83A3A"/>
              </a:solidFill>
              <a:effectLst/>
            </c:spPr>
          </c:dPt>
          <c:dPt>
            <c:idx val="6"/>
            <c:invertIfNegative val="0"/>
            <c:bubble3D val="0"/>
            <c:spPr>
              <a:solidFill>
                <a:srgbClr val="B83A3A"/>
              </a:solidFill>
              <a:effectLst/>
            </c:spPr>
          </c:dPt>
          <c:dPt>
            <c:idx val="7"/>
            <c:invertIfNegative val="0"/>
            <c:bubble3D val="0"/>
            <c:spPr>
              <a:solidFill>
                <a:srgbClr val="B83A3A"/>
              </a:solidFill>
              <a:effectLst/>
            </c:spPr>
          </c:dPt>
          <c:dPt>
            <c:idx val="8"/>
            <c:invertIfNegative val="0"/>
            <c:bubble3D val="0"/>
            <c:spPr>
              <a:solidFill>
                <a:srgbClr val="B83A3A"/>
              </a:solidFill>
              <a:effectLst/>
            </c:spPr>
          </c:dPt>
          <c:cat>
            <c:multiLvlStrRef>
              <c:f>Sheet1!$A$2:$A$10</c:f>
              <c:multiLvlStrCache>
                <c:ptCount val="9"/>
                <c:lvl>
                  <c:pt idx="0">
                    <c:v>주말</c:v>
                  </c:pt>
                  <c:pt idx="1">
                    <c:v>휴무 직후</c:v>
                  </c:pt>
                  <c:pt idx="2">
                    <c:v>전환 시각 (7·12·17시)</c:v>
                  </c:pt>
                  <c:pt idx="3">
                    <c:v>고온 가동 (22℃ 초과·생산 중)</c:v>
                  </c:pt>
                  <c:pt idx="4">
                    <c:v>고생산 (시간당 900 초과)</c:v>
                  </c:pt>
                  <c:pt idx="5">
                    <c:v>피크 구간 (상위 5%)</c:v>
                  </c:pt>
                  <c:pt idx="6">
                    <c:v>마지막 생산시간 이후</c:v>
                  </c:pt>
                  <c:pt idx="7">
                    <c:v>법정공휴일</c:v>
                  </c:pt>
                  <c:pt idx="8">
                    <c:v>공휴일 · 생산 종료 이후</c:v>
                  </c:pt>
                </c:lvl>
              </c:multiLvlStrCache>
            </c:multiLvlStrRef>
          </c:cat>
          <c:val>
            <c:numRef>
              <c:f>Sheet1!$B$2:$B$10</c:f>
              <c:numCache>
                <c:formatCode>General</c:formatCode>
                <c:ptCount val="9"/>
                <c:pt idx="0">
                  <c:v>3.31</c:v>
                </c:pt>
                <c:pt idx="1">
                  <c:v>6.96</c:v>
                </c:pt>
                <c:pt idx="2">
                  <c:v>8</c:v>
                </c:pt>
                <c:pt idx="3">
                  <c:v>9.18</c:v>
                </c:pt>
                <c:pt idx="4">
                  <c:v>11.61</c:v>
                </c:pt>
                <c:pt idx="5">
                  <c:v>12.68</c:v>
                </c:pt>
                <c:pt idx="6">
                  <c:v>17.69</c:v>
                </c:pt>
                <c:pt idx="7">
                  <c:v>37.03</c:v>
                </c:pt>
                <c:pt idx="8">
                  <c:v>91.47</c:v>
                </c:pt>
              </c:numCache>
            </c:numRef>
          </c:val>
        </c:ser>
        <c:dLbls>
          <c:numFmt formatCode="0.0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5CCD3"/>
            </a:solidFill>
            <a:prstDash val="solid"/>
            <a:round/>
          </a:ln>
        </c:spPr>
        <c:txPr>
          <a:bodyPr/>
          <a:lstStyle/>
          <a:p>
            <a:pPr>
              <a:defRPr sz="11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105"/>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4A55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733"/>
                </a:solidFill>
                <a:latin typeface="+mn-lt"/>
              </a:defRPr>
            </a:pPr>
            <a:r>
              <a:rPr sz="1300" b="0" i="0" u="none" strike="noStrike">
                <a:solidFill>
                  <a:srgbClr val="1C2733"/>
                </a:solidFill>
                <a:latin typeface="+mn-lt"/>
              </a:rPr>
              <a:t>같은 타깃·같은 Q95 임계에서 목적함수만 바꾼 재현율</a:t>
            </a:r>
          </a:p>
        </c:rich>
      </c:tx>
      <c:layout/>
      <c:overlay val="0"/>
    </c:title>
    <c:autoTitleDeleted val="0"/>
    <c:plotArea>
      <c:layout/>
      <c:barChart>
        <c:barDir val="bar"/>
        <c:grouping val="clustered"/>
        <c:varyColors val="0"/>
        <c:ser>
          <c:idx val="0"/>
          <c:order val="0"/>
          <c:tx>
            <c:strRef>
              <c:f>Sheet1!$B$1</c:f>
              <c:strCache>
                <c:ptCount val="1"/>
                <c:pt idx="0">
                  <c:v>재현율</c:v>
                </c:pt>
              </c:strCache>
            </c:strRef>
          </c:tx>
          <c:spPr>
            <a:solidFill>
              <a:srgbClr val="8C9AA6"/>
            </a:solidFill>
            <a:effectLst/>
          </c:spPr>
          <c:invertIfNegative val="0"/>
          <c:dLbls>
            <c:numFmt formatCode="0.0&quot;%&quot;"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dPt>
            <c:idx val="0"/>
            <c:invertIfNegative val="0"/>
            <c:bubble3D val="0"/>
            <c:spPr>
              <a:solidFill>
                <a:srgbClr val="8C9AA6"/>
              </a:solidFill>
              <a:effectLst/>
            </c:spPr>
          </c:dPt>
          <c:dPt>
            <c:idx val="1"/>
            <c:invertIfNegative val="0"/>
            <c:bubble3D val="0"/>
            <c:spPr>
              <a:solidFill>
                <a:srgbClr val="0E7C61"/>
              </a:solidFill>
              <a:effectLst/>
            </c:spPr>
          </c:dPt>
          <c:cat>
            <c:multiLvlStrRef>
              <c:f>Sheet1!$A$2:$A$3</c:f>
              <c:multiLvlStrCache>
                <c:ptCount val="2"/>
                <c:lvl>
                  <c:pt idx="0">
                    <c:v>15분 최대 L1 (점 예측)</c:v>
                  </c:pt>
                  <c:pt idx="1">
                    <c:v>15분 최대 P90</c:v>
                  </c:pt>
                </c:lvl>
              </c:multiLvlStrCache>
            </c:multiLvlStrRef>
          </c:cat>
          <c:val>
            <c:numRef>
              <c:f>Sheet1!$B$2:$B$3</c:f>
              <c:numCache>
                <c:formatCode>General</c:formatCode>
                <c:ptCount val="2"/>
                <c:pt idx="0">
                  <c:v>64.3</c:v>
                </c:pt>
                <c:pt idx="1">
                  <c:v>100</c:v>
                </c:pt>
              </c:numCache>
            </c:numRef>
          </c:val>
        </c:ser>
        <c:dLbls>
          <c:numFmt formatCode="0.0&quot;%&quot;"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5CCD3"/>
            </a:solidFill>
            <a:prstDash val="solid"/>
            <a:round/>
          </a:ln>
        </c:spPr>
        <c:txPr>
          <a:bodyPr/>
          <a:lstStyle/>
          <a:p>
            <a:pPr>
              <a:defRPr sz="11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118"/>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4A55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733"/>
                </a:solidFill>
                <a:latin typeface="+mn-lt"/>
              </a:defRPr>
            </a:pPr>
            <a:r>
              <a:rPr sz="1300" b="0" i="0" u="none" strike="noStrike">
                <a:solidFill>
                  <a:srgbClr val="1C2733"/>
                </a:solidFill>
                <a:latin typeface="+mn-lt"/>
              </a:rPr>
              <a:t>임계별 재현율·정밀도 (P90, %)</a:t>
            </a:r>
          </a:p>
        </c:rich>
      </c:tx>
      <c:layout/>
      <c:overlay val="0"/>
    </c:title>
    <c:autoTitleDeleted val="0"/>
    <c:plotArea>
      <c:layout/>
      <c:barChart>
        <c:barDir val="col"/>
        <c:grouping val="clustered"/>
        <c:varyColors val="0"/>
        <c:ser>
          <c:idx val="0"/>
          <c:order val="0"/>
          <c:tx>
            <c:strRef>
              <c:f>Sheet1!$B$1</c:f>
              <c:strCache>
                <c:ptCount val="1"/>
                <c:pt idx="0">
                  <c:v>일 재현율</c:v>
                </c:pt>
              </c:strCache>
            </c:strRef>
          </c:tx>
          <c:spPr>
            <a:solidFill>
              <a:schemeClr val="accent1"/>
            </a:solidFill>
            <a:effectLst/>
          </c:spPr>
          <c:invertIfNegative val="0"/>
          <c:dLbls>
            <c:numFmt formatCode="General"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cat>
            <c:multiLvlStrRef>
              <c:f>Sheet1!$A$2:$A$4</c:f>
              <c:multiLvlStrCache>
                <c:ptCount val="3"/>
                <c:lvl>
                  <c:pt idx="0">
                    <c:v>Q95</c:v>
                  </c:pt>
                  <c:pt idx="1">
                    <c:v>Q97</c:v>
                  </c:pt>
                  <c:pt idx="2">
                    <c:v>Q98</c:v>
                  </c:pt>
                </c:lvl>
              </c:multiLvlStrCache>
            </c:multiLvlStrRef>
          </c:cat>
          <c:val>
            <c:numRef>
              <c:f>Sheet1!$B$2:$B$4</c:f>
              <c:numCache>
                <c:formatCode>General</c:formatCode>
                <c:ptCount val="3"/>
                <c:pt idx="0">
                  <c:v>100</c:v>
                </c:pt>
                <c:pt idx="1">
                  <c:v>88.1</c:v>
                </c:pt>
                <c:pt idx="2">
                  <c:v>64.3</c:v>
                </c:pt>
              </c:numCache>
            </c:numRef>
          </c:val>
        </c:ser>
        <c:ser>
          <c:idx val="1"/>
          <c:order val="1"/>
          <c:tx>
            <c:strRef>
              <c:f>Sheet1!$C$1</c:f>
              <c:strCache>
                <c:ptCount val="1"/>
                <c:pt idx="0">
                  <c:v>일 정밀도</c:v>
                </c:pt>
              </c:strCache>
            </c:strRef>
          </c:tx>
          <c:spPr>
            <a:solidFill>
              <a:schemeClr val="accent3"/>
            </a:solidFill>
            <a:effectLst/>
          </c:spPr>
          <c:invertIfNegative val="0"/>
          <c:dLbls>
            <c:numFmt formatCode="General"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cat>
            <c:multiLvlStrRef>
              <c:f>Sheet1!$A$2:$A$4</c:f>
              <c:multiLvlStrCache>
                <c:ptCount val="3"/>
                <c:lvl>
                  <c:pt idx="0">
                    <c:v>Q95</c:v>
                  </c:pt>
                  <c:pt idx="1">
                    <c:v>Q97</c:v>
                  </c:pt>
                  <c:pt idx="2">
                    <c:v>Q98</c:v>
                  </c:pt>
                </c:lvl>
              </c:multiLvlStrCache>
            </c:multiLvlStrRef>
          </c:cat>
          <c:val>
            <c:numRef>
              <c:f>Sheet1!$C$2:$C$4</c:f>
              <c:numCache>
                <c:formatCode>General</c:formatCode>
                <c:ptCount val="3"/>
                <c:pt idx="0">
                  <c:v>95.5</c:v>
                </c:pt>
                <c:pt idx="1">
                  <c:v>94.9</c:v>
                </c:pt>
                <c:pt idx="2">
                  <c:v>100</c:v>
                </c:pt>
              </c:numCache>
            </c:numRef>
          </c:val>
        </c:ser>
        <c:dLbls>
          <c:numFmt formatCode="General"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CD3"/>
            </a:solidFill>
            <a:prstDash val="solid"/>
            <a:round/>
          </a:ln>
        </c:spPr>
        <c:txPr>
          <a:bodyPr/>
          <a:lstStyle/>
          <a:p>
            <a:pPr>
              <a:defRPr sz="11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118"/>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4A55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C27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733"/>
                </a:solidFill>
                <a:latin typeface="+mn-lt"/>
              </a:defRPr>
            </a:pPr>
            <a:r>
              <a:rPr sz="1300" b="0" i="0" u="none" strike="noStrike">
                <a:solidFill>
                  <a:srgbClr val="1C2733"/>
                </a:solidFill>
                <a:latin typeface="+mn-lt"/>
              </a:rPr>
              <a:t>시각별 전력 상승폭 (직전 시각 대비) · 8시 +48.6 · 13시 +50.1</a:t>
            </a:r>
          </a:p>
        </c:rich>
      </c:tx>
      <c:layout/>
      <c:overlay val="0"/>
    </c:title>
    <c:autoTitleDeleted val="0"/>
    <c:plotArea>
      <c:layout/>
      <c:barChart>
        <c:barDir val="col"/>
        <c:grouping val="clustered"/>
        <c:varyColors val="0"/>
        <c:ser>
          <c:idx val="0"/>
          <c:order val="0"/>
          <c:tx>
            <c:strRef>
              <c:f>Sheet1!$B$1</c:f>
              <c:strCache>
                <c:ptCount val="1"/>
                <c:pt idx="0">
                  <c:v>상승폭</c:v>
                </c:pt>
              </c:strCache>
            </c:strRef>
          </c:tx>
          <c:spPr>
            <a:solidFill>
              <a:srgbClr val="8C9AA6"/>
            </a:solidFill>
            <a:effectLst/>
          </c:spPr>
          <c:invertIfNegative val="0"/>
          <c:dLbls>
            <c:numFmt formatCode="#,##0" sourceLinked="0"/>
            <c:txPr>
              <a:bodyPr/>
              <a:lstStyle/>
              <a:p>
                <a:pPr>
                  <a:defRPr b="0" i="0" strike="noStrike" sz="1100" u="none">
                    <a:solidFill>
                      <a:srgbClr val="1C2733"/>
                    </a:solidFill>
                    <a:latin typeface="+mn-lt"/>
                  </a:defRPr>
                </a:pPr>
              </a:p>
            </c:txPr>
            <c:showLegendKey val="0"/>
            <c:showVal val="0"/>
            <c:showCatName val="0"/>
            <c:showSerName val="0"/>
            <c:showPercent val="0"/>
            <c:showBubbleSize val="0"/>
            <c:showLeaderLines val="0"/>
          </c:dLbls>
          <c:dPt>
            <c:idx val="0"/>
            <c:invertIfNegative val="0"/>
            <c:bubble3D val="0"/>
            <c:spPr>
              <a:solidFill>
                <a:srgbClr val="8C9AA6"/>
              </a:solidFill>
              <a:effectLst/>
            </c:spPr>
          </c:dPt>
          <c:dPt>
            <c:idx val="1"/>
            <c:invertIfNegative val="0"/>
            <c:bubble3D val="0"/>
            <c:spPr>
              <a:solidFill>
                <a:srgbClr val="8C9AA6"/>
              </a:solidFill>
              <a:effectLst/>
            </c:spPr>
          </c:dPt>
          <c:dPt>
            <c:idx val="2"/>
            <c:invertIfNegative val="0"/>
            <c:bubble3D val="0"/>
            <c:spPr>
              <a:solidFill>
                <a:srgbClr val="8C9AA6"/>
              </a:solidFill>
              <a:effectLst/>
            </c:spPr>
          </c:dPt>
          <c:dPt>
            <c:idx val="3"/>
            <c:invertIfNegative val="0"/>
            <c:bubble3D val="0"/>
            <c:spPr>
              <a:solidFill>
                <a:srgbClr val="8C9AA6"/>
              </a:solidFill>
              <a:effectLst/>
            </c:spPr>
          </c:dPt>
          <c:dPt>
            <c:idx val="4"/>
            <c:invertIfNegative val="0"/>
            <c:bubble3D val="0"/>
            <c:spPr>
              <a:solidFill>
                <a:srgbClr val="8C9AA6"/>
              </a:solidFill>
              <a:effectLst/>
            </c:spPr>
          </c:dPt>
          <c:dPt>
            <c:idx val="5"/>
            <c:invertIfNegative val="0"/>
            <c:bubble3D val="0"/>
            <c:spPr>
              <a:solidFill>
                <a:srgbClr val="8C9AA6"/>
              </a:solidFill>
              <a:effectLst/>
            </c:spPr>
          </c:dPt>
          <c:dPt>
            <c:idx val="6"/>
            <c:invertIfNegative val="0"/>
            <c:bubble3D val="0"/>
            <c:spPr>
              <a:solidFill>
                <a:srgbClr val="8C9AA6"/>
              </a:solidFill>
              <a:effectLst/>
            </c:spPr>
          </c:dPt>
          <c:dPt>
            <c:idx val="7"/>
            <c:invertIfNegative val="0"/>
            <c:bubble3D val="0"/>
            <c:spPr>
              <a:solidFill>
                <a:srgbClr val="D9622B"/>
              </a:solidFill>
              <a:effectLst/>
            </c:spPr>
          </c:dPt>
          <c:dPt>
            <c:idx val="8"/>
            <c:invertIfNegative val="0"/>
            <c:bubble3D val="0"/>
            <c:spPr>
              <a:solidFill>
                <a:srgbClr val="8C9AA6"/>
              </a:solidFill>
              <a:effectLst/>
            </c:spPr>
          </c:dPt>
          <c:dPt>
            <c:idx val="9"/>
            <c:invertIfNegative val="0"/>
            <c:bubble3D val="0"/>
            <c:spPr>
              <a:solidFill>
                <a:srgbClr val="8C9AA6"/>
              </a:solidFill>
              <a:effectLst/>
            </c:spPr>
          </c:dPt>
          <c:dPt>
            <c:idx val="10"/>
            <c:invertIfNegative val="0"/>
            <c:bubble3D val="0"/>
            <c:spPr>
              <a:solidFill>
                <a:srgbClr val="8C9AA6"/>
              </a:solidFill>
              <a:effectLst/>
            </c:spPr>
          </c:dPt>
          <c:dPt>
            <c:idx val="11"/>
            <c:invertIfNegative val="0"/>
            <c:bubble3D val="0"/>
            <c:spPr>
              <a:solidFill>
                <a:srgbClr val="8C9AA6"/>
              </a:solidFill>
              <a:effectLst/>
            </c:spPr>
          </c:dPt>
          <c:dPt>
            <c:idx val="12"/>
            <c:invertIfNegative val="0"/>
            <c:bubble3D val="0"/>
            <c:spPr>
              <a:solidFill>
                <a:srgbClr val="D9622B"/>
              </a:solidFill>
              <a:effectLst/>
            </c:spPr>
          </c:dPt>
          <c:dPt>
            <c:idx val="13"/>
            <c:invertIfNegative val="0"/>
            <c:bubble3D val="0"/>
            <c:spPr>
              <a:solidFill>
                <a:srgbClr val="8C9AA6"/>
              </a:solidFill>
              <a:effectLst/>
            </c:spPr>
          </c:dPt>
          <c:dPt>
            <c:idx val="14"/>
            <c:invertIfNegative val="0"/>
            <c:bubble3D val="0"/>
            <c:spPr>
              <a:solidFill>
                <a:srgbClr val="8C9AA6"/>
              </a:solidFill>
              <a:effectLst/>
            </c:spPr>
          </c:dPt>
          <c:dPt>
            <c:idx val="15"/>
            <c:invertIfNegative val="0"/>
            <c:bubble3D val="0"/>
            <c:spPr>
              <a:solidFill>
                <a:srgbClr val="8C9AA6"/>
              </a:solidFill>
              <a:effectLst/>
            </c:spPr>
          </c:dPt>
          <c:dPt>
            <c:idx val="16"/>
            <c:invertIfNegative val="0"/>
            <c:bubble3D val="0"/>
            <c:spPr>
              <a:solidFill>
                <a:srgbClr val="8C9AA6"/>
              </a:solidFill>
              <a:effectLst/>
            </c:spPr>
          </c:dPt>
          <c:dPt>
            <c:idx val="17"/>
            <c:invertIfNegative val="0"/>
            <c:bubble3D val="0"/>
            <c:spPr>
              <a:solidFill>
                <a:srgbClr val="8C9AA6"/>
              </a:solidFill>
              <a:effectLst/>
            </c:spPr>
          </c:dPt>
          <c:dPt>
            <c:idx val="18"/>
            <c:invertIfNegative val="0"/>
            <c:bubble3D val="0"/>
            <c:spPr>
              <a:solidFill>
                <a:srgbClr val="8C9AA6"/>
              </a:solidFill>
              <a:effectLst/>
            </c:spPr>
          </c:dPt>
          <c:dPt>
            <c:idx val="19"/>
            <c:invertIfNegative val="0"/>
            <c:bubble3D val="0"/>
            <c:spPr>
              <a:solidFill>
                <a:srgbClr val="8C9AA6"/>
              </a:solidFill>
              <a:effectLst/>
            </c:spPr>
          </c:dPt>
          <c:dPt>
            <c:idx val="20"/>
            <c:invertIfNegative val="0"/>
            <c:bubble3D val="0"/>
            <c:spPr>
              <a:solidFill>
                <a:srgbClr val="8C9AA6"/>
              </a:solidFill>
              <a:effectLst/>
            </c:spPr>
          </c:dPt>
          <c:dPt>
            <c:idx val="21"/>
            <c:invertIfNegative val="0"/>
            <c:bubble3D val="0"/>
            <c:spPr>
              <a:solidFill>
                <a:srgbClr val="8C9AA6"/>
              </a:solidFill>
              <a:effectLst/>
            </c:spPr>
          </c:dPt>
          <c:dPt>
            <c:idx val="22"/>
            <c:invertIfNegative val="0"/>
            <c:bubble3D val="0"/>
            <c:spPr>
              <a:solidFill>
                <a:srgbClr val="8C9AA6"/>
              </a:solidFill>
              <a:effectLst/>
            </c:spPr>
          </c:dPt>
          <c:cat>
            <c:multiLvlStrRef>
              <c:f>Sheet1!$A$2:$A$24</c:f>
              <c:multiLvlStrCache>
                <c:ptCount val="23"/>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lvl>
              </c:multiLvlStrCache>
            </c:multiLvlStrRef>
          </c:cat>
          <c:val>
            <c:numRef>
              <c:f>Sheet1!$B$2:$B$24</c:f>
              <c:numCache>
                <c:formatCode>General</c:formatCode>
                <c:ptCount val="23"/>
                <c:pt idx="0">
                  <c:v>25.887</c:v>
                </c:pt>
                <c:pt idx="1">
                  <c:v>3.451</c:v>
                </c:pt>
                <c:pt idx="2">
                  <c:v>-3.155</c:v>
                </c:pt>
                <c:pt idx="3">
                  <c:v>1.141</c:v>
                </c:pt>
                <c:pt idx="4">
                  <c:v>-11.704</c:v>
                </c:pt>
                <c:pt idx="5">
                  <c:v>12.042</c:v>
                </c:pt>
                <c:pt idx="6">
                  <c:v>11.408</c:v>
                </c:pt>
                <c:pt idx="7">
                  <c:v>48.577</c:v>
                </c:pt>
                <c:pt idx="8">
                  <c:v>-4.986</c:v>
                </c:pt>
                <c:pt idx="9">
                  <c:v>-3.014</c:v>
                </c:pt>
                <c:pt idx="10">
                  <c:v>7.62</c:v>
                </c:pt>
                <c:pt idx="11">
                  <c:v>-54.648</c:v>
                </c:pt>
                <c:pt idx="12">
                  <c:v>50.056</c:v>
                </c:pt>
                <c:pt idx="13">
                  <c:v>3.423</c:v>
                </c:pt>
                <c:pt idx="14">
                  <c:v>-13.141</c:v>
                </c:pt>
                <c:pt idx="15">
                  <c:v>3.028</c:v>
                </c:pt>
                <c:pt idx="16">
                  <c:v>-25.141</c:v>
                </c:pt>
                <c:pt idx="17">
                  <c:v>20.803</c:v>
                </c:pt>
                <c:pt idx="18">
                  <c:v>-12.07</c:v>
                </c:pt>
                <c:pt idx="19">
                  <c:v>-18.972</c:v>
                </c:pt>
                <c:pt idx="20">
                  <c:v>0.099</c:v>
                </c:pt>
                <c:pt idx="21">
                  <c:v>-8.648</c:v>
                </c:pt>
                <c:pt idx="22">
                  <c:v>-2.577</c:v>
                </c:pt>
              </c:numCache>
            </c:numRef>
          </c:val>
        </c:ser>
        <c:dLbls>
          <c:numFmt formatCode="#,##0" sourceLinked="0"/>
          <c:txPr>
            <a:bodyPr/>
            <a:lstStyle/>
            <a:p>
              <a:pPr>
                <a:defRPr b="0" i="0" strike="noStrike" sz="1100" u="none">
                  <a:solidFill>
                    <a:srgbClr val="1C2733"/>
                  </a:solidFill>
                  <a:latin typeface="+mn-lt"/>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CD3"/>
            </a:solidFill>
            <a:prstDash val="solid"/>
            <a:round/>
          </a:ln>
        </c:spPr>
        <c:txPr>
          <a:bodyPr/>
          <a:lstStyle/>
          <a:p>
            <a:pPr>
              <a:defRPr sz="11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60"/>
          <c:min val="-60"/>
        </c:scaling>
        <c:delete val="0"/>
        <c:axPos val="l"/>
        <c:majorGridlines>
          <c:spPr>
            <a:ln w="9525" cap="flat">
              <a:solidFill>
                <a:srgbClr val="E3E7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4A5560"/>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제6회 K-인공지능 제조데이터 분석 경진대회 과제 ⑤, 전력사용량 예측과 최대피크 위험조건 분석 발표를 시작하겠습니다. 표지의 곡선은 이 공장 가동일의 평균 시간대별 전력입니다. 8시와 13시에 부하가 한꺼번에 오르는 이 모양이 발표 후반의 저감 방안으로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먼저 말씀드리겠습니다. 7 to 9월 검증 구간에서 시간별 예측 MAE 6.57, 피크 구간 MAE 12.49로 단순 규칙인 목표선 대비 오차를 71%, 65% 줄였습니다. 피크 경보는 평가 69일에서 위험일을 하나도 놓치지 않았고, 저감 방안을 적용하면 기본요금 기준 연 43만 to 306만 원을 줄일 수 있습니다. 이 순서대로 다섯 단계를 설명하겠습니다.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예측 시점은 전날 자정입니다. 타깃은 두 개로 두었습니다. 과제가 요구한 시간 평균 전력과, 한전 최대수요전력의 산정 단위인 15분 최대입니다. 요금적용전력은 당월과 직전 11개월 최대값 중 가장 큰 값이라, 1년에 한 번의 피크가 12개월 기본요금을 정합니다. 시간대별 단가 차등이 없으므로 비용을 줄이는 길은 최대수요전력을 낮추는 것뿐입니다.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2021년 1월부터 9월 14일까지 257일, 6,168시간, 18개 변수입니다. 전력은 기저 23, 중부하 105, 고부하 165의 세 단계로 뚜렷이 나뉘고 교대 체계를 따릅니다. 요일 패턴이 강해서 어제보다 지난주 같은 요일과 더 닮았는데, 이것이 뒤의 피처 설계로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161일은 생산량과 날씨가 다른데 24시간 전력 패턴만 다른 날과 똑같았습니다. 1 to 6월에 몰려 있고 7 to 9월은 대부분 고유일입니다. 복제일을 평가에 넣으면 모델이 암기로 오차를 절반까지 줄여 성능이 부풀려지므로 평가는 고유일만 썼습니다. 생산 기록이 누락된 15일은 학습에서만 빼고 평가에는 원본 그대로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기간에서 일생산량과 일 최대 전력의 상관은 0.85지만, 가동일만 보면 0.094로 사라집니다. 반대로 기온과의 상관은 0에서 0.366으로 커집니다. 생산이 무관해진 것이 아니라 생산이 이미 이루어진 날만 남았기 때문이라고 해석했습니다. 생산은 피크의 관문이고, 그 위에서 고온이 위험을 키우는 2단 구조입니다.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모델을 비교하기 전에 평가 조건을 먼저 고정했습니다. 평가 행은 고유일 2,092행, 판단 기준은 7 to 9월 1,708행이며 모든 실험에서 같습니다. 시드 3개로 반복해 차이가 시드 표준편차보다 작으면 개선으로 보지 않았습니다. AI가 넘어야 할 목표선은 단순 규칙 4종의 지표별 최저값으로 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가지 결정이 직관과 반대였습니다. 첫째, 어제 데이터를 뺐습니다. 금요일 값으로 토요일을 예측하면 오차 82.8, 지난주 토요일로 예측하면 12.4입니다. 24시간 전 시차를 뺀 h7_full이 MAE를 1.10 더 낮췄고, 덕분에 7일 전 경보도 가능해졌습니다. 둘째, 복제일을 지우면 학습량이 부족해 오차가 13 이상으로 올라가므로, 지우지 않고 가중치를 0.3으로 낮췄습니다.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 모델에서 한 번에 한 가지만 바꾸며 효과를 추적했습니다. h7_full과 복제 가중치를 결합해 7.15, 얕은 나무와 느린 학습을 조합해 6.75로 내려갔습니다. 피크 행 가중을 더하면 전체 MAE는 6.79로 시드 편차 안에서 조금 오르지만 피크 MAE가 14.89에서 12.75로 크게 낮아져 이를 택했습니다. 마지막으로 시차 결측을 보완하는 L군 피처로 6.57에 도달했습니다.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판단 기준인 7 to 9월에서 MAE 6.57, RMSE 9.61, 피크 구간 MAE 12.49로 목표선 대비 각각 71%, 73%, 65% 줄였습니다. 휴가 직후인 8월에는 주간 패턴이 끊겨 단순 규칙이 27.47까지 무너지지만 모델은 6.60을 유지했습니다. 다만 이 구간은 설정 선택에도 썼으므로 현장 성능은 다소 낮을 수 있다는 점을 함께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SHAP으로 보면 피크 구간에서 과거 전력과 기상의 기여가 1.5배 이상 커지고 생산계획은 0.95배로 줄어듭니다. 1장에서 가동일만 보면 생산 대신 기온이 남았던 것과 같은 방향입니다. 특히 우리가 만든 불쾌지수와 냉방부하 변수는 피크에서 2.25배, 1.54배 더 쓰였고 원본 기온은 거의 변하지 않았습니다. 다만 기상의 절대 기여는 과거 전력보다 작아서, 기온은 증분 요소로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모델이 잘 맞히는 조건과 틀리는 조건을 나눴습니다. 주말과 휴무 직후는 안정적이고, 오차는 공휴일에 몰립니다. 완전 휴무였던 8월 15일은 정확했지만, 생산을 일찍 마친 5월 5일과 19일은 하루 종일 가동으로 판단해 크게 과대예측했습니다. 학습 구간 공휴일이 2일뿐이라 이것은 튜닝보다 데이터 확보로 풀어야 할 과제입니다.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모델이 피크 시각을 정확히 맞히는 비율은 20.4%라서, 경보는 그날이 위험한지를 판정하는 일 단위로 설계했습니다. 15분 최대를 직접 학습한 P90 예측이 학습 구간 Q95를 넘는 시각이 하루 한 번이라도 있으면 위험일입니다. 평가 69일에서 실제 위험일 42일을 모두 잡았고 오경보는 2일입니다. 같은 조건에서 목적함수만 점 예측으로 바꾸면 재현율이 64.3%에 그칩니다.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임계를 Q95에서 Q97, Q98로 올리면 정밀도는 거의 그대로인데 재현율이 88%, 64%로 떨어집니다. 한 번의 초과가 12개월 기본요금을 정하므로 미탐지를 막는 Q95를 택했습니다. 경보가 당일 정보를 몰래 쓰지 않았는지, 당일 이후 전력을 지우고 176회 다시 돌려 예측값 변화가 0임을 확인했습니다. 어제 데이터를 쓰지 않는 구조 덕분에 7일 전 경보도 재현율 97.4%입니다.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1장의 2단 구조를 기온과 생산의 교차표로 확인했습니다. 생산 하위 1/3인 23일은 30도를 넘는 폭염에도 피크일이 한 번도 없었습니다. 생산이 중위 이상이면 기온이 오를수록 피크일 비율이 올라갑니다. 이를 전날 자정에 보는 3단계 점검으로 정리했고, 세 조건이 모두 겹치면 경보와 관계없이 기동 분산부터 시행합니다. 반대로 주말이나 생산 하위 1/3인 날은 조치가 필요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과제가 요구한 생산일정과 설비가동 조정은 성격이 다른 네 가지를 포함하므로 나눠서 측정했습니다. A 상시 기동 분산과 B 경보일 피크 억제는 채택, C 날짜 간 일정 조정은 생산이 늘어도 일 최대가 포화되어 보조 수단, D 하루 안 배분 조정은 모델이 효과를 우연 수준으로밖에 구분하지 못해 기각했습니다. 저감폭은 모델 예측이 아니라 실측 차이로 계산했습니다.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8시와 13시에 전력이 50 가까이 한꺼번에 오릅니다. 13시는 점심에 껐던 설비를 일제히 다시 켜는 상승입니다. 그래서 기동을 분산하는 축 A를 상시로 둡니다. 그런데 연 최대 222가 나온 7월 19일은 피크가 11시였습니다. 축 A만으로는 기본요금이 내려가지 않으므로, 경보일에 그날 최대 시각을 눌러 주는 축 B가 함께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기본요금 절감액은 연 최대수요전력 저감폭, 전력 단위 환산계수, 기본요금 단가, 12개월의 곱입니다. 데이터에 전력 단위와 계약 종별이 없어서 임의로 정하지 않고 두 경우를 모두 계산했습니다. 기준 시나리오인 축 B 50% 억제에서 순시 kW라면 연 43만 to 58만 원, 15분 사용량이라면 225만 to 306만 원입니다. 두 값만 현장에서 확인하면 금액이 하나로 정해집니다.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 책임자용 운영 화면입니다. 시간별 예측 곡선, 경보 기준선, 경보 시간대, 작업 조건이 한 화면에 나오고, 서버 없이 HTML 파일을 더블클릭해 열 수 있습니다. 작업의 소요 시간, 허용 시간대, 선후행 관계를 지키면서 일 최대가 가장 낮아지는 배치를 분기한정법으로 찾아 권고합니다. 예시 작업 2건을 옮기면 가정 부하 기준 P90이 199.1에서 195.1로 낮아집니다. 이는 가정값이며 실측 저감량은 아닙니다. 설비를 직접 제어하지 않고 판단을 돕는 도구입니다.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차별점은 새로운 알고리즘이 아니라 문제를 다루는 방식에 있다고 봅니다. 탐색 결과를 운영 규칙까지 이어 갔고, 요금 제도에서 거꾸로 타깃을 정했습니다. 직관에 반하는 데이터 처리도 수치로 근거를 남겼고, 수치가 나빠지더라도 누수를 바로잡았습니다. 효과가 없었던 것과 확정할 수 없는 값도 그대로 밝혔습니다. 예측 알고리즘은 LightGBM 하나만 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제출한 코드와 원자료만으로 결과를 다시 만들 수 있습니다. 전체 재현은 run_all.py, 핵심 수치 확인은 단일 실행본으로 약 4분입니다. 평가 규약은 model.py 한 곳에만 정의해 어떤 스크립트도 자기에게 유리한 기준을 쓸 수 없고, 실행본은 끝나기 전에 보고서 수치 여섯 개와 스스로 대조합니다. 누수 검증도 자동 테스트로 고정했습니다.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데이터 진단으로 평가를 바로 세운 뒤 목표선 대비 오차를 71% 줄였고, 15분 최대 P90 경보로 위험일을 놓치지 않았으며, 비용이 들지 않는 두 가지 조치로 연 43만 to 306만 원의 기본요금 절감을 제시했습니다. 독립 검증 구간이 없다는 점, 부분 가동 공휴일, 전력 단위와 계약 종별 확인이 다음 과제입니다.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325880"/>
            <a:ext cx="10698480" cy="411480"/>
          </a:xfrm>
          <a:prstGeom prst="rect">
            <a:avLst/>
          </a:prstGeom>
          <a:noFill/>
          <a:ln/>
        </p:spPr>
        <p:txBody>
          <a:bodyPr wrap="square" rtlCol="0"/>
          <a:lstStyle>
            <a:lvl1pPr indent="0" marL="0">
              <a:buNone/>
              <a:defRPr lang="en-US" sz="1600" b="1"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1783080"/>
            <a:ext cx="10698480" cy="11430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2926080"/>
            <a:ext cx="10698480" cy="5486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5" name="Text 0"/>
          <p:cNvSpPr/>
          <p:nvPr>
            <p:ph idx="103" type="body" hasCustomPrompt="1"/>
          </p:nvPr>
        </p:nvSpPr>
        <p:spPr>
          <a:xfrm>
            <a:off x="731520" y="5806440"/>
            <a:ext cx="10698480" cy="411480"/>
          </a:xfrm>
          <a:prstGeom prst="rect">
            <a:avLst/>
          </a:prstGeom>
          <a:noFill/>
          <a:ln/>
        </p:spPr>
        <p:txBody>
          <a:bodyPr wrap="square" rtlCol="0"/>
          <a:lstStyle>
            <a:lvl1pPr indent="0" marL="0">
              <a:buNone/>
              <a:defRPr lang="en-US" sz="1400" dirty="0">
                <a:solidFill>
                  <a:schemeClr val="accent3"/>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rtlCol="0"/>
          <a:lstStyle>
            <a:lvl1pPr indent="0" marL="0">
              <a:buNone/>
              <a:defRPr lang="en-US" sz="1300" b="1"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76656"/>
            <a:ext cx="11091672"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KAMP 제6회 K-인공지능 제조데이터 분석 경진대회 · FirstPlaceSolution</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rtlCol="0"/>
          <a:lstStyle>
            <a:lvl1pPr indent="0" marL="0">
              <a:buNone/>
              <a:defRPr lang="en-US" sz="1300" b="1" dirty="0">
                <a:solidFill>
                  <a:schemeClr val="accent5"/>
                </a:solidFill>
              </a:defRPr>
            </a:lvl1pPr>
          </a:lstStyle>
          <a:p>
            <a:pPr indent="0" marL="0">
              <a:buNone/>
            </a:pPr>
            <a:endParaRPr lang="en-US" sz="1300" dirty="0"/>
          </a:p>
        </p:txBody>
      </p:sp>
      <p:sp>
        <p:nvSpPr>
          <p:cNvPr id="3" name="Text 0"/>
          <p:cNvSpPr/>
          <p:nvPr>
            <p:ph idx="101" type="title" hasCustomPrompt="1"/>
          </p:nvPr>
        </p:nvSpPr>
        <p:spPr>
          <a:xfrm>
            <a:off x="548640" y="676656"/>
            <a:ext cx="11091672" cy="64008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KAMP 제6회 K-인공지능 제조데이터 분석 경진대회 · FirstPlaceSolution</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chart" Target="/ppt/charts/chart5.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3.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325880"/>
            <a:ext cx="10698480" cy="411480"/>
          </a:xfrm>
          <a:prstGeom prst="rect">
            <a:avLst/>
          </a:prstGeom>
          <a:noFill/>
          <a:ln/>
        </p:spPr>
        <p:txBody>
          <a:bodyPr wrap="square" lIns="0" tIns="0" rIns="0" bIns="0" rtlCol="0" anchor="t"/>
          <a:lstStyle/>
          <a:p>
            <a:pPr indent="0" marL="0">
              <a:buNone/>
            </a:pPr>
            <a:r>
              <a:rPr lang="ko-KR" altLang="en-US" sz="1600" b="1" dirty="0">
                <a:solidFill>
                  <a:schemeClr val="accent5"/>
                </a:solidFill>
              </a:rPr>
              <a:t>제6회 K-인공지능 제조데이터 분석 경진대회 · 과제 ⑤</a:t>
            </a:r>
            <a:endParaRPr lang="ko-KR" sz="1600" dirty="0"/>
          </a:p>
        </p:txBody>
      </p:sp>
      <p:sp>
        <p:nvSpPr>
          <p:cNvPr id="3" name="Text 0"/>
          <p:cNvSpPr/>
          <p:nvPr>
            <p:ph idx="101" type="title" hasCustomPrompt="1"/>
          </p:nvPr>
        </p:nvSpPr>
        <p:spPr>
          <a:xfrm>
            <a:off x="731520" y="1783080"/>
            <a:ext cx="10698480" cy="1143000"/>
          </a:xfrm>
          <a:prstGeom prst="rect">
            <a:avLst/>
          </a:prstGeom>
          <a:noFill/>
          <a:ln/>
        </p:spPr>
        <p:txBody>
          <a:bodyPr wrap="square" lIns="0" tIns="0" rIns="0" bIns="0" rtlCol="0" anchor="t"/>
          <a:lstStyle/>
          <a:p>
            <a:pPr algn="l" indent="0" marL="0">
              <a:buNone/>
            </a:pPr>
            <a:r>
              <a:rPr lang="ko-KR" altLang="en-US" sz="4000" b="1" dirty="0">
                <a:solidFill>
                  <a:schemeClr val="bg1"/>
                </a:solidFill>
              </a:rPr>
              <a:t>전력사용량 예측과 최대피크 위험조건 분석</a:t>
            </a:r>
            <a:endParaRPr lang="ko-KR" sz="4000" dirty="0"/>
          </a:p>
        </p:txBody>
      </p:sp>
      <p:sp>
        <p:nvSpPr>
          <p:cNvPr id="4" name="Text 0"/>
          <p:cNvSpPr/>
          <p:nvPr>
            <p:ph idx="102" type="body" hasCustomPrompt="1"/>
          </p:nvPr>
        </p:nvSpPr>
        <p:spPr>
          <a:xfrm>
            <a:off x="731520" y="2926080"/>
            <a:ext cx="10698480" cy="548640"/>
          </a:xfrm>
          <a:prstGeom prst="rect">
            <a:avLst/>
          </a:prstGeom>
          <a:noFill/>
          <a:ln/>
        </p:spPr>
        <p:txBody>
          <a:bodyPr wrap="square" lIns="0" tIns="0" rIns="0" bIns="0" rtlCol="0" anchor="t"/>
          <a:lstStyle/>
          <a:p>
            <a:pPr indent="0" marL="0">
              <a:buNone/>
            </a:pPr>
            <a:r>
              <a:rPr lang="ko-KR" altLang="en-US" sz="2000" dirty="0">
                <a:solidFill>
                  <a:schemeClr val="bg2"/>
                </a:solidFill>
              </a:rPr>
              <a:t>하루 전 예측에서 피크 경보, 저감 방안, 운영 화면까지</a:t>
            </a:r>
            <a:endParaRPr lang="ko-KR" sz="2000" dirty="0"/>
          </a:p>
        </p:txBody>
      </p:sp>
      <p:sp>
        <p:nvSpPr>
          <p:cNvPr id="5" name="Text 0"/>
          <p:cNvSpPr/>
          <p:nvPr>
            <p:ph idx="103" type="body" hasCustomPrompt="1"/>
          </p:nvPr>
        </p:nvSpPr>
        <p:spPr>
          <a:xfrm>
            <a:off x="731520" y="5806440"/>
            <a:ext cx="10698480" cy="411480"/>
          </a:xfrm>
          <a:prstGeom prst="rect">
            <a:avLst/>
          </a:prstGeom>
          <a:noFill/>
          <a:ln/>
        </p:spPr>
        <p:txBody>
          <a:bodyPr wrap="square" lIns="0" tIns="0" rIns="0" bIns="0" rtlCol="0" anchor="t"/>
          <a:lstStyle/>
          <a:p>
            <a:pPr indent="0" marL="0">
              <a:buNone/>
            </a:pPr>
            <a:r>
              <a:rPr lang="ko-KR" altLang="en-US" sz="1400" dirty="0">
                <a:solidFill>
                  <a:schemeClr val="accent3"/>
                </a:solidFill>
              </a:rPr>
              <a:t>FirstPlaceSolution   |   최치훈 (팀장) · 남궁인성 · 조선제   |   2026. 10.</a:t>
            </a:r>
            <a:endParaRPr lang="ko-KR" sz="1400" dirty="0"/>
          </a:p>
        </p:txBody>
      </p:sp>
      <p:graphicFrame>
        <p:nvGraphicFramePr>
          <p:cNvPr id="6" name="cover-load-curve" descr=""/>
          <p:cNvGraphicFramePr/>
          <p:nvPr/>
        </p:nvGraphicFramePr>
        <p:xfrm>
          <a:off x="548640" y="3657600"/>
          <a:ext cx="11091672" cy="1920240"/>
        </p:xfrm>
        <a:graphic xmlns:a="http://schemas.openxmlformats.org/drawingml/2006/main">
          <a:graphicData uri="http://schemas.openxmlformats.org/drawingml/2006/chart">
            <c:chart xmlns:c="http://schemas.openxmlformats.org/drawingml/2006/chart" r:id="rId1"/>
          </a:graphicData>
        </a:graphic>
      </p:graphicFrame>
      <p:sp>
        <p:nvSpPr>
          <p:cNvPr id="7" name="text-1"/>
          <p:cNvSpPr txBox="1"/>
          <p:nvPr/>
        </p:nvSpPr>
        <p:spPr>
          <a:xfrm>
            <a:off x="731520" y="5440680"/>
            <a:ext cx="5486400" cy="274320"/>
          </a:xfrm>
          <a:prstGeom prst="rect">
            <a:avLst/>
          </a:prstGeom>
          <a:noFill/>
          <a:ln/>
        </p:spPr>
        <p:txBody>
          <a:bodyPr wrap="square" lIns="0" tIns="0" rIns="0" bIns="0" rtlCol="0" anchor="t"/>
          <a:lstStyle/>
          <a:p>
            <a:pPr indent="0" marL="0">
              <a:buNone/>
            </a:pPr>
            <a:r>
              <a:rPr lang="ko-KR" altLang="en-US" sz="1100" dirty="0">
                <a:solidFill>
                  <a:schemeClr val="accent3"/>
                </a:solidFill>
              </a:rPr>
              <a:t>가동일 평균 시간대별 전력 (0 to 23시)</a:t>
            </a:r>
            <a:endParaRPr lang="ko-KR"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요약</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정확한 예측을 경보와 저감 규칙으로 연결했습니다</a:t>
            </a:r>
            <a:endParaRPr lang="ko-KR" sz="2800" dirty="0"/>
          </a:p>
        </p:txBody>
      </p:sp>
      <p:sp>
        <p:nvSpPr>
          <p:cNvPr id="4" name="card-2"/>
          <p:cNvSpPr/>
          <p:nvPr/>
        </p:nvSpPr>
        <p:spPr>
          <a:xfrm>
            <a:off x="548640" y="1600200"/>
            <a:ext cx="2606040" cy="2148840"/>
          </a:xfrm>
          <a:prstGeom prst="roundRect">
            <a:avLst>
              <a:gd name="adj" fmla="val 3404"/>
            </a:avLst>
          </a:prstGeom>
          <a:solidFill>
            <a:schemeClr val="bg2"/>
          </a:solidFill>
          <a:ln w="12700">
            <a:solidFill>
              <a:schemeClr val="bg2"/>
            </a:solidFill>
            <a:prstDash val="solid"/>
          </a:ln>
        </p:spPr>
      </p:sp>
      <p:sp>
        <p:nvSpPr>
          <p:cNvPr id="5" name="text-3"/>
          <p:cNvSpPr txBox="1"/>
          <p:nvPr/>
        </p:nvSpPr>
        <p:spPr>
          <a:xfrm>
            <a:off x="749808" y="1783080"/>
            <a:ext cx="2240280" cy="320040"/>
          </a:xfrm>
          <a:prstGeom prst="rect">
            <a:avLst/>
          </a:prstGeom>
          <a:noFill/>
          <a:ln/>
        </p:spPr>
        <p:txBody>
          <a:bodyPr wrap="square" lIns="0" tIns="0" rIns="0" bIns="0" rtlCol="0" anchor="t"/>
          <a:lstStyle/>
          <a:p>
            <a:pPr indent="0" marL="0">
              <a:buNone/>
            </a:pPr>
            <a:r>
              <a:rPr lang="ko-KR" altLang="en-US" sz="1400" b="1" dirty="0">
                <a:solidFill>
                  <a:schemeClr val="tx2"/>
                </a:solidFill>
              </a:rPr>
              <a:t>시간별 예측 MAE</a:t>
            </a:r>
            <a:endParaRPr lang="ko-KR" sz="1400" dirty="0"/>
          </a:p>
        </p:txBody>
      </p:sp>
      <p:sp>
        <p:nvSpPr>
          <p:cNvPr id="6" name="text-4"/>
          <p:cNvSpPr txBox="1"/>
          <p:nvPr/>
        </p:nvSpPr>
        <p:spPr>
          <a:xfrm>
            <a:off x="749808" y="2212848"/>
            <a:ext cx="2286000" cy="640080"/>
          </a:xfrm>
          <a:prstGeom prst="rect">
            <a:avLst/>
          </a:prstGeom>
          <a:noFill/>
          <a:ln/>
        </p:spPr>
        <p:txBody>
          <a:bodyPr wrap="square" lIns="0" tIns="0" rIns="0" bIns="0" rtlCol="0" anchor="ctr"/>
          <a:lstStyle/>
          <a:p>
            <a:pPr indent="0" marL="0">
              <a:buNone/>
            </a:pPr>
            <a:r>
              <a:rPr lang="ko-KR" altLang="en-US" sz="3200" b="1" dirty="0">
                <a:solidFill>
                  <a:schemeClr val="accent1"/>
                </a:solidFill>
              </a:rPr>
              <a:t>6.57</a:t>
            </a:r>
            <a:pPr indent="0" marL="0">
              <a:buNone/>
            </a:pPr>
            <a:endParaRPr lang="ko-KR" sz="1400" dirty="0"/>
          </a:p>
        </p:txBody>
      </p:sp>
      <p:sp>
        <p:nvSpPr>
          <p:cNvPr id="7" name="text-5"/>
          <p:cNvSpPr txBox="1"/>
          <p:nvPr/>
        </p:nvSpPr>
        <p:spPr>
          <a:xfrm>
            <a:off x="749808" y="2971800"/>
            <a:ext cx="2240280" cy="640080"/>
          </a:xfrm>
          <a:prstGeom prst="rect">
            <a:avLst/>
          </a:prstGeom>
          <a:noFill/>
          <a:ln/>
        </p:spPr>
        <p:txBody>
          <a:bodyPr wrap="square" lIns="0" tIns="0" rIns="0" bIns="0" rtlCol="0" anchor="t"/>
          <a:lstStyle/>
          <a:p>
            <a:pPr indent="0" marL="0">
              <a:buNone/>
            </a:pPr>
            <a:r>
              <a:rPr lang="ko-KR" altLang="en-US" sz="1200" dirty="0">
                <a:solidFill>
                  <a:schemeClr val="tx1"/>
                </a:solidFill>
              </a:rPr>
              <a:t>7 to 9월 검증 · 목표선 22.92 대비 −71%</a:t>
            </a:r>
            <a:endParaRPr lang="ko-KR" sz="1200" dirty="0"/>
          </a:p>
        </p:txBody>
      </p:sp>
      <p:sp>
        <p:nvSpPr>
          <p:cNvPr id="8" name="card-6"/>
          <p:cNvSpPr/>
          <p:nvPr/>
        </p:nvSpPr>
        <p:spPr>
          <a:xfrm>
            <a:off x="3376879" y="1600200"/>
            <a:ext cx="2606040" cy="2148840"/>
          </a:xfrm>
          <a:prstGeom prst="roundRect">
            <a:avLst>
              <a:gd name="adj" fmla="val 3404"/>
            </a:avLst>
          </a:prstGeom>
          <a:solidFill>
            <a:schemeClr val="bg2"/>
          </a:solidFill>
          <a:ln w="12700">
            <a:solidFill>
              <a:schemeClr val="bg2"/>
            </a:solidFill>
            <a:prstDash val="solid"/>
          </a:ln>
        </p:spPr>
      </p:sp>
      <p:sp>
        <p:nvSpPr>
          <p:cNvPr id="9" name="text-7"/>
          <p:cNvSpPr txBox="1"/>
          <p:nvPr/>
        </p:nvSpPr>
        <p:spPr>
          <a:xfrm>
            <a:off x="3578047" y="1783080"/>
            <a:ext cx="2240280" cy="320040"/>
          </a:xfrm>
          <a:prstGeom prst="rect">
            <a:avLst/>
          </a:prstGeom>
          <a:noFill/>
          <a:ln/>
        </p:spPr>
        <p:txBody>
          <a:bodyPr wrap="square" lIns="0" tIns="0" rIns="0" bIns="0" rtlCol="0" anchor="t"/>
          <a:lstStyle/>
          <a:p>
            <a:pPr indent="0" marL="0">
              <a:buNone/>
            </a:pPr>
            <a:r>
              <a:rPr lang="ko-KR" altLang="en-US" sz="1400" b="1" dirty="0">
                <a:solidFill>
                  <a:schemeClr val="tx2"/>
                </a:solidFill>
              </a:rPr>
              <a:t>피크 구간 MAE</a:t>
            </a:r>
            <a:endParaRPr lang="ko-KR" sz="1400" dirty="0"/>
          </a:p>
        </p:txBody>
      </p:sp>
      <p:sp>
        <p:nvSpPr>
          <p:cNvPr id="10" name="text-8"/>
          <p:cNvSpPr txBox="1"/>
          <p:nvPr/>
        </p:nvSpPr>
        <p:spPr>
          <a:xfrm>
            <a:off x="3578047" y="2212848"/>
            <a:ext cx="2286000" cy="640080"/>
          </a:xfrm>
          <a:prstGeom prst="rect">
            <a:avLst/>
          </a:prstGeom>
          <a:noFill/>
          <a:ln/>
        </p:spPr>
        <p:txBody>
          <a:bodyPr wrap="square" lIns="0" tIns="0" rIns="0" bIns="0" rtlCol="0" anchor="ctr"/>
          <a:lstStyle/>
          <a:p>
            <a:pPr indent="0" marL="0">
              <a:buNone/>
            </a:pPr>
            <a:r>
              <a:rPr lang="ko-KR" altLang="en-US" sz="3200" b="1" dirty="0">
                <a:solidFill>
                  <a:schemeClr val="accent1"/>
                </a:solidFill>
              </a:rPr>
              <a:t>12.49</a:t>
            </a:r>
            <a:pPr indent="0" marL="0">
              <a:buNone/>
            </a:pPr>
            <a:endParaRPr lang="ko-KR" sz="1400" dirty="0"/>
          </a:p>
        </p:txBody>
      </p:sp>
      <p:sp>
        <p:nvSpPr>
          <p:cNvPr id="11" name="text-9"/>
          <p:cNvSpPr txBox="1"/>
          <p:nvPr/>
        </p:nvSpPr>
        <p:spPr>
          <a:xfrm>
            <a:off x="3578047" y="2971800"/>
            <a:ext cx="2240280" cy="640080"/>
          </a:xfrm>
          <a:prstGeom prst="rect">
            <a:avLst/>
          </a:prstGeom>
          <a:noFill/>
          <a:ln/>
        </p:spPr>
        <p:txBody>
          <a:bodyPr wrap="square" lIns="0" tIns="0" rIns="0" bIns="0" rtlCol="0" anchor="t"/>
          <a:lstStyle/>
          <a:p>
            <a:pPr indent="0" marL="0">
              <a:buNone/>
            </a:pPr>
            <a:r>
              <a:rPr lang="ko-KR" altLang="en-US" sz="1200" dirty="0">
                <a:solidFill>
                  <a:schemeClr val="tx1"/>
                </a:solidFill>
              </a:rPr>
              <a:t>목표선 35.71 대비 −65%</a:t>
            </a:r>
            <a:endParaRPr lang="ko-KR" sz="1200" dirty="0"/>
          </a:p>
        </p:txBody>
      </p:sp>
      <p:sp>
        <p:nvSpPr>
          <p:cNvPr id="12" name="card-10"/>
          <p:cNvSpPr/>
          <p:nvPr/>
        </p:nvSpPr>
        <p:spPr>
          <a:xfrm>
            <a:off x="6205118" y="1600200"/>
            <a:ext cx="2606040" cy="2148840"/>
          </a:xfrm>
          <a:prstGeom prst="roundRect">
            <a:avLst>
              <a:gd name="adj" fmla="val 3404"/>
            </a:avLst>
          </a:prstGeom>
          <a:solidFill>
            <a:schemeClr val="bg2"/>
          </a:solidFill>
          <a:ln w="12700">
            <a:solidFill>
              <a:schemeClr val="bg2"/>
            </a:solidFill>
            <a:prstDash val="solid"/>
          </a:ln>
        </p:spPr>
      </p:sp>
      <p:sp>
        <p:nvSpPr>
          <p:cNvPr id="13" name="text-11"/>
          <p:cNvSpPr txBox="1"/>
          <p:nvPr/>
        </p:nvSpPr>
        <p:spPr>
          <a:xfrm>
            <a:off x="6406286" y="1783080"/>
            <a:ext cx="2240280" cy="320040"/>
          </a:xfrm>
          <a:prstGeom prst="rect">
            <a:avLst/>
          </a:prstGeom>
          <a:noFill/>
          <a:ln/>
        </p:spPr>
        <p:txBody>
          <a:bodyPr wrap="square" lIns="0" tIns="0" rIns="0" bIns="0" rtlCol="0" anchor="t"/>
          <a:lstStyle/>
          <a:p>
            <a:pPr indent="0" marL="0">
              <a:buNone/>
            </a:pPr>
            <a:r>
              <a:rPr lang="ko-KR" altLang="en-US" sz="1400" b="1" dirty="0">
                <a:solidFill>
                  <a:schemeClr val="tx2"/>
                </a:solidFill>
              </a:rPr>
              <a:t>위험일 재현율</a:t>
            </a:r>
            <a:endParaRPr lang="ko-KR" sz="1400" dirty="0"/>
          </a:p>
        </p:txBody>
      </p:sp>
      <p:sp>
        <p:nvSpPr>
          <p:cNvPr id="14" name="text-12"/>
          <p:cNvSpPr txBox="1"/>
          <p:nvPr/>
        </p:nvSpPr>
        <p:spPr>
          <a:xfrm>
            <a:off x="6406286" y="2212848"/>
            <a:ext cx="2286000" cy="640080"/>
          </a:xfrm>
          <a:prstGeom prst="rect">
            <a:avLst/>
          </a:prstGeom>
          <a:noFill/>
          <a:ln/>
        </p:spPr>
        <p:txBody>
          <a:bodyPr wrap="square" lIns="0" tIns="0" rIns="0" bIns="0" rtlCol="0" anchor="ctr"/>
          <a:lstStyle/>
          <a:p>
            <a:pPr indent="0" marL="0">
              <a:buNone/>
            </a:pPr>
            <a:r>
              <a:rPr lang="ko-KR" altLang="en-US" sz="3200" b="1" dirty="0">
                <a:solidFill>
                  <a:schemeClr val="accent2"/>
                </a:solidFill>
              </a:rPr>
              <a:t>100</a:t>
            </a:r>
            <a:pPr indent="0" marL="0">
              <a:buNone/>
            </a:pPr>
            <a:r>
              <a:rPr lang="ko-KR" altLang="en-US" sz="1600" b="1" dirty="0">
                <a:solidFill>
                  <a:schemeClr val="accent2"/>
                </a:solidFill>
              </a:rPr>
              <a:t> %</a:t>
            </a:r>
            <a:endParaRPr lang="ko-KR" sz="1400" dirty="0"/>
          </a:p>
        </p:txBody>
      </p:sp>
      <p:sp>
        <p:nvSpPr>
          <p:cNvPr id="15" name="text-13"/>
          <p:cNvSpPr txBox="1"/>
          <p:nvPr/>
        </p:nvSpPr>
        <p:spPr>
          <a:xfrm>
            <a:off x="6406286" y="2971800"/>
            <a:ext cx="2240280" cy="640080"/>
          </a:xfrm>
          <a:prstGeom prst="rect">
            <a:avLst/>
          </a:prstGeom>
          <a:noFill/>
          <a:ln/>
        </p:spPr>
        <p:txBody>
          <a:bodyPr wrap="square" lIns="0" tIns="0" rIns="0" bIns="0" rtlCol="0" anchor="t"/>
          <a:lstStyle/>
          <a:p>
            <a:pPr indent="0" marL="0">
              <a:buNone/>
            </a:pPr>
            <a:r>
              <a:rPr lang="ko-KR" altLang="en-US" sz="1200" dirty="0">
                <a:solidFill>
                  <a:schemeClr val="tx1"/>
                </a:solidFill>
              </a:rPr>
              <a:t>평가 69일 · 정밀도 95.5%</a:t>
            </a:r>
            <a:endParaRPr lang="ko-KR" sz="1200" dirty="0"/>
          </a:p>
        </p:txBody>
      </p:sp>
      <p:sp>
        <p:nvSpPr>
          <p:cNvPr id="16" name="card-14"/>
          <p:cNvSpPr/>
          <p:nvPr/>
        </p:nvSpPr>
        <p:spPr>
          <a:xfrm>
            <a:off x="9033358" y="1600200"/>
            <a:ext cx="2606040" cy="2148840"/>
          </a:xfrm>
          <a:prstGeom prst="roundRect">
            <a:avLst>
              <a:gd name="adj" fmla="val 3404"/>
            </a:avLst>
          </a:prstGeom>
          <a:solidFill>
            <a:schemeClr val="bg2"/>
          </a:solidFill>
          <a:ln w="12700">
            <a:solidFill>
              <a:schemeClr val="bg2"/>
            </a:solidFill>
            <a:prstDash val="solid"/>
          </a:ln>
        </p:spPr>
      </p:sp>
      <p:sp>
        <p:nvSpPr>
          <p:cNvPr id="17" name="text-15"/>
          <p:cNvSpPr txBox="1"/>
          <p:nvPr/>
        </p:nvSpPr>
        <p:spPr>
          <a:xfrm>
            <a:off x="9234526" y="1783080"/>
            <a:ext cx="2240280" cy="320040"/>
          </a:xfrm>
          <a:prstGeom prst="rect">
            <a:avLst/>
          </a:prstGeom>
          <a:noFill/>
          <a:ln/>
        </p:spPr>
        <p:txBody>
          <a:bodyPr wrap="square" lIns="0" tIns="0" rIns="0" bIns="0" rtlCol="0" anchor="t"/>
          <a:lstStyle/>
          <a:p>
            <a:pPr indent="0" marL="0">
              <a:buNone/>
            </a:pPr>
            <a:r>
              <a:rPr lang="ko-KR" altLang="en-US" sz="1400" b="1" dirty="0">
                <a:solidFill>
                  <a:schemeClr val="tx2"/>
                </a:solidFill>
              </a:rPr>
              <a:t>연 기본요금 절감 (만 원)</a:t>
            </a:r>
            <a:endParaRPr lang="ko-KR" sz="1400" dirty="0"/>
          </a:p>
        </p:txBody>
      </p:sp>
      <p:sp>
        <p:nvSpPr>
          <p:cNvPr id="18" name="text-16"/>
          <p:cNvSpPr txBox="1"/>
          <p:nvPr/>
        </p:nvSpPr>
        <p:spPr>
          <a:xfrm>
            <a:off x="9234526" y="2212848"/>
            <a:ext cx="2286000" cy="640080"/>
          </a:xfrm>
          <a:prstGeom prst="rect">
            <a:avLst/>
          </a:prstGeom>
          <a:noFill/>
          <a:ln/>
        </p:spPr>
        <p:txBody>
          <a:bodyPr wrap="square" lIns="0" tIns="0" rIns="0" bIns="0" rtlCol="0" anchor="ctr"/>
          <a:lstStyle/>
          <a:p>
            <a:pPr indent="0" marL="0">
              <a:buNone/>
            </a:pPr>
            <a:r>
              <a:rPr lang="ko-KR" altLang="en-US" sz="3200" b="1" dirty="0">
                <a:solidFill>
                  <a:schemeClr val="accent2"/>
                </a:solidFill>
              </a:rPr>
              <a:t>43 to 306</a:t>
            </a:r>
            <a:pPr indent="0" marL="0">
              <a:buNone/>
            </a:pPr>
            <a:endParaRPr lang="ko-KR" sz="1400" dirty="0"/>
          </a:p>
        </p:txBody>
      </p:sp>
      <p:sp>
        <p:nvSpPr>
          <p:cNvPr id="19" name="text-17"/>
          <p:cNvSpPr txBox="1"/>
          <p:nvPr/>
        </p:nvSpPr>
        <p:spPr>
          <a:xfrm>
            <a:off x="9234526" y="2971800"/>
            <a:ext cx="2240280" cy="640080"/>
          </a:xfrm>
          <a:prstGeom prst="rect">
            <a:avLst/>
          </a:prstGeom>
          <a:noFill/>
          <a:ln/>
        </p:spPr>
        <p:txBody>
          <a:bodyPr wrap="square" lIns="0" tIns="0" rIns="0" bIns="0" rtlCol="0" anchor="t"/>
          <a:lstStyle/>
          <a:p>
            <a:pPr indent="0" marL="0">
              <a:buNone/>
            </a:pPr>
            <a:r>
              <a:rPr lang="ko-KR" altLang="en-US" sz="1200" dirty="0">
                <a:solidFill>
                  <a:schemeClr val="tx1"/>
                </a:solidFill>
              </a:rPr>
              <a:t>축 B 50% 억제 · 단위·계약 종별에 따라</a:t>
            </a:r>
            <a:endParaRPr lang="ko-KR" sz="1200" dirty="0"/>
          </a:p>
        </p:txBody>
      </p:sp>
      <p:sp>
        <p:nvSpPr>
          <p:cNvPr id="20" name="text-18"/>
          <p:cNvSpPr txBox="1"/>
          <p:nvPr/>
        </p:nvSpPr>
        <p:spPr>
          <a:xfrm>
            <a:off x="548640" y="4023360"/>
            <a:ext cx="3657600" cy="320040"/>
          </a:xfrm>
          <a:prstGeom prst="rect">
            <a:avLst/>
          </a:prstGeom>
          <a:noFill/>
          <a:ln/>
        </p:spPr>
        <p:txBody>
          <a:bodyPr wrap="square" lIns="0" tIns="0" rIns="0" bIns="0" rtlCol="0" anchor="t"/>
          <a:lstStyle/>
          <a:p>
            <a:pPr indent="0" marL="0">
              <a:buNone/>
            </a:pPr>
            <a:r>
              <a:rPr lang="ko-KR" altLang="en-US" sz="1600" b="1" dirty="0">
                <a:solidFill>
                  <a:schemeClr val="tx2"/>
                </a:solidFill>
              </a:rPr>
              <a:t>분석 흐름</a:t>
            </a:r>
            <a:endParaRPr lang="ko-KR" sz="1600" dirty="0"/>
          </a:p>
        </p:txBody>
      </p:sp>
      <p:sp>
        <p:nvSpPr>
          <p:cNvPr id="21" name="card-19"/>
          <p:cNvSpPr/>
          <p:nvPr/>
        </p:nvSpPr>
        <p:spPr>
          <a:xfrm>
            <a:off x="548640" y="4434840"/>
            <a:ext cx="2103120" cy="1691640"/>
          </a:xfrm>
          <a:prstGeom prst="roundRect">
            <a:avLst>
              <a:gd name="adj" fmla="val 4324"/>
            </a:avLst>
          </a:prstGeom>
          <a:solidFill>
            <a:schemeClr val="bg1"/>
          </a:solidFill>
          <a:ln w="9525">
            <a:solidFill>
              <a:schemeClr val="accent3"/>
            </a:solidFill>
            <a:prstDash val="solid"/>
          </a:ln>
        </p:spPr>
      </p:sp>
      <p:sp>
        <p:nvSpPr>
          <p:cNvPr id="22" name="num-bg-20"/>
          <p:cNvSpPr/>
          <p:nvPr/>
        </p:nvSpPr>
        <p:spPr>
          <a:xfrm>
            <a:off x="713232" y="4599432"/>
            <a:ext cx="420624" cy="420624"/>
          </a:xfrm>
          <a:prstGeom prst="ellipse">
            <a:avLst/>
          </a:prstGeom>
          <a:solidFill>
            <a:schemeClr val="accent1"/>
          </a:solidFill>
          <a:ln w="12700">
            <a:solidFill>
              <a:schemeClr val="accent1"/>
            </a:solidFill>
            <a:prstDash val="solid"/>
          </a:ln>
        </p:spPr>
      </p:sp>
      <p:sp>
        <p:nvSpPr>
          <p:cNvPr id="23" name="text-21"/>
          <p:cNvSpPr txBox="1"/>
          <p:nvPr/>
        </p:nvSpPr>
        <p:spPr>
          <a:xfrm>
            <a:off x="713232" y="4599432"/>
            <a:ext cx="420624" cy="420624"/>
          </a:xfrm>
          <a:prstGeom prst="rect">
            <a:avLst/>
          </a:prstGeom>
          <a:noFill/>
          <a:ln/>
        </p:spPr>
        <p:txBody>
          <a:bodyPr wrap="square" lIns="0" tIns="0" rIns="0" bIns="0" rtlCol="0" anchor="ctr"/>
          <a:lstStyle/>
          <a:p>
            <a:pPr algn="ctr" indent="0" marL="0">
              <a:buNone/>
            </a:pPr>
            <a:r>
              <a:rPr lang="ko-KR" altLang="en-US" sz="1400" b="1" dirty="0">
                <a:solidFill>
                  <a:schemeClr val="bg1"/>
                </a:solidFill>
              </a:rPr>
              <a:t>1</a:t>
            </a:r>
            <a:endParaRPr lang="ko-KR" sz="1400" dirty="0"/>
          </a:p>
        </p:txBody>
      </p:sp>
      <p:sp>
        <p:nvSpPr>
          <p:cNvPr id="24" name="text-22"/>
          <p:cNvSpPr txBox="1"/>
          <p:nvPr/>
        </p:nvSpPr>
        <p:spPr>
          <a:xfrm>
            <a:off x="1243584" y="4645152"/>
            <a:ext cx="1280160" cy="329184"/>
          </a:xfrm>
          <a:prstGeom prst="rect">
            <a:avLst/>
          </a:prstGeom>
          <a:noFill/>
          <a:ln/>
        </p:spPr>
        <p:txBody>
          <a:bodyPr wrap="square" lIns="0" tIns="0" rIns="0" bIns="0" rtlCol="0" anchor="t"/>
          <a:lstStyle/>
          <a:p>
            <a:pPr indent="0" marL="0">
              <a:buNone/>
            </a:pPr>
            <a:r>
              <a:rPr lang="ko-KR" altLang="en-US" sz="1500" b="1" dirty="0">
                <a:solidFill>
                  <a:schemeClr val="tx2"/>
                </a:solidFill>
              </a:rPr>
              <a:t>데이터 진단</a:t>
            </a:r>
            <a:endParaRPr lang="ko-KR" sz="1500" dirty="0"/>
          </a:p>
        </p:txBody>
      </p:sp>
      <p:sp>
        <p:nvSpPr>
          <p:cNvPr id="25" name="text-23"/>
          <p:cNvSpPr txBox="1"/>
          <p:nvPr/>
        </p:nvSpPr>
        <p:spPr>
          <a:xfrm>
            <a:off x="713232" y="5166360"/>
            <a:ext cx="1792224" cy="822960"/>
          </a:xfrm>
          <a:prstGeom prst="rect">
            <a:avLst/>
          </a:prstGeom>
          <a:noFill/>
          <a:ln/>
        </p:spPr>
        <p:txBody>
          <a:bodyPr wrap="square" lIns="0" tIns="0" rIns="0" bIns="0" rtlCol="0" anchor="t"/>
          <a:lstStyle/>
          <a:p>
            <a:pPr indent="0" marL="0">
              <a:buNone/>
            </a:pPr>
            <a:r>
              <a:rPr lang="ko-KR" altLang="en-US" sz="1400" dirty="0">
                <a:solidFill>
                  <a:schemeClr val="tx1"/>
                </a:solidFill>
              </a:rPr>
              <a:t>복제 161일·누락 15일을 평가에서 분리</a:t>
            </a:r>
            <a:endParaRPr lang="ko-KR" sz="1400" dirty="0"/>
          </a:p>
        </p:txBody>
      </p:sp>
      <p:sp>
        <p:nvSpPr>
          <p:cNvPr id="26" name="card-24"/>
          <p:cNvSpPr/>
          <p:nvPr/>
        </p:nvSpPr>
        <p:spPr>
          <a:xfrm>
            <a:off x="2795778" y="4434840"/>
            <a:ext cx="2103120" cy="1691640"/>
          </a:xfrm>
          <a:prstGeom prst="roundRect">
            <a:avLst>
              <a:gd name="adj" fmla="val 4324"/>
            </a:avLst>
          </a:prstGeom>
          <a:solidFill>
            <a:schemeClr val="bg1"/>
          </a:solidFill>
          <a:ln w="9525">
            <a:solidFill>
              <a:schemeClr val="accent3"/>
            </a:solidFill>
            <a:prstDash val="solid"/>
          </a:ln>
        </p:spPr>
      </p:sp>
      <p:sp>
        <p:nvSpPr>
          <p:cNvPr id="27" name="num-bg-25"/>
          <p:cNvSpPr/>
          <p:nvPr/>
        </p:nvSpPr>
        <p:spPr>
          <a:xfrm>
            <a:off x="2960370" y="4599432"/>
            <a:ext cx="420624" cy="420624"/>
          </a:xfrm>
          <a:prstGeom prst="ellipse">
            <a:avLst/>
          </a:prstGeom>
          <a:solidFill>
            <a:schemeClr val="accent1"/>
          </a:solidFill>
          <a:ln w="12700">
            <a:solidFill>
              <a:schemeClr val="accent1"/>
            </a:solidFill>
            <a:prstDash val="solid"/>
          </a:ln>
        </p:spPr>
      </p:sp>
      <p:sp>
        <p:nvSpPr>
          <p:cNvPr id="28" name="text-26"/>
          <p:cNvSpPr txBox="1"/>
          <p:nvPr/>
        </p:nvSpPr>
        <p:spPr>
          <a:xfrm>
            <a:off x="2960370" y="4599432"/>
            <a:ext cx="420624" cy="420624"/>
          </a:xfrm>
          <a:prstGeom prst="rect">
            <a:avLst/>
          </a:prstGeom>
          <a:noFill/>
          <a:ln/>
        </p:spPr>
        <p:txBody>
          <a:bodyPr wrap="square" lIns="0" tIns="0" rIns="0" bIns="0" rtlCol="0" anchor="ctr"/>
          <a:lstStyle/>
          <a:p>
            <a:pPr algn="ctr" indent="0" marL="0">
              <a:buNone/>
            </a:pPr>
            <a:r>
              <a:rPr lang="ko-KR" altLang="en-US" sz="1400" b="1" dirty="0">
                <a:solidFill>
                  <a:schemeClr val="bg1"/>
                </a:solidFill>
              </a:rPr>
              <a:t>2</a:t>
            </a:r>
            <a:endParaRPr lang="ko-KR" sz="1400" dirty="0"/>
          </a:p>
        </p:txBody>
      </p:sp>
      <p:sp>
        <p:nvSpPr>
          <p:cNvPr id="29" name="text-27"/>
          <p:cNvSpPr txBox="1"/>
          <p:nvPr/>
        </p:nvSpPr>
        <p:spPr>
          <a:xfrm>
            <a:off x="3490722" y="4645152"/>
            <a:ext cx="1280160" cy="329184"/>
          </a:xfrm>
          <a:prstGeom prst="rect">
            <a:avLst/>
          </a:prstGeom>
          <a:noFill/>
          <a:ln/>
        </p:spPr>
        <p:txBody>
          <a:bodyPr wrap="square" lIns="0" tIns="0" rIns="0" bIns="0" rtlCol="0" anchor="t"/>
          <a:lstStyle/>
          <a:p>
            <a:pPr indent="0" marL="0">
              <a:buNone/>
            </a:pPr>
            <a:r>
              <a:rPr lang="ko-KR" altLang="en-US" sz="1500" b="1" dirty="0">
                <a:solidFill>
                  <a:schemeClr val="tx2"/>
                </a:solidFill>
              </a:rPr>
              <a:t>예측 모델</a:t>
            </a:r>
            <a:endParaRPr lang="ko-KR" sz="1500" dirty="0"/>
          </a:p>
        </p:txBody>
      </p:sp>
      <p:sp>
        <p:nvSpPr>
          <p:cNvPr id="30" name="text-28"/>
          <p:cNvSpPr txBox="1"/>
          <p:nvPr/>
        </p:nvSpPr>
        <p:spPr>
          <a:xfrm>
            <a:off x="2960370" y="5166360"/>
            <a:ext cx="1792224" cy="822960"/>
          </a:xfrm>
          <a:prstGeom prst="rect">
            <a:avLst/>
          </a:prstGeom>
          <a:noFill/>
          <a:ln/>
        </p:spPr>
        <p:txBody>
          <a:bodyPr wrap="square" lIns="0" tIns="0" rIns="0" bIns="0" rtlCol="0" anchor="t"/>
          <a:lstStyle/>
          <a:p>
            <a:pPr indent="0" marL="0">
              <a:buNone/>
            </a:pPr>
            <a:r>
              <a:rPr lang="ko-KR" altLang="en-US" sz="1400" dirty="0">
                <a:solidFill>
                  <a:schemeClr val="tx1"/>
                </a:solidFill>
              </a:rPr>
              <a:t>LightGBM 하나로 목표선 대비 −71%</a:t>
            </a:r>
            <a:endParaRPr lang="ko-KR" sz="1400" dirty="0"/>
          </a:p>
        </p:txBody>
      </p:sp>
      <p:sp>
        <p:nvSpPr>
          <p:cNvPr id="31" name="card-29"/>
          <p:cNvSpPr/>
          <p:nvPr/>
        </p:nvSpPr>
        <p:spPr>
          <a:xfrm>
            <a:off x="5042916" y="4434840"/>
            <a:ext cx="2103120" cy="1691640"/>
          </a:xfrm>
          <a:prstGeom prst="roundRect">
            <a:avLst>
              <a:gd name="adj" fmla="val 4324"/>
            </a:avLst>
          </a:prstGeom>
          <a:solidFill>
            <a:schemeClr val="bg1"/>
          </a:solidFill>
          <a:ln w="9525">
            <a:solidFill>
              <a:schemeClr val="accent3"/>
            </a:solidFill>
            <a:prstDash val="solid"/>
          </a:ln>
        </p:spPr>
      </p:sp>
      <p:sp>
        <p:nvSpPr>
          <p:cNvPr id="32" name="num-bg-30"/>
          <p:cNvSpPr/>
          <p:nvPr/>
        </p:nvSpPr>
        <p:spPr>
          <a:xfrm>
            <a:off x="5207508" y="4599432"/>
            <a:ext cx="420624" cy="420624"/>
          </a:xfrm>
          <a:prstGeom prst="ellipse">
            <a:avLst/>
          </a:prstGeom>
          <a:solidFill>
            <a:schemeClr val="accent1"/>
          </a:solidFill>
          <a:ln w="12700">
            <a:solidFill>
              <a:schemeClr val="accent1"/>
            </a:solidFill>
            <a:prstDash val="solid"/>
          </a:ln>
        </p:spPr>
      </p:sp>
      <p:sp>
        <p:nvSpPr>
          <p:cNvPr id="33" name="text-31"/>
          <p:cNvSpPr txBox="1"/>
          <p:nvPr/>
        </p:nvSpPr>
        <p:spPr>
          <a:xfrm>
            <a:off x="5207508" y="4599432"/>
            <a:ext cx="420624" cy="420624"/>
          </a:xfrm>
          <a:prstGeom prst="rect">
            <a:avLst/>
          </a:prstGeom>
          <a:noFill/>
          <a:ln/>
        </p:spPr>
        <p:txBody>
          <a:bodyPr wrap="square" lIns="0" tIns="0" rIns="0" bIns="0" rtlCol="0" anchor="ctr"/>
          <a:lstStyle/>
          <a:p>
            <a:pPr algn="ctr" indent="0" marL="0">
              <a:buNone/>
            </a:pPr>
            <a:r>
              <a:rPr lang="ko-KR" altLang="en-US" sz="1400" b="1" dirty="0">
                <a:solidFill>
                  <a:schemeClr val="bg1"/>
                </a:solidFill>
              </a:rPr>
              <a:t>3</a:t>
            </a:r>
            <a:endParaRPr lang="ko-KR" sz="1400" dirty="0"/>
          </a:p>
        </p:txBody>
      </p:sp>
      <p:sp>
        <p:nvSpPr>
          <p:cNvPr id="34" name="text-32"/>
          <p:cNvSpPr txBox="1"/>
          <p:nvPr/>
        </p:nvSpPr>
        <p:spPr>
          <a:xfrm>
            <a:off x="5737860" y="4645152"/>
            <a:ext cx="1280160" cy="329184"/>
          </a:xfrm>
          <a:prstGeom prst="rect">
            <a:avLst/>
          </a:prstGeom>
          <a:noFill/>
          <a:ln/>
        </p:spPr>
        <p:txBody>
          <a:bodyPr wrap="square" lIns="0" tIns="0" rIns="0" bIns="0" rtlCol="0" anchor="t"/>
          <a:lstStyle/>
          <a:p>
            <a:pPr indent="0" marL="0">
              <a:buNone/>
            </a:pPr>
            <a:r>
              <a:rPr lang="ko-KR" altLang="en-US" sz="1500" b="1" dirty="0">
                <a:solidFill>
                  <a:schemeClr val="tx2"/>
                </a:solidFill>
              </a:rPr>
              <a:t>피크 경보</a:t>
            </a:r>
            <a:endParaRPr lang="ko-KR" sz="1500" dirty="0"/>
          </a:p>
        </p:txBody>
      </p:sp>
      <p:sp>
        <p:nvSpPr>
          <p:cNvPr id="35" name="text-33"/>
          <p:cNvSpPr txBox="1"/>
          <p:nvPr/>
        </p:nvSpPr>
        <p:spPr>
          <a:xfrm>
            <a:off x="5207508" y="5166360"/>
            <a:ext cx="1792224" cy="822960"/>
          </a:xfrm>
          <a:prstGeom prst="rect">
            <a:avLst/>
          </a:prstGeom>
          <a:noFill/>
          <a:ln/>
        </p:spPr>
        <p:txBody>
          <a:bodyPr wrap="square" lIns="0" tIns="0" rIns="0" bIns="0" rtlCol="0" anchor="t"/>
          <a:lstStyle/>
          <a:p>
            <a:pPr indent="0" marL="0">
              <a:buNone/>
            </a:pPr>
            <a:r>
              <a:rPr lang="ko-KR" altLang="en-US" sz="1400" dirty="0">
                <a:solidFill>
                  <a:schemeClr val="tx1"/>
                </a:solidFill>
              </a:rPr>
              <a:t>15분 최대 P90, 미탐지 0건</a:t>
            </a:r>
            <a:endParaRPr lang="ko-KR" sz="1400" dirty="0"/>
          </a:p>
        </p:txBody>
      </p:sp>
      <p:sp>
        <p:nvSpPr>
          <p:cNvPr id="36" name="card-34"/>
          <p:cNvSpPr/>
          <p:nvPr/>
        </p:nvSpPr>
        <p:spPr>
          <a:xfrm>
            <a:off x="7290054" y="4434840"/>
            <a:ext cx="2103120" cy="1691640"/>
          </a:xfrm>
          <a:prstGeom prst="roundRect">
            <a:avLst>
              <a:gd name="adj" fmla="val 4324"/>
            </a:avLst>
          </a:prstGeom>
          <a:solidFill>
            <a:schemeClr val="bg1"/>
          </a:solidFill>
          <a:ln w="9525">
            <a:solidFill>
              <a:schemeClr val="accent3"/>
            </a:solidFill>
            <a:prstDash val="solid"/>
          </a:ln>
        </p:spPr>
      </p:sp>
      <p:sp>
        <p:nvSpPr>
          <p:cNvPr id="37" name="num-bg-35"/>
          <p:cNvSpPr/>
          <p:nvPr/>
        </p:nvSpPr>
        <p:spPr>
          <a:xfrm>
            <a:off x="7454646" y="4599432"/>
            <a:ext cx="420624" cy="420624"/>
          </a:xfrm>
          <a:prstGeom prst="ellipse">
            <a:avLst/>
          </a:prstGeom>
          <a:solidFill>
            <a:schemeClr val="accent1"/>
          </a:solidFill>
          <a:ln w="12700">
            <a:solidFill>
              <a:schemeClr val="accent1"/>
            </a:solidFill>
            <a:prstDash val="solid"/>
          </a:ln>
        </p:spPr>
      </p:sp>
      <p:sp>
        <p:nvSpPr>
          <p:cNvPr id="38" name="text-36"/>
          <p:cNvSpPr txBox="1"/>
          <p:nvPr/>
        </p:nvSpPr>
        <p:spPr>
          <a:xfrm>
            <a:off x="7454646" y="4599432"/>
            <a:ext cx="420624" cy="420624"/>
          </a:xfrm>
          <a:prstGeom prst="rect">
            <a:avLst/>
          </a:prstGeom>
          <a:noFill/>
          <a:ln/>
        </p:spPr>
        <p:txBody>
          <a:bodyPr wrap="square" lIns="0" tIns="0" rIns="0" bIns="0" rtlCol="0" anchor="ctr"/>
          <a:lstStyle/>
          <a:p>
            <a:pPr algn="ctr" indent="0" marL="0">
              <a:buNone/>
            </a:pPr>
            <a:r>
              <a:rPr lang="ko-KR" altLang="en-US" sz="1400" b="1" dirty="0">
                <a:solidFill>
                  <a:schemeClr val="bg1"/>
                </a:solidFill>
              </a:rPr>
              <a:t>4</a:t>
            </a:r>
            <a:endParaRPr lang="ko-KR" sz="1400" dirty="0"/>
          </a:p>
        </p:txBody>
      </p:sp>
      <p:sp>
        <p:nvSpPr>
          <p:cNvPr id="39" name="text-37"/>
          <p:cNvSpPr txBox="1"/>
          <p:nvPr/>
        </p:nvSpPr>
        <p:spPr>
          <a:xfrm>
            <a:off x="7984998" y="4645152"/>
            <a:ext cx="1280160" cy="329184"/>
          </a:xfrm>
          <a:prstGeom prst="rect">
            <a:avLst/>
          </a:prstGeom>
          <a:noFill/>
          <a:ln/>
        </p:spPr>
        <p:txBody>
          <a:bodyPr wrap="square" lIns="0" tIns="0" rIns="0" bIns="0" rtlCol="0" anchor="t"/>
          <a:lstStyle/>
          <a:p>
            <a:pPr indent="0" marL="0">
              <a:buNone/>
            </a:pPr>
            <a:r>
              <a:rPr lang="ko-KR" altLang="en-US" sz="1500" b="1" dirty="0">
                <a:solidFill>
                  <a:schemeClr val="tx2"/>
                </a:solidFill>
              </a:rPr>
              <a:t>저감 방안</a:t>
            </a:r>
            <a:endParaRPr lang="ko-KR" sz="1500" dirty="0"/>
          </a:p>
        </p:txBody>
      </p:sp>
      <p:sp>
        <p:nvSpPr>
          <p:cNvPr id="40" name="text-38"/>
          <p:cNvSpPr txBox="1"/>
          <p:nvPr/>
        </p:nvSpPr>
        <p:spPr>
          <a:xfrm>
            <a:off x="7454646" y="5166360"/>
            <a:ext cx="1792224" cy="822960"/>
          </a:xfrm>
          <a:prstGeom prst="rect">
            <a:avLst/>
          </a:prstGeom>
          <a:noFill/>
          <a:ln/>
        </p:spPr>
        <p:txBody>
          <a:bodyPr wrap="square" lIns="0" tIns="0" rIns="0" bIns="0" rtlCol="0" anchor="t"/>
          <a:lstStyle/>
          <a:p>
            <a:pPr indent="0" marL="0">
              <a:buNone/>
            </a:pPr>
            <a:r>
              <a:rPr lang="ko-KR" altLang="en-US" sz="1400" dirty="0">
                <a:solidFill>
                  <a:schemeClr val="tx1"/>
                </a:solidFill>
              </a:rPr>
              <a:t>4축 분리 검증, A·B 채택</a:t>
            </a:r>
            <a:endParaRPr lang="ko-KR" sz="1400" dirty="0"/>
          </a:p>
        </p:txBody>
      </p:sp>
      <p:sp>
        <p:nvSpPr>
          <p:cNvPr id="41" name="card-39"/>
          <p:cNvSpPr/>
          <p:nvPr/>
        </p:nvSpPr>
        <p:spPr>
          <a:xfrm>
            <a:off x="9537192" y="4434840"/>
            <a:ext cx="2103120" cy="1691640"/>
          </a:xfrm>
          <a:prstGeom prst="roundRect">
            <a:avLst>
              <a:gd name="adj" fmla="val 4324"/>
            </a:avLst>
          </a:prstGeom>
          <a:solidFill>
            <a:schemeClr val="bg1"/>
          </a:solidFill>
          <a:ln w="9525">
            <a:solidFill>
              <a:schemeClr val="accent3"/>
            </a:solidFill>
            <a:prstDash val="solid"/>
          </a:ln>
        </p:spPr>
      </p:sp>
      <p:sp>
        <p:nvSpPr>
          <p:cNvPr id="42" name="num-bg-40"/>
          <p:cNvSpPr/>
          <p:nvPr/>
        </p:nvSpPr>
        <p:spPr>
          <a:xfrm>
            <a:off x="9701784" y="4599432"/>
            <a:ext cx="420624" cy="420624"/>
          </a:xfrm>
          <a:prstGeom prst="ellipse">
            <a:avLst/>
          </a:prstGeom>
          <a:solidFill>
            <a:schemeClr val="accent1"/>
          </a:solidFill>
          <a:ln w="12700">
            <a:solidFill>
              <a:schemeClr val="accent1"/>
            </a:solidFill>
            <a:prstDash val="solid"/>
          </a:ln>
        </p:spPr>
      </p:sp>
      <p:sp>
        <p:nvSpPr>
          <p:cNvPr id="43" name="text-41"/>
          <p:cNvSpPr txBox="1"/>
          <p:nvPr/>
        </p:nvSpPr>
        <p:spPr>
          <a:xfrm>
            <a:off x="9701784" y="4599432"/>
            <a:ext cx="420624" cy="420624"/>
          </a:xfrm>
          <a:prstGeom prst="rect">
            <a:avLst/>
          </a:prstGeom>
          <a:noFill/>
          <a:ln/>
        </p:spPr>
        <p:txBody>
          <a:bodyPr wrap="square" lIns="0" tIns="0" rIns="0" bIns="0" rtlCol="0" anchor="ctr"/>
          <a:lstStyle/>
          <a:p>
            <a:pPr algn="ctr" indent="0" marL="0">
              <a:buNone/>
            </a:pPr>
            <a:r>
              <a:rPr lang="ko-KR" altLang="en-US" sz="1400" b="1" dirty="0">
                <a:solidFill>
                  <a:schemeClr val="bg1"/>
                </a:solidFill>
              </a:rPr>
              <a:t>5</a:t>
            </a:r>
            <a:endParaRPr lang="ko-KR" sz="1400" dirty="0"/>
          </a:p>
        </p:txBody>
      </p:sp>
      <p:sp>
        <p:nvSpPr>
          <p:cNvPr id="44" name="text-42"/>
          <p:cNvSpPr txBox="1"/>
          <p:nvPr/>
        </p:nvSpPr>
        <p:spPr>
          <a:xfrm>
            <a:off x="10232136" y="4645152"/>
            <a:ext cx="1280160" cy="329184"/>
          </a:xfrm>
          <a:prstGeom prst="rect">
            <a:avLst/>
          </a:prstGeom>
          <a:noFill/>
          <a:ln/>
        </p:spPr>
        <p:txBody>
          <a:bodyPr wrap="square" lIns="0" tIns="0" rIns="0" bIns="0" rtlCol="0" anchor="t"/>
          <a:lstStyle/>
          <a:p>
            <a:pPr indent="0" marL="0">
              <a:buNone/>
            </a:pPr>
            <a:r>
              <a:rPr lang="ko-KR" altLang="en-US" sz="1500" b="1" dirty="0">
                <a:solidFill>
                  <a:schemeClr val="tx2"/>
                </a:solidFill>
              </a:rPr>
              <a:t>운영 화면</a:t>
            </a:r>
            <a:endParaRPr lang="ko-KR" sz="1500" dirty="0"/>
          </a:p>
        </p:txBody>
      </p:sp>
      <p:sp>
        <p:nvSpPr>
          <p:cNvPr id="45" name="text-43"/>
          <p:cNvSpPr txBox="1"/>
          <p:nvPr/>
        </p:nvSpPr>
        <p:spPr>
          <a:xfrm>
            <a:off x="9701784" y="5166360"/>
            <a:ext cx="1792224" cy="822960"/>
          </a:xfrm>
          <a:prstGeom prst="rect">
            <a:avLst/>
          </a:prstGeom>
          <a:noFill/>
          <a:ln/>
        </p:spPr>
        <p:txBody>
          <a:bodyPr wrap="square" lIns="0" tIns="0" rIns="0" bIns="0" rtlCol="0" anchor="t"/>
          <a:lstStyle/>
          <a:p>
            <a:pPr indent="0" marL="0">
              <a:buNone/>
            </a:pPr>
            <a:r>
              <a:rPr lang="ko-KR" altLang="en-US" sz="1400" dirty="0">
                <a:solidFill>
                  <a:schemeClr val="tx1"/>
                </a:solidFill>
              </a:rPr>
              <a:t>경보와 일정 권고를 한 화면에</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과제 정의</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기본요금은 연중 최대 15분 피크 한 점이 정합니다</a:t>
            </a:r>
            <a:endParaRPr lang="ko-KR" sz="2800" dirty="0"/>
          </a:p>
        </p:txBody>
      </p:sp>
      <p:sp>
        <p:nvSpPr>
          <p:cNvPr id="4" name="icon-bg-44"/>
          <p:cNvSpPr/>
          <p:nvPr/>
        </p:nvSpPr>
        <p:spPr>
          <a:xfrm>
            <a:off x="548640" y="1737360"/>
            <a:ext cx="566928" cy="566928"/>
          </a:xfrm>
          <a:prstGeom prst="ellipse">
            <a:avLst/>
          </a:prstGeom>
          <a:solidFill>
            <a:schemeClr val="accent1"/>
          </a:solidFill>
          <a:ln w="12700">
            <a:solidFill>
              <a:schemeClr val="accent1"/>
            </a:solidFill>
            <a:prstDash val="solid"/>
          </a:ln>
        </p:spPr>
      </p:sp>
      <p:pic>
        <p:nvPicPr>
          <p:cNvPr id="5" name="icon-45" descr="preencoded.png">    </p:cNvPr>
          <p:cNvPicPr>
            <a:picLocks noChangeAspect="1"/>
          </p:cNvPicPr>
          <p:nvPr/>
        </p:nvPicPr>
        <p:blipFill>
          <a:blip r:embed="rId1"/>
          <a:stretch>
            <a:fillRect/>
          </a:stretch>
        </p:blipFill>
        <p:spPr>
          <a:xfrm>
            <a:off x="696041" y="1884761"/>
            <a:ext cx="272125" cy="272125"/>
          </a:xfrm>
          <a:prstGeom prst="rect">
            <a:avLst/>
          </a:prstGeom>
        </p:spPr>
      </p:pic>
      <p:sp>
        <p:nvSpPr>
          <p:cNvPr id="6" name="text-46"/>
          <p:cNvSpPr txBox="1"/>
          <p:nvPr/>
        </p:nvSpPr>
        <p:spPr>
          <a:xfrm>
            <a:off x="1316736" y="1719072"/>
            <a:ext cx="5724144" cy="329184"/>
          </a:xfrm>
          <a:prstGeom prst="rect">
            <a:avLst/>
          </a:prstGeom>
          <a:noFill/>
          <a:ln/>
        </p:spPr>
        <p:txBody>
          <a:bodyPr wrap="square" lIns="0" tIns="0" rIns="0" bIns="0" rtlCol="0" anchor="t"/>
          <a:lstStyle/>
          <a:p>
            <a:pPr indent="0" marL="0">
              <a:buNone/>
            </a:pPr>
            <a:r>
              <a:rPr lang="ko-KR" altLang="en-US" sz="1600" b="1" dirty="0">
                <a:solidFill>
                  <a:schemeClr val="tx2"/>
                </a:solidFill>
              </a:rPr>
              <a:t>예측 시점: 전날 자정</a:t>
            </a:r>
            <a:endParaRPr lang="ko-KR" sz="1600" dirty="0"/>
          </a:p>
        </p:txBody>
      </p:sp>
      <p:sp>
        <p:nvSpPr>
          <p:cNvPr id="7" name="text-47"/>
          <p:cNvSpPr txBox="1"/>
          <p:nvPr/>
        </p:nvSpPr>
        <p:spPr>
          <a:xfrm>
            <a:off x="1316736" y="2066544"/>
            <a:ext cx="5724144" cy="685800"/>
          </a:xfrm>
          <a:prstGeom prst="rect">
            <a:avLst/>
          </a:prstGeom>
          <a:noFill/>
          <a:ln/>
        </p:spPr>
        <p:txBody>
          <a:bodyPr wrap="square" lIns="0" tIns="0" rIns="0" bIns="0" rtlCol="0" anchor="t"/>
          <a:lstStyle/>
          <a:p>
            <a:pPr indent="0" marL="0">
              <a:buNone/>
            </a:pPr>
            <a:r>
              <a:rPr lang="ko-KR" altLang="en-US" sz="1400" dirty="0">
                <a:solidFill>
                  <a:schemeClr val="tx1"/>
                </a:solidFill>
              </a:rPr>
              <a:t>다음 날 24시간을 한 번에 예측합니다. 생산 일정을 조정하려면 하루 전에 결과가 있어야 합니다.</a:t>
            </a:r>
            <a:endParaRPr lang="ko-KR" sz="1400" dirty="0"/>
          </a:p>
        </p:txBody>
      </p:sp>
      <p:sp>
        <p:nvSpPr>
          <p:cNvPr id="8" name="icon-bg-48"/>
          <p:cNvSpPr/>
          <p:nvPr/>
        </p:nvSpPr>
        <p:spPr>
          <a:xfrm>
            <a:off x="548640" y="3154680"/>
            <a:ext cx="566928" cy="566928"/>
          </a:xfrm>
          <a:prstGeom prst="ellipse">
            <a:avLst/>
          </a:prstGeom>
          <a:solidFill>
            <a:schemeClr val="accent1"/>
          </a:solidFill>
          <a:ln w="12700">
            <a:solidFill>
              <a:schemeClr val="accent1"/>
            </a:solidFill>
            <a:prstDash val="solid"/>
          </a:ln>
        </p:spPr>
      </p:sp>
      <p:pic>
        <p:nvPicPr>
          <p:cNvPr id="9" name="icon-49" descr="preencoded.png">    </p:cNvPr>
          <p:cNvPicPr>
            <a:picLocks noChangeAspect="1"/>
          </p:cNvPicPr>
          <p:nvPr/>
        </p:nvPicPr>
        <p:blipFill>
          <a:blip r:embed="rId2"/>
          <a:stretch>
            <a:fillRect/>
          </a:stretch>
        </p:blipFill>
        <p:spPr>
          <a:xfrm>
            <a:off x="696041" y="3302081"/>
            <a:ext cx="272125" cy="272125"/>
          </a:xfrm>
          <a:prstGeom prst="rect">
            <a:avLst/>
          </a:prstGeom>
        </p:spPr>
      </p:pic>
      <p:sp>
        <p:nvSpPr>
          <p:cNvPr id="10" name="text-50"/>
          <p:cNvSpPr txBox="1"/>
          <p:nvPr/>
        </p:nvSpPr>
        <p:spPr>
          <a:xfrm>
            <a:off x="1316736" y="3136392"/>
            <a:ext cx="5724144" cy="329184"/>
          </a:xfrm>
          <a:prstGeom prst="rect">
            <a:avLst/>
          </a:prstGeom>
          <a:noFill/>
          <a:ln/>
        </p:spPr>
        <p:txBody>
          <a:bodyPr wrap="square" lIns="0" tIns="0" rIns="0" bIns="0" rtlCol="0" anchor="t"/>
          <a:lstStyle/>
          <a:p>
            <a:pPr indent="0" marL="0">
              <a:buNone/>
            </a:pPr>
            <a:r>
              <a:rPr lang="ko-KR" altLang="en-US" sz="1600" b="1" dirty="0">
                <a:solidFill>
                  <a:schemeClr val="tx2"/>
                </a:solidFill>
              </a:rPr>
              <a:t>타깃 ① 시간 평균 전력</a:t>
            </a:r>
            <a:endParaRPr lang="ko-KR" sz="1600" dirty="0"/>
          </a:p>
        </p:txBody>
      </p:sp>
      <p:sp>
        <p:nvSpPr>
          <p:cNvPr id="11" name="text-51"/>
          <p:cNvSpPr txBox="1"/>
          <p:nvPr/>
        </p:nvSpPr>
        <p:spPr>
          <a:xfrm>
            <a:off x="1316736" y="3483864"/>
            <a:ext cx="5724144" cy="685800"/>
          </a:xfrm>
          <a:prstGeom prst="rect">
            <a:avLst/>
          </a:prstGeom>
          <a:noFill/>
          <a:ln/>
        </p:spPr>
        <p:txBody>
          <a:bodyPr wrap="square" lIns="0" tIns="0" rIns="0" bIns="0" rtlCol="0" anchor="t"/>
          <a:lstStyle/>
          <a:p>
            <a:pPr indent="0" marL="0">
              <a:buNone/>
            </a:pPr>
            <a:r>
              <a:rPr lang="ko-KR" altLang="en-US" sz="1400" dirty="0">
                <a:solidFill>
                  <a:schemeClr val="tx1"/>
                </a:solidFill>
              </a:rPr>
              <a:t>과제가 요구한 전력사용량 예측입니다. 생산·교대 일정 검토에 씁니다.</a:t>
            </a:r>
            <a:endParaRPr lang="ko-KR" sz="1400" dirty="0"/>
          </a:p>
        </p:txBody>
      </p:sp>
      <p:sp>
        <p:nvSpPr>
          <p:cNvPr id="12" name="icon-bg-52"/>
          <p:cNvSpPr/>
          <p:nvPr/>
        </p:nvSpPr>
        <p:spPr>
          <a:xfrm>
            <a:off x="548640" y="4572000"/>
            <a:ext cx="566928" cy="566928"/>
          </a:xfrm>
          <a:prstGeom prst="ellipse">
            <a:avLst/>
          </a:prstGeom>
          <a:solidFill>
            <a:schemeClr val="accent2"/>
          </a:solidFill>
          <a:ln w="12700">
            <a:solidFill>
              <a:schemeClr val="accent2"/>
            </a:solidFill>
            <a:prstDash val="solid"/>
          </a:ln>
        </p:spPr>
      </p:sp>
      <p:pic>
        <p:nvPicPr>
          <p:cNvPr id="13" name="icon-53" descr="preencoded.png">    </p:cNvPr>
          <p:cNvPicPr>
            <a:picLocks noChangeAspect="1"/>
          </p:cNvPicPr>
          <p:nvPr/>
        </p:nvPicPr>
        <p:blipFill>
          <a:blip r:embed="rId3"/>
          <a:stretch>
            <a:fillRect/>
          </a:stretch>
        </p:blipFill>
        <p:spPr>
          <a:xfrm>
            <a:off x="696041" y="4719401"/>
            <a:ext cx="272125" cy="272125"/>
          </a:xfrm>
          <a:prstGeom prst="rect">
            <a:avLst/>
          </a:prstGeom>
        </p:spPr>
      </p:pic>
      <p:sp>
        <p:nvSpPr>
          <p:cNvPr id="14" name="text-54"/>
          <p:cNvSpPr txBox="1"/>
          <p:nvPr/>
        </p:nvSpPr>
        <p:spPr>
          <a:xfrm>
            <a:off x="1316736" y="4553712"/>
            <a:ext cx="5724144" cy="329184"/>
          </a:xfrm>
          <a:prstGeom prst="rect">
            <a:avLst/>
          </a:prstGeom>
          <a:noFill/>
          <a:ln/>
        </p:spPr>
        <p:txBody>
          <a:bodyPr wrap="square" lIns="0" tIns="0" rIns="0" bIns="0" rtlCol="0" anchor="t"/>
          <a:lstStyle/>
          <a:p>
            <a:pPr indent="0" marL="0">
              <a:buNone/>
            </a:pPr>
            <a:r>
              <a:rPr lang="ko-KR" altLang="en-US" sz="1600" b="1" dirty="0">
                <a:solidFill>
                  <a:schemeClr val="tx2"/>
                </a:solidFill>
              </a:rPr>
              <a:t>타깃 ② 15분 최대</a:t>
            </a:r>
            <a:endParaRPr lang="ko-KR" sz="1600" dirty="0"/>
          </a:p>
        </p:txBody>
      </p:sp>
      <p:sp>
        <p:nvSpPr>
          <p:cNvPr id="15" name="text-55"/>
          <p:cNvSpPr txBox="1"/>
          <p:nvPr/>
        </p:nvSpPr>
        <p:spPr>
          <a:xfrm>
            <a:off x="1316736" y="4901184"/>
            <a:ext cx="5724144" cy="960120"/>
          </a:xfrm>
          <a:prstGeom prst="rect">
            <a:avLst/>
          </a:prstGeom>
          <a:noFill/>
          <a:ln/>
        </p:spPr>
        <p:txBody>
          <a:bodyPr wrap="square" lIns="0" tIns="0" rIns="0" bIns="0" rtlCol="0" anchor="t"/>
          <a:lstStyle/>
          <a:p>
            <a:pPr indent="0" marL="0">
              <a:buNone/>
            </a:pPr>
            <a:r>
              <a:rPr lang="ko-KR" altLang="en-US" sz="1400" dirty="0">
                <a:solidFill>
                  <a:schemeClr val="tx1"/>
                </a:solidFill>
              </a:rPr>
              <a:t>한전 최대수요전력의 산정 단위입니다. 시간 평균을 잘 맞혀도 이 값은 따로 다뤄야 하므로, 피크 경보는 15분 최대를 직접 학습합니다.</a:t>
            </a:r>
            <a:endParaRPr lang="ko-KR" sz="1400" dirty="0"/>
          </a:p>
        </p:txBody>
      </p:sp>
      <p:sp>
        <p:nvSpPr>
          <p:cNvPr id="16" name="card-56"/>
          <p:cNvSpPr/>
          <p:nvPr/>
        </p:nvSpPr>
        <p:spPr>
          <a:xfrm>
            <a:off x="7406640" y="1645920"/>
            <a:ext cx="4233672" cy="4526280"/>
          </a:xfrm>
          <a:prstGeom prst="roundRect">
            <a:avLst>
              <a:gd name="adj" fmla="val 1728"/>
            </a:avLst>
          </a:prstGeom>
          <a:solidFill>
            <a:schemeClr val="tx2"/>
          </a:solidFill>
          <a:ln w="12700">
            <a:solidFill>
              <a:schemeClr val="tx2"/>
            </a:solidFill>
            <a:prstDash val="solid"/>
          </a:ln>
        </p:spPr>
      </p:sp>
      <p:sp>
        <p:nvSpPr>
          <p:cNvPr id="17" name="text-57"/>
          <p:cNvSpPr txBox="1"/>
          <p:nvPr/>
        </p:nvSpPr>
        <p:spPr>
          <a:xfrm>
            <a:off x="7726680" y="1920240"/>
            <a:ext cx="3657600" cy="320040"/>
          </a:xfrm>
          <a:prstGeom prst="rect">
            <a:avLst/>
          </a:prstGeom>
          <a:noFill/>
          <a:ln/>
        </p:spPr>
        <p:txBody>
          <a:bodyPr wrap="square" lIns="0" tIns="0" rIns="0" bIns="0" rtlCol="0" anchor="t"/>
          <a:lstStyle/>
          <a:p>
            <a:pPr indent="0" marL="0">
              <a:buNone/>
            </a:pPr>
            <a:r>
              <a:rPr lang="ko-KR" altLang="en-US" sz="1500" b="1" dirty="0">
                <a:solidFill>
                  <a:schemeClr val="accent5"/>
                </a:solidFill>
              </a:rPr>
              <a:t>요금적용전력</a:t>
            </a:r>
            <a:endParaRPr lang="ko-KR" sz="1500" dirty="0"/>
          </a:p>
        </p:txBody>
      </p:sp>
      <p:sp>
        <p:nvSpPr>
          <p:cNvPr id="18" name="text-58"/>
          <p:cNvSpPr txBox="1"/>
          <p:nvPr/>
        </p:nvSpPr>
        <p:spPr>
          <a:xfrm>
            <a:off x="7726680" y="2286000"/>
            <a:ext cx="3657600" cy="685800"/>
          </a:xfrm>
          <a:prstGeom prst="rect">
            <a:avLst/>
          </a:prstGeom>
          <a:noFill/>
          <a:ln/>
        </p:spPr>
        <p:txBody>
          <a:bodyPr wrap="square" lIns="0" tIns="0" rIns="0" bIns="0" rtlCol="0" anchor="ctr"/>
          <a:lstStyle/>
          <a:p>
            <a:pPr indent="0" marL="0">
              <a:buNone/>
            </a:pPr>
            <a:r>
              <a:rPr lang="ko-KR" altLang="en-US" sz="3400" b="1" dirty="0">
                <a:solidFill>
                  <a:schemeClr val="bg1"/>
                </a:solidFill>
              </a:rPr>
              <a:t>1회 → 12개월</a:t>
            </a:r>
            <a:endParaRPr lang="ko-KR" sz="3400" dirty="0"/>
          </a:p>
        </p:txBody>
      </p:sp>
      <p:sp>
        <p:nvSpPr>
          <p:cNvPr id="19" name="text-59"/>
          <p:cNvSpPr txBox="1"/>
          <p:nvPr/>
        </p:nvSpPr>
        <p:spPr>
          <a:xfrm>
            <a:off x="7726680" y="3063240"/>
            <a:ext cx="3611880" cy="731520"/>
          </a:xfrm>
          <a:prstGeom prst="rect">
            <a:avLst/>
          </a:prstGeom>
          <a:noFill/>
          <a:ln/>
        </p:spPr>
        <p:txBody>
          <a:bodyPr wrap="square" lIns="0" tIns="0" rIns="0" bIns="0" rtlCol="0" anchor="t"/>
          <a:lstStyle/>
          <a:p>
            <a:pPr indent="0" marL="0">
              <a:buNone/>
            </a:pPr>
            <a:r>
              <a:rPr lang="ko-KR" altLang="en-US" sz="1400" dirty="0">
                <a:solidFill>
                  <a:schemeClr val="bg2"/>
                </a:solidFill>
              </a:rPr>
              <a:t>당월과 직전 11개월의 최대수요전력 중 가장 큰 값이 기본요금을 정합니다.</a:t>
            </a:r>
            <a:endParaRPr lang="ko-KR" sz="1400" dirty="0"/>
          </a:p>
        </p:txBody>
      </p:sp>
      <p:sp>
        <p:nvSpPr>
          <p:cNvPr id="20" name="text-60"/>
          <p:cNvSpPr txBox="1"/>
          <p:nvPr/>
        </p:nvSpPr>
        <p:spPr>
          <a:xfrm>
            <a:off x="7726680" y="4023360"/>
            <a:ext cx="3657600" cy="320040"/>
          </a:xfrm>
          <a:prstGeom prst="rect">
            <a:avLst/>
          </a:prstGeom>
          <a:noFill/>
          <a:ln/>
        </p:spPr>
        <p:txBody>
          <a:bodyPr wrap="square" lIns="0" tIns="0" rIns="0" bIns="0" rtlCol="0" anchor="t"/>
          <a:lstStyle/>
          <a:p>
            <a:pPr indent="0" marL="0">
              <a:buNone/>
            </a:pPr>
            <a:r>
              <a:rPr lang="ko-KR" altLang="en-US" sz="1500" b="1" dirty="0">
                <a:solidFill>
                  <a:schemeClr val="accent5"/>
                </a:solidFill>
              </a:rPr>
              <a:t>시간대별 단가 차등 없음</a:t>
            </a:r>
            <a:endParaRPr lang="ko-KR" sz="1500" dirty="0"/>
          </a:p>
        </p:txBody>
      </p:sp>
      <p:sp>
        <p:nvSpPr>
          <p:cNvPr id="21" name="text-61"/>
          <p:cNvSpPr txBox="1"/>
          <p:nvPr/>
        </p:nvSpPr>
        <p:spPr>
          <a:xfrm>
            <a:off x="7726680" y="4389120"/>
            <a:ext cx="3611880" cy="914400"/>
          </a:xfrm>
          <a:prstGeom prst="rect">
            <a:avLst/>
          </a:prstGeom>
          <a:noFill/>
          <a:ln/>
        </p:spPr>
        <p:txBody>
          <a:bodyPr wrap="square" lIns="0" tIns="0" rIns="0" bIns="0" rtlCol="0" anchor="t"/>
          <a:lstStyle/>
          <a:p>
            <a:pPr indent="0" marL="0">
              <a:buNone/>
            </a:pPr>
            <a:r>
              <a:rPr lang="ko-KR" altLang="en-US" sz="1400" dirty="0">
                <a:solidFill>
                  <a:schemeClr val="bg2"/>
                </a:solidFill>
              </a:rPr>
              <a:t>전기요금 단가는 계절별 109.8 / 167.2 / 191.6뿐입니다. 부하를 야간으로 옮기면 인건비만 1.5배가 됩니다.</a:t>
            </a:r>
            <a:endParaRPr lang="ko-KR" sz="1400" dirty="0"/>
          </a:p>
        </p:txBody>
      </p:sp>
      <p:sp>
        <p:nvSpPr>
          <p:cNvPr id="22" name="text-62"/>
          <p:cNvSpPr txBox="1"/>
          <p:nvPr/>
        </p:nvSpPr>
        <p:spPr>
          <a:xfrm>
            <a:off x="7726680" y="5440680"/>
            <a:ext cx="3657600" cy="457200"/>
          </a:xfrm>
          <a:prstGeom prst="rect">
            <a:avLst/>
          </a:prstGeom>
          <a:noFill/>
          <a:ln/>
        </p:spPr>
        <p:txBody>
          <a:bodyPr wrap="square" lIns="0" tIns="0" rIns="0" bIns="0" rtlCol="0" anchor="t"/>
          <a:lstStyle/>
          <a:p>
            <a:pPr indent="0" marL="0">
              <a:buNone/>
            </a:pPr>
            <a:r>
              <a:rPr lang="ko-KR" altLang="en-US" sz="1500" b="1" dirty="0">
                <a:solidFill>
                  <a:schemeClr val="accent6"/>
                </a:solidFill>
              </a:rPr>
              <a:t>→ 절감 경로는 최대수요전력을 낮추는 것</a:t>
            </a:r>
            <a:endParaRPr lang="ko-KR"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1  데이터 진단</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전력은 교대 체계를 따라 세 단계로 움직입니다</a:t>
            </a:r>
            <a:endParaRPr lang="ko-KR" sz="2800" dirty="0"/>
          </a:p>
        </p:txBody>
      </p:sp>
      <p:graphicFrame>
        <p:nvGraphicFramePr>
          <p:cNvPr id="4" name="chart-hourly" descr=""/>
          <p:cNvGraphicFramePr/>
          <p:nvPr/>
        </p:nvGraphicFramePr>
        <p:xfrm>
          <a:off x="548640" y="1600200"/>
          <a:ext cx="6858000" cy="4572000"/>
        </p:xfrm>
        <a:graphic xmlns:a="http://schemas.openxmlformats.org/drawingml/2006/main">
          <a:graphicData uri="http://schemas.openxmlformats.org/drawingml/2006/chart">
            <c:chart xmlns:c="http://schemas.openxmlformats.org/drawingml/2006/chart" r:id="rId1"/>
          </a:graphicData>
        </a:graphic>
      </p:graphicFrame>
      <p:sp>
        <p:nvSpPr>
          <p:cNvPr id="5" name="text-63"/>
          <p:cNvSpPr txBox="1"/>
          <p:nvPr/>
        </p:nvSpPr>
        <p:spPr>
          <a:xfrm>
            <a:off x="7772400" y="1645920"/>
            <a:ext cx="3657600" cy="320040"/>
          </a:xfrm>
          <a:prstGeom prst="rect">
            <a:avLst/>
          </a:prstGeom>
          <a:noFill/>
          <a:ln/>
        </p:spPr>
        <p:txBody>
          <a:bodyPr wrap="square" lIns="0" tIns="0" rIns="0" bIns="0" rtlCol="0" anchor="t"/>
          <a:lstStyle/>
          <a:p>
            <a:pPr indent="0" marL="0">
              <a:buNone/>
            </a:pPr>
            <a:r>
              <a:rPr lang="ko-KR" altLang="en-US" sz="1600" b="1" dirty="0">
                <a:solidFill>
                  <a:schemeClr val="tx2"/>
                </a:solidFill>
              </a:rPr>
              <a:t>부하 수준</a:t>
            </a:r>
            <a:endParaRPr lang="ko-KR" sz="1600" dirty="0"/>
          </a:p>
        </p:txBody>
      </p:sp>
      <p:sp>
        <p:nvSpPr>
          <p:cNvPr id="6" name="text-64"/>
          <p:cNvSpPr txBox="1"/>
          <p:nvPr/>
        </p:nvSpPr>
        <p:spPr>
          <a:xfrm>
            <a:off x="7772400" y="2057400"/>
            <a:ext cx="1005840" cy="566928"/>
          </a:xfrm>
          <a:prstGeom prst="rect">
            <a:avLst/>
          </a:prstGeom>
          <a:noFill/>
          <a:ln/>
        </p:spPr>
        <p:txBody>
          <a:bodyPr wrap="square" lIns="0" tIns="0" rIns="0" bIns="0" rtlCol="0" anchor="ctr"/>
          <a:lstStyle/>
          <a:p>
            <a:pPr indent="0" marL="0">
              <a:buNone/>
            </a:pPr>
            <a:r>
              <a:rPr lang="ko-KR" altLang="en-US" sz="2800" b="1" dirty="0">
                <a:solidFill>
                  <a:schemeClr val="accent3"/>
                </a:solidFill>
              </a:rPr>
              <a:t>23</a:t>
            </a:r>
            <a:endParaRPr lang="ko-KR" sz="2800" dirty="0"/>
          </a:p>
        </p:txBody>
      </p:sp>
      <p:sp>
        <p:nvSpPr>
          <p:cNvPr id="7" name="text-65"/>
          <p:cNvSpPr txBox="1"/>
          <p:nvPr/>
        </p:nvSpPr>
        <p:spPr>
          <a:xfrm>
            <a:off x="8823960" y="2075688"/>
            <a:ext cx="2834640" cy="274320"/>
          </a:xfrm>
          <a:prstGeom prst="rect">
            <a:avLst/>
          </a:prstGeom>
          <a:noFill/>
          <a:ln/>
        </p:spPr>
        <p:txBody>
          <a:bodyPr wrap="square" lIns="0" tIns="0" rIns="0" bIns="0" rtlCol="0" anchor="t"/>
          <a:lstStyle/>
          <a:p>
            <a:pPr indent="0" marL="0">
              <a:buNone/>
            </a:pPr>
            <a:r>
              <a:rPr lang="ko-KR" altLang="en-US" sz="1500" b="1" dirty="0">
                <a:solidFill>
                  <a:schemeClr val="tx2"/>
                </a:solidFill>
              </a:rPr>
              <a:t>기저부하</a:t>
            </a:r>
            <a:endParaRPr lang="ko-KR" sz="1500" dirty="0"/>
          </a:p>
        </p:txBody>
      </p:sp>
      <p:sp>
        <p:nvSpPr>
          <p:cNvPr id="8" name="text-66"/>
          <p:cNvSpPr txBox="1"/>
          <p:nvPr/>
        </p:nvSpPr>
        <p:spPr>
          <a:xfrm>
            <a:off x="8823960" y="2350008"/>
            <a:ext cx="2834640" cy="274320"/>
          </a:xfrm>
          <a:prstGeom prst="rect">
            <a:avLst/>
          </a:prstGeom>
          <a:noFill/>
          <a:ln/>
        </p:spPr>
        <p:txBody>
          <a:bodyPr wrap="square" lIns="0" tIns="0" rIns="0" bIns="0" rtlCol="0" anchor="t"/>
          <a:lstStyle/>
          <a:p>
            <a:pPr indent="0" marL="0">
              <a:buNone/>
            </a:pPr>
            <a:r>
              <a:rPr lang="ko-KR" altLang="en-US" sz="1300" dirty="0">
                <a:solidFill>
                  <a:schemeClr val="tx1"/>
                </a:solidFill>
              </a:rPr>
              <a:t>휴무·야간에도 유지되는 바닥</a:t>
            </a:r>
            <a:endParaRPr lang="ko-KR" sz="1300" dirty="0"/>
          </a:p>
        </p:txBody>
      </p:sp>
      <p:sp>
        <p:nvSpPr>
          <p:cNvPr id="9" name="text-67"/>
          <p:cNvSpPr txBox="1"/>
          <p:nvPr/>
        </p:nvSpPr>
        <p:spPr>
          <a:xfrm>
            <a:off x="7772400" y="2770632"/>
            <a:ext cx="1005840" cy="566928"/>
          </a:xfrm>
          <a:prstGeom prst="rect">
            <a:avLst/>
          </a:prstGeom>
          <a:noFill/>
          <a:ln/>
        </p:spPr>
        <p:txBody>
          <a:bodyPr wrap="square" lIns="0" tIns="0" rIns="0" bIns="0" rtlCol="0" anchor="ctr"/>
          <a:lstStyle/>
          <a:p>
            <a:pPr indent="0" marL="0">
              <a:buNone/>
            </a:pPr>
            <a:r>
              <a:rPr lang="ko-KR" altLang="en-US" sz="2800" b="1" dirty="0">
                <a:solidFill>
                  <a:schemeClr val="accent6"/>
                </a:solidFill>
              </a:rPr>
              <a:t>105</a:t>
            </a:r>
            <a:endParaRPr lang="ko-KR" sz="2800" dirty="0"/>
          </a:p>
        </p:txBody>
      </p:sp>
      <p:sp>
        <p:nvSpPr>
          <p:cNvPr id="10" name="text-68"/>
          <p:cNvSpPr txBox="1"/>
          <p:nvPr/>
        </p:nvSpPr>
        <p:spPr>
          <a:xfrm>
            <a:off x="8823960" y="2788920"/>
            <a:ext cx="2834640" cy="274320"/>
          </a:xfrm>
          <a:prstGeom prst="rect">
            <a:avLst/>
          </a:prstGeom>
          <a:noFill/>
          <a:ln/>
        </p:spPr>
        <p:txBody>
          <a:bodyPr wrap="square" lIns="0" tIns="0" rIns="0" bIns="0" rtlCol="0" anchor="t"/>
          <a:lstStyle/>
          <a:p>
            <a:pPr indent="0" marL="0">
              <a:buNone/>
            </a:pPr>
            <a:r>
              <a:rPr lang="ko-KR" altLang="en-US" sz="1500" b="1" dirty="0">
                <a:solidFill>
                  <a:schemeClr val="tx2"/>
                </a:solidFill>
              </a:rPr>
              <a:t>중부하</a:t>
            </a:r>
            <a:endParaRPr lang="ko-KR" sz="1500" dirty="0"/>
          </a:p>
        </p:txBody>
      </p:sp>
      <p:sp>
        <p:nvSpPr>
          <p:cNvPr id="11" name="text-69"/>
          <p:cNvSpPr txBox="1"/>
          <p:nvPr/>
        </p:nvSpPr>
        <p:spPr>
          <a:xfrm>
            <a:off x="8823960" y="3063240"/>
            <a:ext cx="2834640" cy="274320"/>
          </a:xfrm>
          <a:prstGeom prst="rect">
            <a:avLst/>
          </a:prstGeom>
          <a:noFill/>
          <a:ln/>
        </p:spPr>
        <p:txBody>
          <a:bodyPr wrap="square" lIns="0" tIns="0" rIns="0" bIns="0" rtlCol="0" anchor="t"/>
          <a:lstStyle/>
          <a:p>
            <a:pPr indent="0" marL="0">
              <a:buNone/>
            </a:pPr>
            <a:r>
              <a:rPr lang="ko-KR" altLang="en-US" sz="1300" dirty="0">
                <a:solidFill>
                  <a:schemeClr val="tx1"/>
                </a:solidFill>
              </a:rPr>
              <a:t>야간·점심 운전</a:t>
            </a:r>
            <a:endParaRPr lang="ko-KR" sz="1300" dirty="0"/>
          </a:p>
        </p:txBody>
      </p:sp>
      <p:sp>
        <p:nvSpPr>
          <p:cNvPr id="12" name="text-70"/>
          <p:cNvSpPr txBox="1"/>
          <p:nvPr/>
        </p:nvSpPr>
        <p:spPr>
          <a:xfrm>
            <a:off x="7772400" y="3483864"/>
            <a:ext cx="1005840" cy="566928"/>
          </a:xfrm>
          <a:prstGeom prst="rect">
            <a:avLst/>
          </a:prstGeom>
          <a:noFill/>
          <a:ln/>
        </p:spPr>
        <p:txBody>
          <a:bodyPr wrap="square" lIns="0" tIns="0" rIns="0" bIns="0" rtlCol="0" anchor="ctr"/>
          <a:lstStyle/>
          <a:p>
            <a:pPr indent="0" marL="0">
              <a:buNone/>
            </a:pPr>
            <a:r>
              <a:rPr lang="ko-KR" altLang="en-US" sz="2800" b="1" dirty="0">
                <a:solidFill>
                  <a:schemeClr val="accent2"/>
                </a:solidFill>
              </a:rPr>
              <a:t>165</a:t>
            </a:r>
            <a:endParaRPr lang="ko-KR" sz="2800" dirty="0"/>
          </a:p>
        </p:txBody>
      </p:sp>
      <p:sp>
        <p:nvSpPr>
          <p:cNvPr id="13" name="text-71"/>
          <p:cNvSpPr txBox="1"/>
          <p:nvPr/>
        </p:nvSpPr>
        <p:spPr>
          <a:xfrm>
            <a:off x="8823960" y="3502152"/>
            <a:ext cx="2834640" cy="274320"/>
          </a:xfrm>
          <a:prstGeom prst="rect">
            <a:avLst/>
          </a:prstGeom>
          <a:noFill/>
          <a:ln/>
        </p:spPr>
        <p:txBody>
          <a:bodyPr wrap="square" lIns="0" tIns="0" rIns="0" bIns="0" rtlCol="0" anchor="t"/>
          <a:lstStyle/>
          <a:p>
            <a:pPr indent="0" marL="0">
              <a:buNone/>
            </a:pPr>
            <a:r>
              <a:rPr lang="ko-KR" altLang="en-US" sz="1500" b="1" dirty="0">
                <a:solidFill>
                  <a:schemeClr val="tx2"/>
                </a:solidFill>
              </a:rPr>
              <a:t>고부하</a:t>
            </a:r>
            <a:endParaRPr lang="ko-KR" sz="1500" dirty="0"/>
          </a:p>
        </p:txBody>
      </p:sp>
      <p:sp>
        <p:nvSpPr>
          <p:cNvPr id="14" name="text-72"/>
          <p:cNvSpPr txBox="1"/>
          <p:nvPr/>
        </p:nvSpPr>
        <p:spPr>
          <a:xfrm>
            <a:off x="8823960" y="3776472"/>
            <a:ext cx="2834640" cy="274320"/>
          </a:xfrm>
          <a:prstGeom prst="rect">
            <a:avLst/>
          </a:prstGeom>
          <a:noFill/>
          <a:ln/>
        </p:spPr>
        <p:txBody>
          <a:bodyPr wrap="square" lIns="0" tIns="0" rIns="0" bIns="0" rtlCol="0" anchor="t"/>
          <a:lstStyle/>
          <a:p>
            <a:pPr indent="0" marL="0">
              <a:buNone/>
            </a:pPr>
            <a:r>
              <a:rPr lang="ko-KR" altLang="en-US" sz="1300" dirty="0">
                <a:solidFill>
                  <a:schemeClr val="tx1"/>
                </a:solidFill>
              </a:rPr>
              <a:t>평일 8 to 11시·13 to 16시</a:t>
            </a:r>
            <a:endParaRPr lang="ko-KR" sz="1300" dirty="0"/>
          </a:p>
        </p:txBody>
      </p:sp>
      <p:sp>
        <p:nvSpPr>
          <p:cNvPr id="15" name="card-73"/>
          <p:cNvSpPr/>
          <p:nvPr/>
        </p:nvSpPr>
        <p:spPr>
          <a:xfrm>
            <a:off x="7772400" y="4343400"/>
            <a:ext cx="3867912" cy="1828800"/>
          </a:xfrm>
          <a:prstGeom prst="roundRect">
            <a:avLst>
              <a:gd name="adj" fmla="val 4000"/>
            </a:avLst>
          </a:prstGeom>
          <a:solidFill>
            <a:schemeClr val="bg2"/>
          </a:solidFill>
          <a:ln w="12700">
            <a:solidFill>
              <a:schemeClr val="bg2"/>
            </a:solidFill>
            <a:prstDash val="solid"/>
          </a:ln>
        </p:spPr>
      </p:sp>
      <p:sp>
        <p:nvSpPr>
          <p:cNvPr id="16" name="text-74"/>
          <p:cNvSpPr txBox="1"/>
          <p:nvPr/>
        </p:nvSpPr>
        <p:spPr>
          <a:xfrm>
            <a:off x="7955280" y="4498848"/>
            <a:ext cx="3566160" cy="1554480"/>
          </a:xfrm>
          <a:prstGeom prst="rect">
            <a:avLst/>
          </a:prstGeom>
          <a:noFill/>
          <a:ln/>
        </p:spPr>
        <p:txBody>
          <a:bodyPr wrap="square" lIns="0" tIns="0" rIns="0" bIns="0" rtlCol="0" anchor="t"/>
          <a:lstStyle/>
          <a:p>
            <a:pPr marL="203200" indent="-203200">
              <a:spcAft>
                <a:spcPts val="600"/>
              </a:spcAft>
              <a:buSzPct val="100000"/>
              <a:buChar char="•"/>
            </a:pPr>
            <a:r>
              <a:rPr lang="ko-KR" altLang="en-US" sz="1400" dirty="0">
                <a:solidFill>
                  <a:schemeClr val="tx1"/>
                </a:solidFill>
              </a:rPr>
              <a:t>2021.1.1 to 9.14 · 257일 · 6,168시간 · 18개 변수</a:t>
            </a:r>
            <a:endParaRPr lang="ko-KR" sz="1400" dirty="0"/>
          </a:p>
          <a:p>
            <a:pPr marL="203200" indent="-203200">
              <a:spcAft>
                <a:spcPts val="600"/>
              </a:spcAft>
              <a:buSzPct val="100000"/>
              <a:buChar char="•"/>
            </a:pPr>
            <a:r>
              <a:rPr lang="ko-KR" altLang="en-US" sz="1400" dirty="0">
                <a:solidFill>
                  <a:schemeClr val="tx1"/>
                </a:solidFill>
              </a:rPr>
              <a:t>어제보다 지난주 같은 요일과 훨씬 닮은 패턴</a:t>
            </a:r>
            <a:endParaRPr lang="ko-KR" sz="1400" dirty="0"/>
          </a:p>
          <a:p>
            <a:pPr marL="203200" indent="-203200">
              <a:spcAft>
                <a:spcPts val="600"/>
              </a:spcAft>
              <a:buSzPct val="100000"/>
              <a:buChar char="•"/>
            </a:pPr>
            <a:r>
              <a:rPr lang="ko-KR" altLang="en-US" sz="1400" dirty="0">
                <a:solidFill>
                  <a:schemeClr val="tx1"/>
                </a:solidFill>
              </a:rPr>
              <a:t>생산 800 부근에서 전력 증가가 포화, 22℃ 이상에서 냉방 부하</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1  데이터 진단</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161일은 다른 날의 전력을 그대로 복제한 날이었습니다</a:t>
            </a:r>
            <a:endParaRPr lang="ko-KR" sz="2800" dirty="0"/>
          </a:p>
        </p:txBody>
      </p:sp>
      <p:graphicFrame>
        <p:nvGraphicFramePr>
          <p:cNvPr id="4" name="chart-clone-month" descr=""/>
          <p:cNvGraphicFramePr/>
          <p:nvPr/>
        </p:nvGraphicFramePr>
        <p:xfrm>
          <a:off x="548640" y="1600200"/>
          <a:ext cx="6035040" cy="4572000"/>
        </p:xfrm>
        <a:graphic xmlns:a="http://schemas.openxmlformats.org/drawingml/2006/main">
          <a:graphicData uri="http://schemas.openxmlformats.org/drawingml/2006/chart">
            <c:chart xmlns:c="http://schemas.openxmlformats.org/drawingml/2006/chart" r:id="rId1"/>
          </a:graphicData>
        </a:graphic>
      </p:graphicFrame>
      <p:sp>
        <p:nvSpPr>
          <p:cNvPr id="5" name="icon-bg-75"/>
          <p:cNvSpPr/>
          <p:nvPr/>
        </p:nvSpPr>
        <p:spPr>
          <a:xfrm>
            <a:off x="6903720" y="1691640"/>
            <a:ext cx="566928" cy="566928"/>
          </a:xfrm>
          <a:prstGeom prst="ellipse">
            <a:avLst/>
          </a:prstGeom>
          <a:solidFill>
            <a:schemeClr val="accent1"/>
          </a:solidFill>
          <a:ln w="12700">
            <a:solidFill>
              <a:schemeClr val="accent1"/>
            </a:solidFill>
            <a:prstDash val="solid"/>
          </a:ln>
        </p:spPr>
      </p:sp>
      <p:pic>
        <p:nvPicPr>
          <p:cNvPr id="6" name="icon-76" descr="preencoded.png">    </p:cNvPr>
          <p:cNvPicPr>
            <a:picLocks noChangeAspect="1"/>
          </p:cNvPicPr>
          <p:nvPr/>
        </p:nvPicPr>
        <p:blipFill>
          <a:blip r:embed="rId2"/>
          <a:stretch>
            <a:fillRect/>
          </a:stretch>
        </p:blipFill>
        <p:spPr>
          <a:xfrm>
            <a:off x="7051121" y="1839041"/>
            <a:ext cx="272125" cy="272125"/>
          </a:xfrm>
          <a:prstGeom prst="rect">
            <a:avLst/>
          </a:prstGeom>
        </p:spPr>
      </p:pic>
      <p:sp>
        <p:nvSpPr>
          <p:cNvPr id="7" name="text-77"/>
          <p:cNvSpPr txBox="1"/>
          <p:nvPr/>
        </p:nvSpPr>
        <p:spPr>
          <a:xfrm>
            <a:off x="7671816" y="1673352"/>
            <a:ext cx="3968496" cy="329184"/>
          </a:xfrm>
          <a:prstGeom prst="rect">
            <a:avLst/>
          </a:prstGeom>
          <a:noFill/>
          <a:ln/>
        </p:spPr>
        <p:txBody>
          <a:bodyPr wrap="square" lIns="0" tIns="0" rIns="0" bIns="0" rtlCol="0" anchor="t"/>
          <a:lstStyle/>
          <a:p>
            <a:pPr indent="0" marL="0">
              <a:buNone/>
            </a:pPr>
            <a:r>
              <a:rPr lang="ko-KR" altLang="en-US" sz="1600" b="1" dirty="0">
                <a:solidFill>
                  <a:schemeClr val="tx2"/>
                </a:solidFill>
              </a:rPr>
              <a:t>전력 패턴 복제 161일</a:t>
            </a:r>
            <a:endParaRPr lang="ko-KR" sz="1600" dirty="0"/>
          </a:p>
        </p:txBody>
      </p:sp>
      <p:sp>
        <p:nvSpPr>
          <p:cNvPr id="8" name="text-78"/>
          <p:cNvSpPr txBox="1"/>
          <p:nvPr/>
        </p:nvSpPr>
        <p:spPr>
          <a:xfrm>
            <a:off x="7671816" y="2020824"/>
            <a:ext cx="3968496" cy="685800"/>
          </a:xfrm>
          <a:prstGeom prst="rect">
            <a:avLst/>
          </a:prstGeom>
          <a:noFill/>
          <a:ln/>
        </p:spPr>
        <p:txBody>
          <a:bodyPr wrap="square" lIns="0" tIns="0" rIns="0" bIns="0" rtlCol="0" anchor="t"/>
          <a:lstStyle/>
          <a:p>
            <a:pPr indent="0" marL="0">
              <a:buNone/>
            </a:pPr>
            <a:r>
              <a:rPr lang="ko-KR" altLang="en-US" sz="1400" dirty="0">
                <a:solidFill>
                  <a:schemeClr val="tx1"/>
                </a:solidFill>
              </a:rPr>
              <a:t>생산·기상은 다른데 24시간 전력만 같습니다. 평가는 고유일만, 학습은 가중치 0.3으로 씁니다.</a:t>
            </a:r>
            <a:endParaRPr lang="ko-KR" sz="1400" dirty="0"/>
          </a:p>
        </p:txBody>
      </p:sp>
      <p:sp>
        <p:nvSpPr>
          <p:cNvPr id="9" name="icon-bg-79"/>
          <p:cNvSpPr/>
          <p:nvPr/>
        </p:nvSpPr>
        <p:spPr>
          <a:xfrm>
            <a:off x="6903720" y="2788920"/>
            <a:ext cx="566928" cy="566928"/>
          </a:xfrm>
          <a:prstGeom prst="ellipse">
            <a:avLst/>
          </a:prstGeom>
          <a:solidFill>
            <a:schemeClr val="accent2"/>
          </a:solidFill>
          <a:ln w="12700">
            <a:solidFill>
              <a:schemeClr val="accent2"/>
            </a:solidFill>
            <a:prstDash val="solid"/>
          </a:ln>
        </p:spPr>
      </p:sp>
      <p:pic>
        <p:nvPicPr>
          <p:cNvPr id="10" name="icon-80" descr="preencoded.png">    </p:cNvPr>
          <p:cNvPicPr>
            <a:picLocks noChangeAspect="1"/>
          </p:cNvPicPr>
          <p:nvPr/>
        </p:nvPicPr>
        <p:blipFill>
          <a:blip r:embed="rId3"/>
          <a:stretch>
            <a:fillRect/>
          </a:stretch>
        </p:blipFill>
        <p:spPr>
          <a:xfrm>
            <a:off x="7051121" y="2936321"/>
            <a:ext cx="272125" cy="272125"/>
          </a:xfrm>
          <a:prstGeom prst="rect">
            <a:avLst/>
          </a:prstGeom>
        </p:spPr>
      </p:pic>
      <p:sp>
        <p:nvSpPr>
          <p:cNvPr id="11" name="text-81"/>
          <p:cNvSpPr txBox="1"/>
          <p:nvPr/>
        </p:nvSpPr>
        <p:spPr>
          <a:xfrm>
            <a:off x="7671816" y="2770632"/>
            <a:ext cx="3968496" cy="329184"/>
          </a:xfrm>
          <a:prstGeom prst="rect">
            <a:avLst/>
          </a:prstGeom>
          <a:noFill/>
          <a:ln/>
        </p:spPr>
        <p:txBody>
          <a:bodyPr wrap="square" lIns="0" tIns="0" rIns="0" bIns="0" rtlCol="0" anchor="t"/>
          <a:lstStyle/>
          <a:p>
            <a:pPr indent="0" marL="0">
              <a:buNone/>
            </a:pPr>
            <a:r>
              <a:rPr lang="ko-KR" altLang="en-US" sz="1600" b="1" dirty="0">
                <a:solidFill>
                  <a:schemeClr val="tx2"/>
                </a:solidFill>
              </a:rPr>
              <a:t>생산 기록 누락 15일</a:t>
            </a:r>
            <a:endParaRPr lang="ko-KR" sz="1600" dirty="0"/>
          </a:p>
        </p:txBody>
      </p:sp>
      <p:sp>
        <p:nvSpPr>
          <p:cNvPr id="12" name="text-82"/>
          <p:cNvSpPr txBox="1"/>
          <p:nvPr/>
        </p:nvSpPr>
        <p:spPr>
          <a:xfrm>
            <a:off x="7671816" y="3118104"/>
            <a:ext cx="3968496" cy="685800"/>
          </a:xfrm>
          <a:prstGeom prst="rect">
            <a:avLst/>
          </a:prstGeom>
          <a:noFill/>
          <a:ln/>
        </p:spPr>
        <p:txBody>
          <a:bodyPr wrap="square" lIns="0" tIns="0" rIns="0" bIns="0" rtlCol="0" anchor="t"/>
          <a:lstStyle/>
          <a:p>
            <a:pPr indent="0" marL="0">
              <a:buNone/>
            </a:pPr>
            <a:r>
              <a:rPr lang="ko-KR" altLang="en-US" sz="1400" dirty="0">
                <a:solidFill>
                  <a:schemeClr val="tx1"/>
                </a:solidFill>
              </a:rPr>
              <a:t>생산 0인데 전력을 크게 쓴 날입니다. 학습에서 빼고 평가에는 원본 그대로 둡니다.</a:t>
            </a:r>
            <a:endParaRPr lang="ko-KR" sz="1400" dirty="0"/>
          </a:p>
        </p:txBody>
      </p:sp>
      <p:sp>
        <p:nvSpPr>
          <p:cNvPr id="13" name="icon-bg-83"/>
          <p:cNvSpPr/>
          <p:nvPr/>
        </p:nvSpPr>
        <p:spPr>
          <a:xfrm>
            <a:off x="6903720" y="3886200"/>
            <a:ext cx="566928" cy="566928"/>
          </a:xfrm>
          <a:prstGeom prst="ellipse">
            <a:avLst/>
          </a:prstGeom>
          <a:solidFill>
            <a:schemeClr val="accent3"/>
          </a:solidFill>
          <a:ln w="12700">
            <a:solidFill>
              <a:schemeClr val="accent3"/>
            </a:solidFill>
            <a:prstDash val="solid"/>
          </a:ln>
        </p:spPr>
      </p:sp>
      <p:pic>
        <p:nvPicPr>
          <p:cNvPr id="14" name="icon-84" descr="preencoded.png">    </p:cNvPr>
          <p:cNvPicPr>
            <a:picLocks noChangeAspect="1"/>
          </p:cNvPicPr>
          <p:nvPr/>
        </p:nvPicPr>
        <p:blipFill>
          <a:blip r:embed="rId4"/>
          <a:stretch>
            <a:fillRect/>
          </a:stretch>
        </p:blipFill>
        <p:spPr>
          <a:xfrm>
            <a:off x="7051121" y="4033601"/>
            <a:ext cx="272125" cy="272125"/>
          </a:xfrm>
          <a:prstGeom prst="rect">
            <a:avLst/>
          </a:prstGeom>
        </p:spPr>
      </p:pic>
      <p:sp>
        <p:nvSpPr>
          <p:cNvPr id="15" name="text-85"/>
          <p:cNvSpPr txBox="1"/>
          <p:nvPr/>
        </p:nvSpPr>
        <p:spPr>
          <a:xfrm>
            <a:off x="7671816" y="3867912"/>
            <a:ext cx="3968496" cy="329184"/>
          </a:xfrm>
          <a:prstGeom prst="rect">
            <a:avLst/>
          </a:prstGeom>
          <a:noFill/>
          <a:ln/>
        </p:spPr>
        <p:txBody>
          <a:bodyPr wrap="square" lIns="0" tIns="0" rIns="0" bIns="0" rtlCol="0" anchor="t"/>
          <a:lstStyle/>
          <a:p>
            <a:pPr indent="0" marL="0">
              <a:buNone/>
            </a:pPr>
            <a:r>
              <a:rPr lang="ko-KR" altLang="en-US" sz="1600" b="1" dirty="0">
                <a:solidFill>
                  <a:schemeClr val="tx2"/>
                </a:solidFill>
              </a:rPr>
              <a:t>날짜 변수 제외</a:t>
            </a:r>
            <a:endParaRPr lang="ko-KR" sz="1600" dirty="0"/>
          </a:p>
        </p:txBody>
      </p:sp>
      <p:sp>
        <p:nvSpPr>
          <p:cNvPr id="16" name="text-86"/>
          <p:cNvSpPr txBox="1"/>
          <p:nvPr/>
        </p:nvSpPr>
        <p:spPr>
          <a:xfrm>
            <a:off x="7671816" y="4215384"/>
            <a:ext cx="3968496" cy="685800"/>
          </a:xfrm>
          <a:prstGeom prst="rect">
            <a:avLst/>
          </a:prstGeom>
          <a:noFill/>
          <a:ln/>
        </p:spPr>
        <p:txBody>
          <a:bodyPr wrap="square" lIns="0" tIns="0" rIns="0" bIns="0" rtlCol="0" anchor="t"/>
          <a:lstStyle/>
          <a:p>
            <a:pPr indent="0" marL="0">
              <a:buNone/>
            </a:pPr>
            <a:r>
              <a:rPr lang="ko-KR" altLang="en-US" sz="1400" dirty="0">
                <a:solidFill>
                  <a:schemeClr val="tx1"/>
                </a:solidFill>
              </a:rPr>
              <a:t>복제 그룹을 외워서 맞히는 경로를 막았습니다.</a:t>
            </a:r>
            <a:endParaRPr lang="ko-KR" sz="1400" dirty="0"/>
          </a:p>
        </p:txBody>
      </p:sp>
      <p:sp>
        <p:nvSpPr>
          <p:cNvPr id="17" name="icon-bg-87"/>
          <p:cNvSpPr/>
          <p:nvPr/>
        </p:nvSpPr>
        <p:spPr>
          <a:xfrm>
            <a:off x="6903720" y="4983480"/>
            <a:ext cx="566928" cy="566928"/>
          </a:xfrm>
          <a:prstGeom prst="ellipse">
            <a:avLst/>
          </a:prstGeom>
          <a:solidFill>
            <a:schemeClr val="accent3"/>
          </a:solidFill>
          <a:ln w="12700">
            <a:solidFill>
              <a:schemeClr val="accent3"/>
            </a:solidFill>
            <a:prstDash val="solid"/>
          </a:ln>
        </p:spPr>
      </p:sp>
      <p:pic>
        <p:nvPicPr>
          <p:cNvPr id="18" name="icon-88" descr="preencoded.png">    </p:cNvPr>
          <p:cNvPicPr>
            <a:picLocks noChangeAspect="1"/>
          </p:cNvPicPr>
          <p:nvPr/>
        </p:nvPicPr>
        <p:blipFill>
          <a:blip r:embed="rId5"/>
          <a:stretch>
            <a:fillRect/>
          </a:stretch>
        </p:blipFill>
        <p:spPr>
          <a:xfrm>
            <a:off x="7051121" y="5130881"/>
            <a:ext cx="272125" cy="272125"/>
          </a:xfrm>
          <a:prstGeom prst="rect">
            <a:avLst/>
          </a:prstGeom>
        </p:spPr>
      </p:pic>
      <p:sp>
        <p:nvSpPr>
          <p:cNvPr id="19" name="text-89"/>
          <p:cNvSpPr txBox="1"/>
          <p:nvPr/>
        </p:nvSpPr>
        <p:spPr>
          <a:xfrm>
            <a:off x="7671816" y="4965192"/>
            <a:ext cx="3968496" cy="329184"/>
          </a:xfrm>
          <a:prstGeom prst="rect">
            <a:avLst/>
          </a:prstGeom>
          <a:noFill/>
          <a:ln/>
        </p:spPr>
        <p:txBody>
          <a:bodyPr wrap="square" lIns="0" tIns="0" rIns="0" bIns="0" rtlCol="0" anchor="t"/>
          <a:lstStyle/>
          <a:p>
            <a:pPr indent="0" marL="0">
              <a:buNone/>
            </a:pPr>
            <a:r>
              <a:rPr lang="ko-KR" altLang="en-US" sz="1600" b="1" dirty="0">
                <a:solidFill>
                  <a:schemeClr val="tx2"/>
                </a:solidFill>
              </a:rPr>
              <a:t>시간 손상 2일 복구</a:t>
            </a:r>
            <a:endParaRPr lang="ko-KR" sz="1600" dirty="0"/>
          </a:p>
        </p:txBody>
      </p:sp>
      <p:sp>
        <p:nvSpPr>
          <p:cNvPr id="20" name="text-90"/>
          <p:cNvSpPr txBox="1"/>
          <p:nvPr/>
        </p:nvSpPr>
        <p:spPr>
          <a:xfrm>
            <a:off x="7671816" y="5312664"/>
            <a:ext cx="3968496" cy="685800"/>
          </a:xfrm>
          <a:prstGeom prst="rect">
            <a:avLst/>
          </a:prstGeom>
          <a:noFill/>
          <a:ln/>
        </p:spPr>
        <p:txBody>
          <a:bodyPr wrap="square" lIns="0" tIns="0" rIns="0" bIns="0" rtlCol="0" anchor="t"/>
          <a:lstStyle/>
          <a:p>
            <a:pPr indent="0" marL="0">
              <a:buNone/>
            </a:pPr>
            <a:r>
              <a:rPr lang="ko-KR" altLang="en-US" sz="1400" dirty="0">
                <a:solidFill>
                  <a:schemeClr val="tx1"/>
                </a:solidFill>
              </a:rPr>
              <a:t>7/13·7/15의 시간 열을 원본 순서로 0 to 23시 복구했습니다.</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1  데이터 진단</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생산은 필요조건, 고온은 증폭 요인입니다</a:t>
            </a:r>
            <a:endParaRPr lang="ko-KR" sz="2800" dirty="0"/>
          </a:p>
        </p:txBody>
      </p:sp>
      <p:graphicFrame>
        <p:nvGraphicFramePr>
          <p:cNvPr id="4" name="chart-corr-flip" descr=""/>
          <p:cNvGraphicFramePr/>
          <p:nvPr/>
        </p:nvGraphicFramePr>
        <p:xfrm>
          <a:off x="548640" y="1600200"/>
          <a:ext cx="5760720" cy="4572000"/>
        </p:xfrm>
        <a:graphic xmlns:a="http://schemas.openxmlformats.org/drawingml/2006/main">
          <a:graphicData uri="http://schemas.openxmlformats.org/drawingml/2006/chart">
            <c:chart xmlns:c="http://schemas.openxmlformats.org/drawingml/2006/chart" r:id="rId1"/>
          </a:graphicData>
        </a:graphic>
      </p:graphicFrame>
      <p:sp>
        <p:nvSpPr>
          <p:cNvPr id="5" name="card-91"/>
          <p:cNvSpPr/>
          <p:nvPr/>
        </p:nvSpPr>
        <p:spPr>
          <a:xfrm>
            <a:off x="6583680" y="1691640"/>
            <a:ext cx="1508760" cy="1051560"/>
          </a:xfrm>
          <a:prstGeom prst="roundRect">
            <a:avLst>
              <a:gd name="adj" fmla="val 6957"/>
            </a:avLst>
          </a:prstGeom>
          <a:solidFill>
            <a:schemeClr val="accent1"/>
          </a:solidFill>
          <a:ln w="12700">
            <a:solidFill>
              <a:schemeClr val="accent1"/>
            </a:solidFill>
            <a:prstDash val="solid"/>
          </a:ln>
        </p:spPr>
      </p:sp>
      <p:sp>
        <p:nvSpPr>
          <p:cNvPr id="6" name="text-92"/>
          <p:cNvSpPr txBox="1"/>
          <p:nvPr/>
        </p:nvSpPr>
        <p:spPr>
          <a:xfrm>
            <a:off x="6583680" y="1801368"/>
            <a:ext cx="1508760" cy="411480"/>
          </a:xfrm>
          <a:prstGeom prst="rect">
            <a:avLst/>
          </a:prstGeom>
          <a:noFill/>
          <a:ln/>
        </p:spPr>
        <p:txBody>
          <a:bodyPr wrap="square" lIns="0" tIns="0" rIns="0" bIns="0" rtlCol="0" anchor="t"/>
          <a:lstStyle/>
          <a:p>
            <a:pPr algn="ctr" indent="0" marL="0">
              <a:buNone/>
            </a:pPr>
            <a:r>
              <a:rPr lang="ko-KR" altLang="en-US" sz="1800" b="1" dirty="0">
                <a:solidFill>
                  <a:schemeClr val="bg1"/>
                </a:solidFill>
              </a:rPr>
              <a:t>생산</a:t>
            </a:r>
            <a:endParaRPr lang="ko-KR" sz="1800" dirty="0"/>
          </a:p>
        </p:txBody>
      </p:sp>
      <p:sp>
        <p:nvSpPr>
          <p:cNvPr id="7" name="text-93"/>
          <p:cNvSpPr txBox="1"/>
          <p:nvPr/>
        </p:nvSpPr>
        <p:spPr>
          <a:xfrm>
            <a:off x="6583680" y="2240280"/>
            <a:ext cx="1508760" cy="320040"/>
          </a:xfrm>
          <a:prstGeom prst="rect">
            <a:avLst/>
          </a:prstGeom>
          <a:noFill/>
          <a:ln/>
        </p:spPr>
        <p:txBody>
          <a:bodyPr wrap="square" lIns="0" tIns="0" rIns="0" bIns="0" rtlCol="0" anchor="t"/>
          <a:lstStyle/>
          <a:p>
            <a:pPr algn="ctr" indent="0" marL="0">
              <a:buNone/>
            </a:pPr>
            <a:r>
              <a:rPr lang="ko-KR" altLang="en-US" sz="1200" dirty="0">
                <a:solidFill>
                  <a:schemeClr val="bg1"/>
                </a:solidFill>
              </a:rPr>
              <a:t>관문 (필요조건)</a:t>
            </a:r>
            <a:endParaRPr lang="ko-KR" sz="1200" dirty="0"/>
          </a:p>
        </p:txBody>
      </p:sp>
      <p:sp>
        <p:nvSpPr>
          <p:cNvPr id="8" name="arrow-94"/>
          <p:cNvSpPr/>
          <p:nvPr/>
        </p:nvSpPr>
        <p:spPr>
          <a:xfrm>
            <a:off x="8138160" y="2103120"/>
            <a:ext cx="182880" cy="237744"/>
          </a:xfrm>
          <a:prstGeom prst="rightArrow">
            <a:avLst/>
          </a:prstGeom>
          <a:solidFill>
            <a:schemeClr val="accent3"/>
          </a:solidFill>
          <a:ln w="12700">
            <a:solidFill>
              <a:schemeClr val="accent3"/>
            </a:solidFill>
            <a:prstDash val="solid"/>
          </a:ln>
        </p:spPr>
      </p:sp>
      <p:sp>
        <p:nvSpPr>
          <p:cNvPr id="9" name="card-95"/>
          <p:cNvSpPr/>
          <p:nvPr/>
        </p:nvSpPr>
        <p:spPr>
          <a:xfrm>
            <a:off x="8357616" y="1691640"/>
            <a:ext cx="1508760" cy="1051560"/>
          </a:xfrm>
          <a:prstGeom prst="roundRect">
            <a:avLst>
              <a:gd name="adj" fmla="val 6957"/>
            </a:avLst>
          </a:prstGeom>
          <a:solidFill>
            <a:schemeClr val="accent2"/>
          </a:solidFill>
          <a:ln w="12700">
            <a:solidFill>
              <a:schemeClr val="accent2"/>
            </a:solidFill>
            <a:prstDash val="solid"/>
          </a:ln>
        </p:spPr>
      </p:sp>
      <p:sp>
        <p:nvSpPr>
          <p:cNvPr id="10" name="text-96"/>
          <p:cNvSpPr txBox="1"/>
          <p:nvPr/>
        </p:nvSpPr>
        <p:spPr>
          <a:xfrm>
            <a:off x="8357616" y="1801368"/>
            <a:ext cx="1508760" cy="411480"/>
          </a:xfrm>
          <a:prstGeom prst="rect">
            <a:avLst/>
          </a:prstGeom>
          <a:noFill/>
          <a:ln/>
        </p:spPr>
        <p:txBody>
          <a:bodyPr wrap="square" lIns="0" tIns="0" rIns="0" bIns="0" rtlCol="0" anchor="t"/>
          <a:lstStyle/>
          <a:p>
            <a:pPr algn="ctr" indent="0" marL="0">
              <a:buNone/>
            </a:pPr>
            <a:r>
              <a:rPr lang="ko-KR" altLang="en-US" sz="1800" b="1" dirty="0">
                <a:solidFill>
                  <a:schemeClr val="bg1"/>
                </a:solidFill>
              </a:rPr>
              <a:t>고온</a:t>
            </a:r>
            <a:endParaRPr lang="ko-KR" sz="1800" dirty="0"/>
          </a:p>
        </p:txBody>
      </p:sp>
      <p:sp>
        <p:nvSpPr>
          <p:cNvPr id="11" name="text-97"/>
          <p:cNvSpPr txBox="1"/>
          <p:nvPr/>
        </p:nvSpPr>
        <p:spPr>
          <a:xfrm>
            <a:off x="8357616" y="2240280"/>
            <a:ext cx="1508760" cy="320040"/>
          </a:xfrm>
          <a:prstGeom prst="rect">
            <a:avLst/>
          </a:prstGeom>
          <a:noFill/>
          <a:ln/>
        </p:spPr>
        <p:txBody>
          <a:bodyPr wrap="square" lIns="0" tIns="0" rIns="0" bIns="0" rtlCol="0" anchor="t"/>
          <a:lstStyle/>
          <a:p>
            <a:pPr algn="ctr" indent="0" marL="0">
              <a:buNone/>
            </a:pPr>
            <a:r>
              <a:rPr lang="ko-KR" altLang="en-US" sz="1200" dirty="0">
                <a:solidFill>
                  <a:schemeClr val="bg1"/>
                </a:solidFill>
              </a:rPr>
              <a:t>증폭 요인</a:t>
            </a:r>
            <a:endParaRPr lang="ko-KR" sz="1200" dirty="0"/>
          </a:p>
        </p:txBody>
      </p:sp>
      <p:sp>
        <p:nvSpPr>
          <p:cNvPr id="12" name="arrow-98"/>
          <p:cNvSpPr/>
          <p:nvPr/>
        </p:nvSpPr>
        <p:spPr>
          <a:xfrm>
            <a:off x="9912096" y="2103120"/>
            <a:ext cx="182880" cy="237744"/>
          </a:xfrm>
          <a:prstGeom prst="rightArrow">
            <a:avLst/>
          </a:prstGeom>
          <a:solidFill>
            <a:schemeClr val="accent3"/>
          </a:solidFill>
          <a:ln w="12700">
            <a:solidFill>
              <a:schemeClr val="accent3"/>
            </a:solidFill>
            <a:prstDash val="solid"/>
          </a:ln>
        </p:spPr>
      </p:sp>
      <p:sp>
        <p:nvSpPr>
          <p:cNvPr id="13" name="card-99"/>
          <p:cNvSpPr/>
          <p:nvPr/>
        </p:nvSpPr>
        <p:spPr>
          <a:xfrm>
            <a:off x="10131552" y="1691640"/>
            <a:ext cx="1508760" cy="1051560"/>
          </a:xfrm>
          <a:prstGeom prst="roundRect">
            <a:avLst>
              <a:gd name="adj" fmla="val 6957"/>
            </a:avLst>
          </a:prstGeom>
          <a:solidFill>
            <a:schemeClr val="tx2"/>
          </a:solidFill>
          <a:ln w="12700">
            <a:solidFill>
              <a:schemeClr val="tx2"/>
            </a:solidFill>
            <a:prstDash val="solid"/>
          </a:ln>
        </p:spPr>
      </p:sp>
      <p:sp>
        <p:nvSpPr>
          <p:cNvPr id="14" name="text-100"/>
          <p:cNvSpPr txBox="1"/>
          <p:nvPr/>
        </p:nvSpPr>
        <p:spPr>
          <a:xfrm>
            <a:off x="10131552" y="1801368"/>
            <a:ext cx="1508760" cy="411480"/>
          </a:xfrm>
          <a:prstGeom prst="rect">
            <a:avLst/>
          </a:prstGeom>
          <a:noFill/>
          <a:ln/>
        </p:spPr>
        <p:txBody>
          <a:bodyPr wrap="square" lIns="0" tIns="0" rIns="0" bIns="0" rtlCol="0" anchor="t"/>
          <a:lstStyle/>
          <a:p>
            <a:pPr algn="ctr" indent="0" marL="0">
              <a:buNone/>
            </a:pPr>
            <a:r>
              <a:rPr lang="ko-KR" altLang="en-US" sz="1800" b="1" dirty="0">
                <a:solidFill>
                  <a:schemeClr val="bg1"/>
                </a:solidFill>
              </a:rPr>
              <a:t>최대 피크</a:t>
            </a:r>
            <a:endParaRPr lang="ko-KR" sz="1800" dirty="0"/>
          </a:p>
        </p:txBody>
      </p:sp>
      <p:sp>
        <p:nvSpPr>
          <p:cNvPr id="15" name="text-101"/>
          <p:cNvSpPr txBox="1"/>
          <p:nvPr/>
        </p:nvSpPr>
        <p:spPr>
          <a:xfrm>
            <a:off x="10131552" y="2240280"/>
            <a:ext cx="1508760" cy="320040"/>
          </a:xfrm>
          <a:prstGeom prst="rect">
            <a:avLst/>
          </a:prstGeom>
          <a:noFill/>
          <a:ln/>
        </p:spPr>
        <p:txBody>
          <a:bodyPr wrap="square" lIns="0" tIns="0" rIns="0" bIns="0" rtlCol="0" anchor="t"/>
          <a:lstStyle/>
          <a:p>
            <a:pPr algn="ctr" indent="0" marL="0">
              <a:buNone/>
            </a:pPr>
            <a:r>
              <a:rPr lang="ko-KR" altLang="en-US" sz="1200" dirty="0">
                <a:solidFill>
                  <a:schemeClr val="bg1"/>
                </a:solidFill>
              </a:rPr>
              <a:t>기본요금 결정</a:t>
            </a:r>
            <a:endParaRPr lang="ko-KR" sz="1200" dirty="0"/>
          </a:p>
        </p:txBody>
      </p:sp>
      <p:sp>
        <p:nvSpPr>
          <p:cNvPr id="16" name="text-102"/>
          <p:cNvSpPr txBox="1"/>
          <p:nvPr/>
        </p:nvSpPr>
        <p:spPr>
          <a:xfrm>
            <a:off x="6583680" y="2971800"/>
            <a:ext cx="5056632" cy="1371600"/>
          </a:xfrm>
          <a:prstGeom prst="rect">
            <a:avLst/>
          </a:prstGeom>
          <a:noFill/>
          <a:ln/>
        </p:spPr>
        <p:txBody>
          <a:bodyPr wrap="square" lIns="0" tIns="0" rIns="0" bIns="0" rtlCol="0" anchor="t"/>
          <a:lstStyle/>
          <a:p>
            <a:pPr indent="0" marL="0">
              <a:buNone/>
            </a:pPr>
            <a:r>
              <a:rPr lang="ko-KR" altLang="en-US" sz="1400" dirty="0">
                <a:solidFill>
                  <a:schemeClr val="tx1"/>
                </a:solidFill>
              </a:rPr>
              <a:t>가동일만 모으면 생산량의 변별력이 사라집니다 (0.85 → 0.094). 무관해서가 아니라, 이미 생산이라는 관문을 통과한 날만 남았기 때문입니다. 그 위에서 기온이 위험의 크기를 좌우합니다 (−0.003 → 0.366).</a:t>
            </a:r>
            <a:endParaRPr lang="ko-KR" sz="1400" dirty="0"/>
          </a:p>
        </p:txBody>
      </p:sp>
      <p:sp>
        <p:nvSpPr>
          <p:cNvPr id="17" name="card-103"/>
          <p:cNvSpPr/>
          <p:nvPr/>
        </p:nvSpPr>
        <p:spPr>
          <a:xfrm>
            <a:off x="6583680" y="4526280"/>
            <a:ext cx="5056632" cy="1645920"/>
          </a:xfrm>
          <a:prstGeom prst="roundRect">
            <a:avLst>
              <a:gd name="adj" fmla="val 4444"/>
            </a:avLst>
          </a:prstGeom>
          <a:solidFill>
            <a:schemeClr val="bg2"/>
          </a:solidFill>
          <a:ln w="12700">
            <a:solidFill>
              <a:schemeClr val="bg2"/>
            </a:solidFill>
            <a:prstDash val="solid"/>
          </a:ln>
        </p:spPr>
      </p:sp>
      <p:sp>
        <p:nvSpPr>
          <p:cNvPr id="18" name="text-104"/>
          <p:cNvSpPr txBox="1"/>
          <p:nvPr/>
        </p:nvSpPr>
        <p:spPr>
          <a:xfrm>
            <a:off x="6784848" y="4663440"/>
            <a:ext cx="4663440" cy="320040"/>
          </a:xfrm>
          <a:prstGeom prst="rect">
            <a:avLst/>
          </a:prstGeom>
          <a:noFill/>
          <a:ln/>
        </p:spPr>
        <p:txBody>
          <a:bodyPr wrap="square" lIns="0" tIns="0" rIns="0" bIns="0" rtlCol="0" anchor="t"/>
          <a:lstStyle/>
          <a:p>
            <a:pPr indent="0" marL="0">
              <a:buNone/>
            </a:pPr>
            <a:r>
              <a:rPr lang="ko-KR" altLang="en-US" sz="1500" b="1" dirty="0">
                <a:solidFill>
                  <a:schemeClr val="tx2"/>
                </a:solidFill>
              </a:rPr>
              <a:t>임계값을 바꿔도 같은 결론</a:t>
            </a:r>
            <a:endParaRPr lang="ko-KR" sz="1500" dirty="0"/>
          </a:p>
        </p:txBody>
      </p:sp>
      <p:sp>
        <p:nvSpPr>
          <p:cNvPr id="19" name="text-105"/>
          <p:cNvSpPr txBox="1"/>
          <p:nvPr/>
        </p:nvSpPr>
        <p:spPr>
          <a:xfrm>
            <a:off x="6784848" y="5029200"/>
            <a:ext cx="4663440" cy="1051560"/>
          </a:xfrm>
          <a:prstGeom prst="rect">
            <a:avLst/>
          </a:prstGeom>
          <a:noFill/>
          <a:ln/>
        </p:spPr>
        <p:txBody>
          <a:bodyPr wrap="square" lIns="0" tIns="0" rIns="0" bIns="0" rtlCol="0" anchor="t"/>
          <a:lstStyle/>
          <a:p>
            <a:pPr marL="203200" indent="-203200">
              <a:spcAft>
                <a:spcPts val="200"/>
              </a:spcAft>
              <a:buSzPct val="100000"/>
              <a:buChar char="•"/>
            </a:pPr>
            <a:r>
              <a:rPr lang="ko-KR" altLang="en-US" sz="1400" dirty="0">
                <a:solidFill>
                  <a:schemeClr val="tx1"/>
                </a:solidFill>
              </a:rPr>
              <a:t>가동일 기준 0 → 상관 0.73 (부분 가동일 포함)</a:t>
            </a:r>
            <a:endParaRPr lang="ko-KR" sz="1400" dirty="0"/>
          </a:p>
          <a:p>
            <a:pPr marL="203200" indent="-203200">
              <a:spcAft>
                <a:spcPts val="200"/>
              </a:spcAft>
              <a:buSzPct val="100000"/>
              <a:buChar char="•"/>
            </a:pPr>
            <a:r>
              <a:rPr lang="ko-KR" altLang="en-US" sz="1400" dirty="0">
                <a:solidFill>
                  <a:schemeClr val="tx1"/>
                </a:solidFill>
              </a:rPr>
              <a:t>10,000 · 15,000 → 0.08 수준 유지</a:t>
            </a:r>
            <a:endParaRPr lang="ko-KR" sz="1400" dirty="0"/>
          </a:p>
          <a:p>
            <a:pPr marL="203200" indent="-203200">
              <a:spcAft>
                <a:spcPts val="200"/>
              </a:spcAft>
              <a:buSzPct val="100000"/>
              <a:buChar char="•"/>
            </a:pPr>
            <a:r>
              <a:rPr lang="ko-KR" altLang="en-US" sz="1400" dirty="0">
                <a:solidFill>
                  <a:schemeClr val="tx1"/>
                </a:solidFill>
              </a:rPr>
              <a:t>수치 근거는 4장 기온 × 생산 교차표</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2  예측 모델</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개선과 우연을 구분하는 평가 규칙부터 고정했습니다</a:t>
            </a:r>
            <a:endParaRPr lang="ko-KR" sz="2800" dirty="0"/>
          </a:p>
        </p:txBody>
      </p:sp>
      <p:sp>
        <p:nvSpPr>
          <p:cNvPr id="4" name="card-106"/>
          <p:cNvSpPr/>
          <p:nvPr/>
        </p:nvSpPr>
        <p:spPr>
          <a:xfrm>
            <a:off x="548640" y="1645920"/>
            <a:ext cx="3108960" cy="2148840"/>
          </a:xfrm>
          <a:prstGeom prst="roundRect">
            <a:avLst>
              <a:gd name="adj" fmla="val 3404"/>
            </a:avLst>
          </a:prstGeom>
          <a:solidFill>
            <a:schemeClr val="bg2"/>
          </a:solidFill>
          <a:ln w="12700">
            <a:solidFill>
              <a:schemeClr val="bg2"/>
            </a:solidFill>
            <a:prstDash val="solid"/>
          </a:ln>
        </p:spPr>
      </p:sp>
      <p:sp>
        <p:nvSpPr>
          <p:cNvPr id="5" name="icon-bg-107"/>
          <p:cNvSpPr/>
          <p:nvPr/>
        </p:nvSpPr>
        <p:spPr>
          <a:xfrm>
            <a:off x="777240" y="1874520"/>
            <a:ext cx="530352" cy="530352"/>
          </a:xfrm>
          <a:prstGeom prst="ellipse">
            <a:avLst/>
          </a:prstGeom>
          <a:solidFill>
            <a:schemeClr val="accent1"/>
          </a:solidFill>
          <a:ln w="12700">
            <a:solidFill>
              <a:schemeClr val="accent1"/>
            </a:solidFill>
            <a:prstDash val="solid"/>
          </a:ln>
        </p:spPr>
      </p:sp>
      <p:pic>
        <p:nvPicPr>
          <p:cNvPr id="6" name="icon-108" descr="preencoded.png">    </p:cNvPr>
          <p:cNvPicPr>
            <a:picLocks noChangeAspect="1"/>
          </p:cNvPicPr>
          <p:nvPr/>
        </p:nvPicPr>
        <p:blipFill>
          <a:blip r:embed="rId1"/>
          <a:stretch>
            <a:fillRect/>
          </a:stretch>
        </p:blipFill>
        <p:spPr>
          <a:xfrm>
            <a:off x="915132" y="2012412"/>
            <a:ext cx="254569" cy="254569"/>
          </a:xfrm>
          <a:prstGeom prst="rect">
            <a:avLst/>
          </a:prstGeom>
        </p:spPr>
      </p:pic>
      <p:sp>
        <p:nvSpPr>
          <p:cNvPr id="7" name="text-109"/>
          <p:cNvSpPr txBox="1"/>
          <p:nvPr/>
        </p:nvSpPr>
        <p:spPr>
          <a:xfrm>
            <a:off x="777240" y="2542032"/>
            <a:ext cx="2697480" cy="329184"/>
          </a:xfrm>
          <a:prstGeom prst="rect">
            <a:avLst/>
          </a:prstGeom>
          <a:noFill/>
          <a:ln/>
        </p:spPr>
        <p:txBody>
          <a:bodyPr wrap="square" lIns="0" tIns="0" rIns="0" bIns="0" rtlCol="0" anchor="t"/>
          <a:lstStyle/>
          <a:p>
            <a:pPr indent="0" marL="0">
              <a:buNone/>
            </a:pPr>
            <a:r>
              <a:rPr lang="ko-KR" altLang="en-US" sz="1600" b="1" dirty="0">
                <a:solidFill>
                  <a:schemeClr val="tx2"/>
                </a:solidFill>
              </a:rPr>
              <a:t>평가셋 고정</a:t>
            </a:r>
            <a:endParaRPr lang="ko-KR" sz="1600" dirty="0"/>
          </a:p>
        </p:txBody>
      </p:sp>
      <p:sp>
        <p:nvSpPr>
          <p:cNvPr id="8" name="text-110"/>
          <p:cNvSpPr txBox="1"/>
          <p:nvPr/>
        </p:nvSpPr>
        <p:spPr>
          <a:xfrm>
            <a:off x="777240" y="2907792"/>
            <a:ext cx="2697480" cy="822960"/>
          </a:xfrm>
          <a:prstGeom prst="rect">
            <a:avLst/>
          </a:prstGeom>
          <a:noFill/>
          <a:ln/>
        </p:spPr>
        <p:txBody>
          <a:bodyPr wrap="square" lIns="0" tIns="0" rIns="0" bIns="0" rtlCol="0" anchor="t"/>
          <a:lstStyle/>
          <a:p>
            <a:pPr indent="0" marL="0">
              <a:buNone/>
            </a:pPr>
            <a:r>
              <a:rPr lang="ko-KR" altLang="en-US" sz="1400" dirty="0">
                <a:solidFill>
                  <a:schemeClr val="tx1"/>
                </a:solidFill>
              </a:rPr>
              <a:t>고유일 2,092행 (5 to 9월), 판단 기준은 7 to 9월 1,708행. 모든 실험에서 같습니다.</a:t>
            </a:r>
            <a:endParaRPr lang="ko-KR" sz="1400" dirty="0"/>
          </a:p>
        </p:txBody>
      </p:sp>
      <p:sp>
        <p:nvSpPr>
          <p:cNvPr id="9" name="card-111"/>
          <p:cNvSpPr/>
          <p:nvPr/>
        </p:nvSpPr>
        <p:spPr>
          <a:xfrm>
            <a:off x="3886200" y="1645920"/>
            <a:ext cx="3108960" cy="2148840"/>
          </a:xfrm>
          <a:prstGeom prst="roundRect">
            <a:avLst>
              <a:gd name="adj" fmla="val 3404"/>
            </a:avLst>
          </a:prstGeom>
          <a:solidFill>
            <a:schemeClr val="bg2"/>
          </a:solidFill>
          <a:ln w="12700">
            <a:solidFill>
              <a:schemeClr val="bg2"/>
            </a:solidFill>
            <a:prstDash val="solid"/>
          </a:ln>
        </p:spPr>
      </p:sp>
      <p:sp>
        <p:nvSpPr>
          <p:cNvPr id="10" name="icon-bg-112"/>
          <p:cNvSpPr/>
          <p:nvPr/>
        </p:nvSpPr>
        <p:spPr>
          <a:xfrm>
            <a:off x="4114800" y="1874520"/>
            <a:ext cx="530352" cy="530352"/>
          </a:xfrm>
          <a:prstGeom prst="ellipse">
            <a:avLst/>
          </a:prstGeom>
          <a:solidFill>
            <a:schemeClr val="accent1"/>
          </a:solidFill>
          <a:ln w="12700">
            <a:solidFill>
              <a:schemeClr val="accent1"/>
            </a:solidFill>
            <a:prstDash val="solid"/>
          </a:ln>
        </p:spPr>
      </p:sp>
      <p:pic>
        <p:nvPicPr>
          <p:cNvPr id="11" name="icon-113" descr="preencoded.png">    </p:cNvPr>
          <p:cNvPicPr>
            <a:picLocks noChangeAspect="1"/>
          </p:cNvPicPr>
          <p:nvPr/>
        </p:nvPicPr>
        <p:blipFill>
          <a:blip r:embed="rId2"/>
          <a:stretch>
            <a:fillRect/>
          </a:stretch>
        </p:blipFill>
        <p:spPr>
          <a:xfrm>
            <a:off x="4252692" y="2012412"/>
            <a:ext cx="254569" cy="254569"/>
          </a:xfrm>
          <a:prstGeom prst="rect">
            <a:avLst/>
          </a:prstGeom>
        </p:spPr>
      </p:pic>
      <p:sp>
        <p:nvSpPr>
          <p:cNvPr id="12" name="text-114"/>
          <p:cNvSpPr txBox="1"/>
          <p:nvPr/>
        </p:nvSpPr>
        <p:spPr>
          <a:xfrm>
            <a:off x="4114800" y="2542032"/>
            <a:ext cx="2697480" cy="329184"/>
          </a:xfrm>
          <a:prstGeom prst="rect">
            <a:avLst/>
          </a:prstGeom>
          <a:noFill/>
          <a:ln/>
        </p:spPr>
        <p:txBody>
          <a:bodyPr wrap="square" lIns="0" tIns="0" rIns="0" bIns="0" rtlCol="0" anchor="t"/>
          <a:lstStyle/>
          <a:p>
            <a:pPr indent="0" marL="0">
              <a:buNone/>
            </a:pPr>
            <a:r>
              <a:rPr lang="ko-KR" altLang="en-US" sz="1600" b="1" dirty="0">
                <a:solidFill>
                  <a:schemeClr val="tx2"/>
                </a:solidFill>
              </a:rPr>
              <a:t>시간순 롤링 폴드</a:t>
            </a:r>
            <a:endParaRPr lang="ko-KR" sz="1600" dirty="0"/>
          </a:p>
        </p:txBody>
      </p:sp>
      <p:sp>
        <p:nvSpPr>
          <p:cNvPr id="13" name="text-115"/>
          <p:cNvSpPr txBox="1"/>
          <p:nvPr/>
        </p:nvSpPr>
        <p:spPr>
          <a:xfrm>
            <a:off x="4114800" y="2907792"/>
            <a:ext cx="2697480" cy="822960"/>
          </a:xfrm>
          <a:prstGeom prst="rect">
            <a:avLst/>
          </a:prstGeom>
          <a:noFill/>
          <a:ln/>
        </p:spPr>
        <p:txBody>
          <a:bodyPr wrap="square" lIns="0" tIns="0" rIns="0" bIns="0" rtlCol="0" anchor="t"/>
          <a:lstStyle/>
          <a:p>
            <a:pPr indent="0" marL="0">
              <a:buNone/>
            </a:pPr>
            <a:r>
              <a:rPr lang="ko-KR" altLang="en-US" sz="1400" dirty="0">
                <a:solidFill>
                  <a:schemeClr val="tx1"/>
                </a:solidFill>
              </a:rPr>
              <a:t>과거로 학습해 미래를 예측합니다. 데이터를 섞지 않습니다.</a:t>
            </a:r>
            <a:endParaRPr lang="ko-KR" sz="1400" dirty="0"/>
          </a:p>
        </p:txBody>
      </p:sp>
      <p:sp>
        <p:nvSpPr>
          <p:cNvPr id="14" name="card-116"/>
          <p:cNvSpPr/>
          <p:nvPr/>
        </p:nvSpPr>
        <p:spPr>
          <a:xfrm>
            <a:off x="548640" y="4023360"/>
            <a:ext cx="3108960" cy="2148840"/>
          </a:xfrm>
          <a:prstGeom prst="roundRect">
            <a:avLst>
              <a:gd name="adj" fmla="val 3404"/>
            </a:avLst>
          </a:prstGeom>
          <a:solidFill>
            <a:schemeClr val="bg2"/>
          </a:solidFill>
          <a:ln w="12700">
            <a:solidFill>
              <a:schemeClr val="bg2"/>
            </a:solidFill>
            <a:prstDash val="solid"/>
          </a:ln>
        </p:spPr>
      </p:sp>
      <p:sp>
        <p:nvSpPr>
          <p:cNvPr id="15" name="icon-bg-117"/>
          <p:cNvSpPr/>
          <p:nvPr/>
        </p:nvSpPr>
        <p:spPr>
          <a:xfrm>
            <a:off x="777240" y="4251960"/>
            <a:ext cx="530352" cy="530352"/>
          </a:xfrm>
          <a:prstGeom prst="ellipse">
            <a:avLst/>
          </a:prstGeom>
          <a:solidFill>
            <a:schemeClr val="accent1"/>
          </a:solidFill>
          <a:ln w="12700">
            <a:solidFill>
              <a:schemeClr val="accent1"/>
            </a:solidFill>
            <a:prstDash val="solid"/>
          </a:ln>
        </p:spPr>
      </p:sp>
      <p:pic>
        <p:nvPicPr>
          <p:cNvPr id="16" name="icon-118" descr="preencoded.png">    </p:cNvPr>
          <p:cNvPicPr>
            <a:picLocks noChangeAspect="1"/>
          </p:cNvPicPr>
          <p:nvPr/>
        </p:nvPicPr>
        <p:blipFill>
          <a:blip r:embed="rId3"/>
          <a:stretch>
            <a:fillRect/>
          </a:stretch>
        </p:blipFill>
        <p:spPr>
          <a:xfrm>
            <a:off x="915132" y="4389852"/>
            <a:ext cx="254569" cy="254569"/>
          </a:xfrm>
          <a:prstGeom prst="rect">
            <a:avLst/>
          </a:prstGeom>
        </p:spPr>
      </p:pic>
      <p:sp>
        <p:nvSpPr>
          <p:cNvPr id="17" name="text-119"/>
          <p:cNvSpPr txBox="1"/>
          <p:nvPr/>
        </p:nvSpPr>
        <p:spPr>
          <a:xfrm>
            <a:off x="777240" y="4919472"/>
            <a:ext cx="2697480" cy="329184"/>
          </a:xfrm>
          <a:prstGeom prst="rect">
            <a:avLst/>
          </a:prstGeom>
          <a:noFill/>
          <a:ln/>
        </p:spPr>
        <p:txBody>
          <a:bodyPr wrap="square" lIns="0" tIns="0" rIns="0" bIns="0" rtlCol="0" anchor="t"/>
          <a:lstStyle/>
          <a:p>
            <a:pPr indent="0" marL="0">
              <a:buNone/>
            </a:pPr>
            <a:r>
              <a:rPr lang="ko-KR" altLang="en-US" sz="1600" b="1" dirty="0">
                <a:solidFill>
                  <a:schemeClr val="tx2"/>
                </a:solidFill>
              </a:rPr>
              <a:t>시드 3개 반복</a:t>
            </a:r>
            <a:endParaRPr lang="ko-KR" sz="1600" dirty="0"/>
          </a:p>
        </p:txBody>
      </p:sp>
      <p:sp>
        <p:nvSpPr>
          <p:cNvPr id="18" name="text-120"/>
          <p:cNvSpPr txBox="1"/>
          <p:nvPr/>
        </p:nvSpPr>
        <p:spPr>
          <a:xfrm>
            <a:off x="777240" y="5285232"/>
            <a:ext cx="2697480" cy="822960"/>
          </a:xfrm>
          <a:prstGeom prst="rect">
            <a:avLst/>
          </a:prstGeom>
          <a:noFill/>
          <a:ln/>
        </p:spPr>
        <p:txBody>
          <a:bodyPr wrap="square" lIns="0" tIns="0" rIns="0" bIns="0" rtlCol="0" anchor="t"/>
          <a:lstStyle/>
          <a:p>
            <a:pPr indent="0" marL="0">
              <a:buNone/>
            </a:pPr>
            <a:r>
              <a:rPr lang="ko-KR" altLang="en-US" sz="1400" dirty="0">
                <a:solidFill>
                  <a:schemeClr val="tx1"/>
                </a:solidFill>
              </a:rPr>
              <a:t>설정 간 차이가 시드 표준편차보다 작으면 개선으로 보지 않습니다.</a:t>
            </a:r>
            <a:endParaRPr lang="ko-KR" sz="1400" dirty="0"/>
          </a:p>
        </p:txBody>
      </p:sp>
      <p:sp>
        <p:nvSpPr>
          <p:cNvPr id="19" name="card-121"/>
          <p:cNvSpPr/>
          <p:nvPr/>
        </p:nvSpPr>
        <p:spPr>
          <a:xfrm>
            <a:off x="3886200" y="4023360"/>
            <a:ext cx="3108960" cy="2148840"/>
          </a:xfrm>
          <a:prstGeom prst="roundRect">
            <a:avLst>
              <a:gd name="adj" fmla="val 3404"/>
            </a:avLst>
          </a:prstGeom>
          <a:solidFill>
            <a:schemeClr val="bg2"/>
          </a:solidFill>
          <a:ln w="12700">
            <a:solidFill>
              <a:schemeClr val="bg2"/>
            </a:solidFill>
            <a:prstDash val="solid"/>
          </a:ln>
        </p:spPr>
      </p:sp>
      <p:sp>
        <p:nvSpPr>
          <p:cNvPr id="20" name="icon-bg-122"/>
          <p:cNvSpPr/>
          <p:nvPr/>
        </p:nvSpPr>
        <p:spPr>
          <a:xfrm>
            <a:off x="4114800" y="4251960"/>
            <a:ext cx="530352" cy="530352"/>
          </a:xfrm>
          <a:prstGeom prst="ellipse">
            <a:avLst/>
          </a:prstGeom>
          <a:solidFill>
            <a:schemeClr val="accent1"/>
          </a:solidFill>
          <a:ln w="12700">
            <a:solidFill>
              <a:schemeClr val="accent1"/>
            </a:solidFill>
            <a:prstDash val="solid"/>
          </a:ln>
        </p:spPr>
      </p:sp>
      <p:pic>
        <p:nvPicPr>
          <p:cNvPr id="21" name="icon-123" descr="preencoded.png">    </p:cNvPr>
          <p:cNvPicPr>
            <a:picLocks noChangeAspect="1"/>
          </p:cNvPicPr>
          <p:nvPr/>
        </p:nvPicPr>
        <p:blipFill>
          <a:blip r:embed="rId4"/>
          <a:stretch>
            <a:fillRect/>
          </a:stretch>
        </p:blipFill>
        <p:spPr>
          <a:xfrm>
            <a:off x="4252692" y="4389852"/>
            <a:ext cx="254569" cy="254569"/>
          </a:xfrm>
          <a:prstGeom prst="rect">
            <a:avLst/>
          </a:prstGeom>
        </p:spPr>
      </p:pic>
      <p:sp>
        <p:nvSpPr>
          <p:cNvPr id="22" name="text-124"/>
          <p:cNvSpPr txBox="1"/>
          <p:nvPr/>
        </p:nvSpPr>
        <p:spPr>
          <a:xfrm>
            <a:off x="4114800" y="4919472"/>
            <a:ext cx="2697480" cy="329184"/>
          </a:xfrm>
          <a:prstGeom prst="rect">
            <a:avLst/>
          </a:prstGeom>
          <a:noFill/>
          <a:ln/>
        </p:spPr>
        <p:txBody>
          <a:bodyPr wrap="square" lIns="0" tIns="0" rIns="0" bIns="0" rtlCol="0" anchor="t"/>
          <a:lstStyle/>
          <a:p>
            <a:pPr indent="0" marL="0">
              <a:buNone/>
            </a:pPr>
            <a:r>
              <a:rPr lang="ko-KR" altLang="en-US" sz="1600" b="1" dirty="0">
                <a:solidFill>
                  <a:schemeClr val="tx2"/>
                </a:solidFill>
              </a:rPr>
              <a:t>단일 평가 모듈</a:t>
            </a:r>
            <a:endParaRPr lang="ko-KR" sz="1600" dirty="0"/>
          </a:p>
        </p:txBody>
      </p:sp>
      <p:sp>
        <p:nvSpPr>
          <p:cNvPr id="23" name="text-125"/>
          <p:cNvSpPr txBox="1"/>
          <p:nvPr/>
        </p:nvSpPr>
        <p:spPr>
          <a:xfrm>
            <a:off x="4114800" y="5285232"/>
            <a:ext cx="2697480" cy="822960"/>
          </a:xfrm>
          <a:prstGeom prst="rect">
            <a:avLst/>
          </a:prstGeom>
          <a:noFill/>
          <a:ln/>
        </p:spPr>
        <p:txBody>
          <a:bodyPr wrap="square" lIns="0" tIns="0" rIns="0" bIns="0" rtlCol="0" anchor="t"/>
          <a:lstStyle/>
          <a:p>
            <a:pPr indent="0" marL="0">
              <a:buNone/>
            </a:pPr>
            <a:r>
              <a:rPr lang="ko-KR" altLang="en-US" sz="1400" dirty="0">
                <a:solidFill>
                  <a:schemeClr val="tx1"/>
                </a:solidFill>
              </a:rPr>
              <a:t>55개 설정 (비교 24 + 약점 공략 31)이 같은 기준을 호출합니다.</a:t>
            </a:r>
            <a:endParaRPr lang="ko-KR" sz="1400" dirty="0"/>
          </a:p>
        </p:txBody>
      </p:sp>
      <p:graphicFrame>
        <p:nvGraphicFramePr>
          <p:cNvPr id="24" name="chart-baselines" descr=""/>
          <p:cNvGraphicFramePr/>
          <p:nvPr/>
        </p:nvGraphicFramePr>
        <p:xfrm>
          <a:off x="7269480" y="1600200"/>
          <a:ext cx="4370832" cy="3063240"/>
        </p:xfrm>
        <a:graphic xmlns:a="http://schemas.openxmlformats.org/drawingml/2006/main">
          <a:graphicData uri="http://schemas.openxmlformats.org/drawingml/2006/chart">
            <c:chart xmlns:c="http://schemas.openxmlformats.org/drawingml/2006/chart" r:id="rId5"/>
          </a:graphicData>
        </a:graphic>
      </p:graphicFrame>
      <p:sp>
        <p:nvSpPr>
          <p:cNvPr id="25" name="card-126"/>
          <p:cNvSpPr/>
          <p:nvPr/>
        </p:nvSpPr>
        <p:spPr>
          <a:xfrm>
            <a:off x="7269480" y="4846320"/>
            <a:ext cx="4370832" cy="1325880"/>
          </a:xfrm>
          <a:prstGeom prst="roundRect">
            <a:avLst>
              <a:gd name="adj" fmla="val 5517"/>
            </a:avLst>
          </a:prstGeom>
          <a:solidFill>
            <a:schemeClr val="tx2"/>
          </a:solidFill>
          <a:ln w="12700">
            <a:solidFill>
              <a:schemeClr val="tx2"/>
            </a:solidFill>
            <a:prstDash val="solid"/>
          </a:ln>
        </p:spPr>
      </p:sp>
      <p:sp>
        <p:nvSpPr>
          <p:cNvPr id="26" name="text-127"/>
          <p:cNvSpPr txBox="1"/>
          <p:nvPr/>
        </p:nvSpPr>
        <p:spPr>
          <a:xfrm>
            <a:off x="7498080" y="4983480"/>
            <a:ext cx="3931920" cy="320040"/>
          </a:xfrm>
          <a:prstGeom prst="rect">
            <a:avLst/>
          </a:prstGeom>
          <a:noFill/>
          <a:ln/>
        </p:spPr>
        <p:txBody>
          <a:bodyPr wrap="square" lIns="0" tIns="0" rIns="0" bIns="0" rtlCol="0" anchor="t"/>
          <a:lstStyle/>
          <a:p>
            <a:pPr indent="0" marL="0">
              <a:buNone/>
            </a:pPr>
            <a:r>
              <a:rPr lang="ko-KR" altLang="en-US" sz="1400" b="1" dirty="0">
                <a:solidFill>
                  <a:schemeClr val="accent5"/>
                </a:solidFill>
              </a:rPr>
              <a:t>목표선 = 단순 규칙의 지표별 최저값</a:t>
            </a:r>
            <a:endParaRPr lang="ko-KR" sz="1400" dirty="0"/>
          </a:p>
        </p:txBody>
      </p:sp>
      <p:sp>
        <p:nvSpPr>
          <p:cNvPr id="27" name="text-128"/>
          <p:cNvSpPr txBox="1"/>
          <p:nvPr/>
        </p:nvSpPr>
        <p:spPr>
          <a:xfrm>
            <a:off x="7498080" y="5376672"/>
            <a:ext cx="4023360" cy="548640"/>
          </a:xfrm>
          <a:prstGeom prst="rect">
            <a:avLst/>
          </a:prstGeom>
          <a:noFill/>
          <a:ln/>
        </p:spPr>
        <p:txBody>
          <a:bodyPr wrap="square" lIns="0" tIns="0" rIns="0" bIns="0" rtlCol="0" anchor="ctr"/>
          <a:lstStyle/>
          <a:p>
            <a:pPr indent="0" marL="0">
              <a:buNone/>
            </a:pPr>
            <a:r>
              <a:rPr lang="ko-KR" altLang="en-US" sz="1600" b="1" dirty="0">
                <a:solidFill>
                  <a:schemeClr val="bg1"/>
                </a:solidFill>
              </a:rPr>
              <a:t>MAE 22.9 · RMSE 35.1 · 피크 MAE 35.7</a:t>
            </a:r>
            <a:endParaRPr lang="ko-KR" sz="1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2  예측 모델</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어제 데이터는 빼고, 복제일은 가볍게 학습했습니다</a:t>
            </a:r>
            <a:endParaRPr lang="ko-KR" sz="2800" dirty="0"/>
          </a:p>
        </p:txBody>
      </p:sp>
      <p:sp>
        <p:nvSpPr>
          <p:cNvPr id="4" name="text-129"/>
          <p:cNvSpPr txBox="1"/>
          <p:nvPr/>
        </p:nvSpPr>
        <p:spPr>
          <a:xfrm>
            <a:off x="548640" y="1645920"/>
            <a:ext cx="5303520" cy="365760"/>
          </a:xfrm>
          <a:prstGeom prst="rect">
            <a:avLst/>
          </a:prstGeom>
          <a:noFill/>
          <a:ln/>
        </p:spPr>
        <p:txBody>
          <a:bodyPr wrap="square" lIns="0" tIns="0" rIns="0" bIns="0" rtlCol="0" anchor="t"/>
          <a:lstStyle/>
          <a:p>
            <a:pPr indent="0" marL="0">
              <a:buNone/>
            </a:pPr>
            <a:r>
              <a:rPr lang="ko-KR" altLang="en-US" sz="1800" b="1" dirty="0">
                <a:solidFill>
                  <a:schemeClr val="tx2"/>
                </a:solidFill>
              </a:rPr>
              <a:t>① 어제보다 지난주가 닮았다</a:t>
            </a:r>
            <a:endParaRPr lang="ko-KR" sz="1800" dirty="0"/>
          </a:p>
        </p:txBody>
      </p:sp>
      <p:sp>
        <p:nvSpPr>
          <p:cNvPr id="5" name="card-130"/>
          <p:cNvSpPr/>
          <p:nvPr/>
        </p:nvSpPr>
        <p:spPr>
          <a:xfrm>
            <a:off x="548640" y="2148840"/>
            <a:ext cx="2560320" cy="1737360"/>
          </a:xfrm>
          <a:prstGeom prst="roundRect">
            <a:avLst>
              <a:gd name="adj" fmla="val 4211"/>
            </a:avLst>
          </a:prstGeom>
          <a:solidFill>
            <a:schemeClr val="bg2"/>
          </a:solidFill>
          <a:ln w="12700">
            <a:solidFill>
              <a:schemeClr val="bg2"/>
            </a:solidFill>
            <a:prstDash val="solid"/>
          </a:ln>
        </p:spPr>
      </p:sp>
      <p:sp>
        <p:nvSpPr>
          <p:cNvPr id="6" name="card-131"/>
          <p:cNvSpPr/>
          <p:nvPr/>
        </p:nvSpPr>
        <p:spPr>
          <a:xfrm>
            <a:off x="3291840" y="2148840"/>
            <a:ext cx="2560320" cy="1737360"/>
          </a:xfrm>
          <a:prstGeom prst="roundRect">
            <a:avLst>
              <a:gd name="adj" fmla="val 4211"/>
            </a:avLst>
          </a:prstGeom>
          <a:solidFill>
            <a:schemeClr val="bg2"/>
          </a:solidFill>
          <a:ln w="12700">
            <a:solidFill>
              <a:schemeClr val="bg2"/>
            </a:solidFill>
            <a:prstDash val="solid"/>
          </a:ln>
        </p:spPr>
      </p:sp>
      <p:sp>
        <p:nvSpPr>
          <p:cNvPr id="7" name="text-132"/>
          <p:cNvSpPr txBox="1"/>
          <p:nvPr/>
        </p:nvSpPr>
        <p:spPr>
          <a:xfrm>
            <a:off x="731520" y="2286000"/>
            <a:ext cx="2194560" cy="274320"/>
          </a:xfrm>
          <a:prstGeom prst="rect">
            <a:avLst/>
          </a:prstGeom>
          <a:noFill/>
          <a:ln/>
        </p:spPr>
        <p:txBody>
          <a:bodyPr wrap="square" lIns="0" tIns="0" rIns="0" bIns="0" rtlCol="0" anchor="t"/>
          <a:lstStyle/>
          <a:p>
            <a:pPr indent="0" marL="0">
              <a:buNone/>
            </a:pPr>
            <a:r>
              <a:rPr lang="ko-KR" altLang="en-US" sz="1300" dirty="0">
                <a:solidFill>
                  <a:schemeClr val="tx1"/>
                </a:solidFill>
              </a:rPr>
              <a:t>어제(금)로 토요일 예측</a:t>
            </a:r>
            <a:endParaRPr lang="ko-KR" sz="1300" dirty="0"/>
          </a:p>
        </p:txBody>
      </p:sp>
      <p:sp>
        <p:nvSpPr>
          <p:cNvPr id="8" name="text-133"/>
          <p:cNvSpPr txBox="1"/>
          <p:nvPr/>
        </p:nvSpPr>
        <p:spPr>
          <a:xfrm>
            <a:off x="731520" y="2606040"/>
            <a:ext cx="2194560" cy="731520"/>
          </a:xfrm>
          <a:prstGeom prst="rect">
            <a:avLst/>
          </a:prstGeom>
          <a:noFill/>
          <a:ln/>
        </p:spPr>
        <p:txBody>
          <a:bodyPr wrap="square" lIns="0" tIns="0" rIns="0" bIns="0" rtlCol="0" anchor="ctr"/>
          <a:lstStyle/>
          <a:p>
            <a:pPr indent="0" marL="0">
              <a:buNone/>
            </a:pPr>
            <a:r>
              <a:rPr lang="ko-KR" altLang="en-US" sz="4000" b="1" dirty="0">
                <a:solidFill>
                  <a:schemeClr val="accent4"/>
                </a:solidFill>
              </a:rPr>
              <a:t>82.8</a:t>
            </a:r>
            <a:endParaRPr lang="ko-KR" sz="4000" dirty="0"/>
          </a:p>
        </p:txBody>
      </p:sp>
      <p:sp>
        <p:nvSpPr>
          <p:cNvPr id="9" name="text-134"/>
          <p:cNvSpPr txBox="1"/>
          <p:nvPr/>
        </p:nvSpPr>
        <p:spPr>
          <a:xfrm>
            <a:off x="731520" y="3383280"/>
            <a:ext cx="2194560" cy="274320"/>
          </a:xfrm>
          <a:prstGeom prst="rect">
            <a:avLst/>
          </a:prstGeom>
          <a:noFill/>
          <a:ln/>
        </p:spPr>
        <p:txBody>
          <a:bodyPr wrap="square" lIns="0" tIns="0" rIns="0" bIns="0" rtlCol="0" anchor="t"/>
          <a:lstStyle/>
          <a:p>
            <a:pPr indent="0" marL="0">
              <a:buNone/>
            </a:pPr>
            <a:r>
              <a:rPr lang="ko-KR" altLang="en-US" sz="1300" dirty="0">
                <a:solidFill>
                  <a:schemeClr val="tx1"/>
                </a:solidFill>
              </a:rPr>
              <a:t>오차</a:t>
            </a:r>
            <a:endParaRPr lang="ko-KR" sz="1300" dirty="0"/>
          </a:p>
        </p:txBody>
      </p:sp>
      <p:sp>
        <p:nvSpPr>
          <p:cNvPr id="10" name="text-135"/>
          <p:cNvSpPr txBox="1"/>
          <p:nvPr/>
        </p:nvSpPr>
        <p:spPr>
          <a:xfrm>
            <a:off x="3474720" y="2286000"/>
            <a:ext cx="2194560" cy="274320"/>
          </a:xfrm>
          <a:prstGeom prst="rect">
            <a:avLst/>
          </a:prstGeom>
          <a:noFill/>
          <a:ln/>
        </p:spPr>
        <p:txBody>
          <a:bodyPr wrap="square" lIns="0" tIns="0" rIns="0" bIns="0" rtlCol="0" anchor="t"/>
          <a:lstStyle/>
          <a:p>
            <a:pPr indent="0" marL="0">
              <a:buNone/>
            </a:pPr>
            <a:r>
              <a:rPr lang="ko-KR" altLang="en-US" sz="1300" dirty="0">
                <a:solidFill>
                  <a:schemeClr val="tx1"/>
                </a:solidFill>
              </a:rPr>
              <a:t>지난주 토요일로 예측</a:t>
            </a:r>
            <a:endParaRPr lang="ko-KR" sz="1300" dirty="0"/>
          </a:p>
        </p:txBody>
      </p:sp>
      <p:sp>
        <p:nvSpPr>
          <p:cNvPr id="11" name="text-136"/>
          <p:cNvSpPr txBox="1"/>
          <p:nvPr/>
        </p:nvSpPr>
        <p:spPr>
          <a:xfrm>
            <a:off x="3474720" y="2606040"/>
            <a:ext cx="2194560" cy="731520"/>
          </a:xfrm>
          <a:prstGeom prst="rect">
            <a:avLst/>
          </a:prstGeom>
          <a:noFill/>
          <a:ln/>
        </p:spPr>
        <p:txBody>
          <a:bodyPr wrap="square" lIns="0" tIns="0" rIns="0" bIns="0" rtlCol="0" anchor="ctr"/>
          <a:lstStyle/>
          <a:p>
            <a:pPr indent="0" marL="0">
              <a:buNone/>
            </a:pPr>
            <a:r>
              <a:rPr lang="ko-KR" altLang="en-US" sz="4000" b="1" dirty="0">
                <a:solidFill>
                  <a:schemeClr val="accent1"/>
                </a:solidFill>
              </a:rPr>
              <a:t>12.4</a:t>
            </a:r>
            <a:endParaRPr lang="ko-KR" sz="4000" dirty="0"/>
          </a:p>
        </p:txBody>
      </p:sp>
      <p:sp>
        <p:nvSpPr>
          <p:cNvPr id="12" name="text-137"/>
          <p:cNvSpPr txBox="1"/>
          <p:nvPr/>
        </p:nvSpPr>
        <p:spPr>
          <a:xfrm>
            <a:off x="3474720" y="3383280"/>
            <a:ext cx="2194560" cy="274320"/>
          </a:xfrm>
          <a:prstGeom prst="rect">
            <a:avLst/>
          </a:prstGeom>
          <a:noFill/>
          <a:ln/>
        </p:spPr>
        <p:txBody>
          <a:bodyPr wrap="square" lIns="0" tIns="0" rIns="0" bIns="0" rtlCol="0" anchor="t"/>
          <a:lstStyle/>
          <a:p>
            <a:pPr indent="0" marL="0">
              <a:buNone/>
            </a:pPr>
            <a:r>
              <a:rPr lang="ko-KR" altLang="en-US" sz="1300" dirty="0">
                <a:solidFill>
                  <a:schemeClr val="tx1"/>
                </a:solidFill>
              </a:rPr>
              <a:t>오차</a:t>
            </a:r>
            <a:endParaRPr lang="ko-KR" sz="1300" dirty="0"/>
          </a:p>
        </p:txBody>
      </p:sp>
      <p:sp>
        <p:nvSpPr>
          <p:cNvPr id="13" name="card-138"/>
          <p:cNvSpPr/>
          <p:nvPr/>
        </p:nvSpPr>
        <p:spPr>
          <a:xfrm>
            <a:off x="548640" y="4114800"/>
            <a:ext cx="5303520" cy="2057400"/>
          </a:xfrm>
          <a:prstGeom prst="roundRect">
            <a:avLst>
              <a:gd name="adj" fmla="val 3556"/>
            </a:avLst>
          </a:prstGeom>
          <a:solidFill>
            <a:schemeClr val="bg1"/>
          </a:solidFill>
          <a:ln w="9525">
            <a:solidFill>
              <a:schemeClr val="accent3"/>
            </a:solidFill>
            <a:prstDash val="solid"/>
          </a:ln>
        </p:spPr>
      </p:sp>
      <p:sp>
        <p:nvSpPr>
          <p:cNvPr id="14" name="text-139"/>
          <p:cNvSpPr txBox="1"/>
          <p:nvPr/>
        </p:nvSpPr>
        <p:spPr>
          <a:xfrm>
            <a:off x="777240" y="4279392"/>
            <a:ext cx="4846320" cy="310896"/>
          </a:xfrm>
          <a:prstGeom prst="rect">
            <a:avLst/>
          </a:prstGeom>
          <a:noFill/>
          <a:ln/>
        </p:spPr>
        <p:txBody>
          <a:bodyPr wrap="square" lIns="0" tIns="0" rIns="0" bIns="0" rtlCol="0" anchor="t"/>
          <a:lstStyle/>
          <a:p>
            <a:pPr indent="0" marL="0">
              <a:buNone/>
            </a:pPr>
            <a:r>
              <a:rPr lang="ko-KR" altLang="en-US" sz="1500" b="1" dirty="0">
                <a:solidFill>
                  <a:schemeClr val="tx2"/>
                </a:solidFill>
              </a:rPr>
              <a:t>h7_full: 24시간 전 시차 4개를 뺀 세트</a:t>
            </a:r>
            <a:endParaRPr lang="ko-KR" sz="1500" dirty="0"/>
          </a:p>
        </p:txBody>
      </p:sp>
      <p:sp>
        <p:nvSpPr>
          <p:cNvPr id="15" name="text-140"/>
          <p:cNvSpPr txBox="1"/>
          <p:nvPr/>
        </p:nvSpPr>
        <p:spPr>
          <a:xfrm>
            <a:off x="777240" y="4663440"/>
            <a:ext cx="4937760" cy="1417320"/>
          </a:xfrm>
          <a:prstGeom prst="rect">
            <a:avLst/>
          </a:prstGeom>
          <a:noFill/>
          <a:ln/>
        </p:spPr>
        <p:txBody>
          <a:bodyPr wrap="square" lIns="0" tIns="0" rIns="0" bIns="0" rtlCol="0" anchor="t"/>
          <a:lstStyle/>
          <a:p>
            <a:pPr marL="203200" indent="-203200">
              <a:spcAft>
                <a:spcPts val="400"/>
              </a:spcAft>
              <a:buSzPct val="100000"/>
              <a:buChar char="•"/>
            </a:pPr>
            <a:r>
              <a:rPr lang="ko-KR" altLang="en-US" sz="1400" dirty="0">
                <a:solidFill>
                  <a:schemeClr val="tx1"/>
                </a:solidFill>
              </a:rPr>
              <a:t>MAE 8.05로 full (9.15)보다 1.10 낮음</a:t>
            </a:r>
            <a:endParaRPr lang="ko-KR" sz="1400" dirty="0"/>
          </a:p>
          <a:p>
            <a:pPr marL="203200" indent="-203200">
              <a:spcAft>
                <a:spcPts val="400"/>
              </a:spcAft>
              <a:buSzPct val="100000"/>
              <a:buChar char="•"/>
            </a:pPr>
            <a:r>
              <a:rPr lang="ko-KR" altLang="en-US" sz="1400" dirty="0">
                <a:solidFill>
                  <a:schemeClr val="tx1"/>
                </a:solidFill>
              </a:rPr>
              <a:t>원래 일주일 앞 예측용이었으나 하루 앞에서도 가장 우수</a:t>
            </a:r>
            <a:endParaRPr lang="ko-KR" sz="1400" dirty="0"/>
          </a:p>
          <a:p>
            <a:pPr marL="203200" indent="-203200">
              <a:spcAft>
                <a:spcPts val="400"/>
              </a:spcAft>
              <a:buSzPct val="100000"/>
              <a:buChar char="•"/>
            </a:pPr>
            <a:r>
              <a:rPr lang="ko-KR" altLang="en-US" sz="1400" dirty="0">
                <a:solidFill>
                  <a:schemeClr val="tx1"/>
                </a:solidFill>
              </a:rPr>
              <a:t>부수 효과: 7일 전 (D-7) 경보도 재현율 97.4%</a:t>
            </a:r>
            <a:endParaRPr lang="ko-KR" sz="1400" dirty="0"/>
          </a:p>
        </p:txBody>
      </p:sp>
      <p:sp>
        <p:nvSpPr>
          <p:cNvPr id="16" name="text-141"/>
          <p:cNvSpPr txBox="1"/>
          <p:nvPr/>
        </p:nvSpPr>
        <p:spPr>
          <a:xfrm>
            <a:off x="6309360" y="1645920"/>
            <a:ext cx="5330952" cy="365760"/>
          </a:xfrm>
          <a:prstGeom prst="rect">
            <a:avLst/>
          </a:prstGeom>
          <a:noFill/>
          <a:ln/>
        </p:spPr>
        <p:txBody>
          <a:bodyPr wrap="square" lIns="0" tIns="0" rIns="0" bIns="0" rtlCol="0" anchor="t"/>
          <a:lstStyle/>
          <a:p>
            <a:pPr indent="0" marL="0">
              <a:buNone/>
            </a:pPr>
            <a:r>
              <a:rPr lang="ko-KR" altLang="en-US" sz="1800" b="1" dirty="0">
                <a:solidFill>
                  <a:schemeClr val="tx2"/>
                </a:solidFill>
              </a:rPr>
              <a:t>② 복제일은 지우지 않고 가중치 0.3</a:t>
            </a:r>
            <a:endParaRPr lang="ko-KR" sz="1800" dirty="0"/>
          </a:p>
        </p:txBody>
      </p:sp>
      <p:graphicFrame>
        <p:nvGraphicFramePr>
          <p:cNvPr id="17" name="chart-clone-weight" descr=""/>
          <p:cNvGraphicFramePr/>
          <p:nvPr/>
        </p:nvGraphicFramePr>
        <p:xfrm>
          <a:off x="6309360" y="2057400"/>
          <a:ext cx="5330952" cy="3108960"/>
        </p:xfrm>
        <a:graphic xmlns:a="http://schemas.openxmlformats.org/drawingml/2006/main">
          <a:graphicData uri="http://schemas.openxmlformats.org/drawingml/2006/chart">
            <c:chart xmlns:c="http://schemas.openxmlformats.org/drawingml/2006/chart" r:id="rId1"/>
          </a:graphicData>
        </a:graphic>
      </p:graphicFrame>
      <p:sp>
        <p:nvSpPr>
          <p:cNvPr id="18" name="text-142"/>
          <p:cNvSpPr txBox="1"/>
          <p:nvPr/>
        </p:nvSpPr>
        <p:spPr>
          <a:xfrm>
            <a:off x="6309360" y="5303520"/>
            <a:ext cx="5330952" cy="868680"/>
          </a:xfrm>
          <a:prstGeom prst="rect">
            <a:avLst/>
          </a:prstGeom>
          <a:noFill/>
          <a:ln/>
        </p:spPr>
        <p:txBody>
          <a:bodyPr wrap="square" lIns="0" tIns="0" rIns="0" bIns="0" rtlCol="0" anchor="t"/>
          <a:lstStyle/>
          <a:p>
            <a:pPr indent="0" marL="0">
              <a:buNone/>
            </a:pPr>
            <a:r>
              <a:rPr lang="ko-KR" altLang="en-US" sz="1400" dirty="0">
                <a:solidFill>
                  <a:schemeClr val="tx1"/>
                </a:solidFill>
              </a:rPr>
              <a:t>삭제하면 13 이상으로 악화됩니다. 0.1과 0.3은 0.01 차이라 우열이 없어, 피크 MAE (16.54 vs 17.85)와 시드 안정성으로 0.3을 골랐습니다.</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2  예측 모델</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MAE 9.15 → 6.57: 한 번에 하나씩 바꾼 결과입니다</a:t>
            </a:r>
            <a:endParaRPr lang="ko-KR" sz="2800" dirty="0"/>
          </a:p>
        </p:txBody>
      </p:sp>
      <p:graphicFrame>
        <p:nvGraphicFramePr>
          <p:cNvPr id="4" name="chart-steps" descr=""/>
          <p:cNvGraphicFramePr/>
          <p:nvPr/>
        </p:nvGraphicFramePr>
        <p:xfrm>
          <a:off x="548640" y="1600200"/>
          <a:ext cx="7315200" cy="4572000"/>
        </p:xfrm>
        <a:graphic xmlns:a="http://schemas.openxmlformats.org/drawingml/2006/main">
          <a:graphicData uri="http://schemas.openxmlformats.org/drawingml/2006/chart">
            <c:chart xmlns:c="http://schemas.openxmlformats.org/drawingml/2006/chart" r:id="rId1"/>
          </a:graphicData>
        </a:graphic>
      </p:graphicFrame>
      <p:sp>
        <p:nvSpPr>
          <p:cNvPr id="5" name="card-143"/>
          <p:cNvSpPr/>
          <p:nvPr/>
        </p:nvSpPr>
        <p:spPr>
          <a:xfrm>
            <a:off x="8138160" y="1691640"/>
            <a:ext cx="3502152" cy="987552"/>
          </a:xfrm>
          <a:prstGeom prst="roundRect">
            <a:avLst>
              <a:gd name="adj" fmla="val 7407"/>
            </a:avLst>
          </a:prstGeom>
          <a:solidFill>
            <a:schemeClr val="bg2"/>
          </a:solidFill>
          <a:ln w="12700">
            <a:solidFill>
              <a:schemeClr val="bg2"/>
            </a:solidFill>
            <a:prstDash val="solid"/>
          </a:ln>
        </p:spPr>
      </p:sp>
      <p:sp>
        <p:nvSpPr>
          <p:cNvPr id="6" name="text-144"/>
          <p:cNvSpPr txBox="1"/>
          <p:nvPr/>
        </p:nvSpPr>
        <p:spPr>
          <a:xfrm>
            <a:off x="8321040" y="1801368"/>
            <a:ext cx="3154680" cy="292608"/>
          </a:xfrm>
          <a:prstGeom prst="rect">
            <a:avLst/>
          </a:prstGeom>
          <a:noFill/>
          <a:ln/>
        </p:spPr>
        <p:txBody>
          <a:bodyPr wrap="square" lIns="0" tIns="0" rIns="0" bIns="0" rtlCol="0" anchor="t"/>
          <a:lstStyle/>
          <a:p>
            <a:pPr indent="0" marL="0">
              <a:buNone/>
            </a:pPr>
            <a:r>
              <a:rPr lang="ko-KR" altLang="en-US" sz="1500" b="1" dirty="0">
                <a:solidFill>
                  <a:schemeClr val="tx2"/>
                </a:solidFill>
              </a:rPr>
              <a:t>얕은 나무·느린 학습</a:t>
            </a:r>
            <a:endParaRPr lang="ko-KR" sz="1500" dirty="0"/>
          </a:p>
        </p:txBody>
      </p:sp>
      <p:sp>
        <p:nvSpPr>
          <p:cNvPr id="7" name="text-145"/>
          <p:cNvSpPr txBox="1"/>
          <p:nvPr/>
        </p:nvSpPr>
        <p:spPr>
          <a:xfrm>
            <a:off x="8321040" y="2121408"/>
            <a:ext cx="3200400" cy="530352"/>
          </a:xfrm>
          <a:prstGeom prst="rect">
            <a:avLst/>
          </a:prstGeom>
          <a:noFill/>
          <a:ln/>
        </p:spPr>
        <p:txBody>
          <a:bodyPr wrap="square" lIns="0" tIns="0" rIns="0" bIns="0" rtlCol="0" anchor="t"/>
          <a:lstStyle/>
          <a:p>
            <a:pPr indent="0" marL="0">
              <a:buNone/>
            </a:pPr>
            <a:r>
              <a:rPr lang="ko-KR" altLang="en-US" sz="1400" dirty="0">
                <a:solidFill>
                  <a:schemeClr val="tx1"/>
                </a:solidFill>
              </a:rPr>
              <a:t>단독 효과는 ±0.8 이내, 조합하면 −0.40</a:t>
            </a:r>
            <a:endParaRPr lang="ko-KR" sz="1400" dirty="0"/>
          </a:p>
        </p:txBody>
      </p:sp>
      <p:sp>
        <p:nvSpPr>
          <p:cNvPr id="8" name="card-146"/>
          <p:cNvSpPr/>
          <p:nvPr/>
        </p:nvSpPr>
        <p:spPr>
          <a:xfrm>
            <a:off x="8138160" y="2816352"/>
            <a:ext cx="3502152" cy="987552"/>
          </a:xfrm>
          <a:prstGeom prst="roundRect">
            <a:avLst>
              <a:gd name="adj" fmla="val 7407"/>
            </a:avLst>
          </a:prstGeom>
          <a:solidFill>
            <a:schemeClr val="bg2"/>
          </a:solidFill>
          <a:ln w="12700">
            <a:solidFill>
              <a:schemeClr val="bg2"/>
            </a:solidFill>
            <a:prstDash val="solid"/>
          </a:ln>
        </p:spPr>
      </p:sp>
      <p:sp>
        <p:nvSpPr>
          <p:cNvPr id="9" name="text-147"/>
          <p:cNvSpPr txBox="1"/>
          <p:nvPr/>
        </p:nvSpPr>
        <p:spPr>
          <a:xfrm>
            <a:off x="8321040" y="2926080"/>
            <a:ext cx="3154680" cy="292608"/>
          </a:xfrm>
          <a:prstGeom prst="rect">
            <a:avLst/>
          </a:prstGeom>
          <a:noFill/>
          <a:ln/>
        </p:spPr>
        <p:txBody>
          <a:bodyPr wrap="square" lIns="0" tIns="0" rIns="0" bIns="0" rtlCol="0" anchor="t"/>
          <a:lstStyle/>
          <a:p>
            <a:pPr indent="0" marL="0">
              <a:buNone/>
            </a:pPr>
            <a:r>
              <a:rPr lang="ko-KR" altLang="en-US" sz="1500" b="1" dirty="0">
                <a:solidFill>
                  <a:schemeClr val="tx2"/>
                </a:solidFill>
              </a:rPr>
              <a:t>피크 행 가중 3배 + 샘플링 0.6</a:t>
            </a:r>
            <a:endParaRPr lang="ko-KR" sz="1500" dirty="0"/>
          </a:p>
        </p:txBody>
      </p:sp>
      <p:sp>
        <p:nvSpPr>
          <p:cNvPr id="10" name="text-148"/>
          <p:cNvSpPr txBox="1"/>
          <p:nvPr/>
        </p:nvSpPr>
        <p:spPr>
          <a:xfrm>
            <a:off x="8321040" y="3246120"/>
            <a:ext cx="3200400" cy="530352"/>
          </a:xfrm>
          <a:prstGeom prst="rect">
            <a:avLst/>
          </a:prstGeom>
          <a:noFill/>
          <a:ln/>
        </p:spPr>
        <p:txBody>
          <a:bodyPr wrap="square" lIns="0" tIns="0" rIns="0" bIns="0" rtlCol="0" anchor="t"/>
          <a:lstStyle/>
          <a:p>
            <a:pPr indent="0" marL="0">
              <a:buNone/>
            </a:pPr>
            <a:r>
              <a:rPr lang="ko-KR" altLang="en-US" sz="1400" dirty="0">
                <a:solidFill>
                  <a:schemeClr val="tx1"/>
                </a:solidFill>
              </a:rPr>
              <a:t>피크 MAE 14.89 → 12.75, 전체 MAE는 시드 편차 안</a:t>
            </a:r>
            <a:endParaRPr lang="ko-KR" sz="1400" dirty="0"/>
          </a:p>
        </p:txBody>
      </p:sp>
      <p:sp>
        <p:nvSpPr>
          <p:cNvPr id="11" name="card-149"/>
          <p:cNvSpPr/>
          <p:nvPr/>
        </p:nvSpPr>
        <p:spPr>
          <a:xfrm>
            <a:off x="8138160" y="3941064"/>
            <a:ext cx="3502152" cy="987552"/>
          </a:xfrm>
          <a:prstGeom prst="roundRect">
            <a:avLst>
              <a:gd name="adj" fmla="val 7407"/>
            </a:avLst>
          </a:prstGeom>
          <a:solidFill>
            <a:schemeClr val="bg2"/>
          </a:solidFill>
          <a:ln w="12700">
            <a:solidFill>
              <a:schemeClr val="bg2"/>
            </a:solidFill>
            <a:prstDash val="solid"/>
          </a:ln>
        </p:spPr>
      </p:sp>
      <p:sp>
        <p:nvSpPr>
          <p:cNvPr id="12" name="text-150"/>
          <p:cNvSpPr txBox="1"/>
          <p:nvPr/>
        </p:nvSpPr>
        <p:spPr>
          <a:xfrm>
            <a:off x="8321040" y="4050792"/>
            <a:ext cx="3154680" cy="292608"/>
          </a:xfrm>
          <a:prstGeom prst="rect">
            <a:avLst/>
          </a:prstGeom>
          <a:noFill/>
          <a:ln/>
        </p:spPr>
        <p:txBody>
          <a:bodyPr wrap="square" lIns="0" tIns="0" rIns="0" bIns="0" rtlCol="0" anchor="t"/>
          <a:lstStyle/>
          <a:p>
            <a:pPr indent="0" marL="0">
              <a:buNone/>
            </a:pPr>
            <a:r>
              <a:rPr lang="ko-KR" altLang="en-US" sz="1500" b="1" dirty="0">
                <a:solidFill>
                  <a:schemeClr val="tx2"/>
                </a:solidFill>
              </a:rPr>
              <a:t>L군 피처</a:t>
            </a:r>
            <a:endParaRPr lang="ko-KR" sz="1500" dirty="0"/>
          </a:p>
        </p:txBody>
      </p:sp>
      <p:sp>
        <p:nvSpPr>
          <p:cNvPr id="13" name="text-151"/>
          <p:cNvSpPr txBox="1"/>
          <p:nvPr/>
        </p:nvSpPr>
        <p:spPr>
          <a:xfrm>
            <a:off x="8321040" y="4370832"/>
            <a:ext cx="3200400" cy="530352"/>
          </a:xfrm>
          <a:prstGeom prst="rect">
            <a:avLst/>
          </a:prstGeom>
          <a:noFill/>
          <a:ln/>
        </p:spPr>
        <p:txBody>
          <a:bodyPr wrap="square" lIns="0" tIns="0" rIns="0" bIns="0" rtlCol="0" anchor="t"/>
          <a:lstStyle/>
          <a:p>
            <a:pPr indent="0" marL="0">
              <a:buNone/>
            </a:pPr>
            <a:r>
              <a:rPr lang="ko-KR" altLang="en-US" sz="1400" dirty="0">
                <a:solidFill>
                  <a:schemeClr val="tx1"/>
                </a:solidFill>
              </a:rPr>
              <a:t>시차 결측 21.5% → 13.6%, 개선은 8월에 집중</a:t>
            </a:r>
            <a:endParaRPr lang="ko-KR" sz="1400" dirty="0"/>
          </a:p>
        </p:txBody>
      </p:sp>
      <p:sp>
        <p:nvSpPr>
          <p:cNvPr id="14" name="card-152"/>
          <p:cNvSpPr/>
          <p:nvPr/>
        </p:nvSpPr>
        <p:spPr>
          <a:xfrm>
            <a:off x="8138160" y="5065776"/>
            <a:ext cx="3502152" cy="987552"/>
          </a:xfrm>
          <a:prstGeom prst="roundRect">
            <a:avLst>
              <a:gd name="adj" fmla="val 7407"/>
            </a:avLst>
          </a:prstGeom>
          <a:solidFill>
            <a:schemeClr val="bg2"/>
          </a:solidFill>
          <a:ln w="12700">
            <a:solidFill>
              <a:schemeClr val="bg2"/>
            </a:solidFill>
            <a:prstDash val="solid"/>
          </a:ln>
        </p:spPr>
      </p:sp>
      <p:sp>
        <p:nvSpPr>
          <p:cNvPr id="15" name="text-153"/>
          <p:cNvSpPr txBox="1"/>
          <p:nvPr/>
        </p:nvSpPr>
        <p:spPr>
          <a:xfrm>
            <a:off x="8321040" y="5175504"/>
            <a:ext cx="3154680" cy="292608"/>
          </a:xfrm>
          <a:prstGeom prst="rect">
            <a:avLst/>
          </a:prstGeom>
          <a:noFill/>
          <a:ln/>
        </p:spPr>
        <p:txBody>
          <a:bodyPr wrap="square" lIns="0" tIns="0" rIns="0" bIns="0" rtlCol="0" anchor="t"/>
          <a:lstStyle/>
          <a:p>
            <a:pPr indent="0" marL="0">
              <a:buNone/>
            </a:pPr>
            <a:r>
              <a:rPr lang="ko-KR" altLang="en-US" sz="1500" b="1" dirty="0">
                <a:solidFill>
                  <a:schemeClr val="accent4"/>
                </a:solidFill>
              </a:rPr>
              <a:t>기각한 설정</a:t>
            </a:r>
            <a:endParaRPr lang="ko-KR" sz="1500" dirty="0"/>
          </a:p>
        </p:txBody>
      </p:sp>
      <p:sp>
        <p:nvSpPr>
          <p:cNvPr id="16" name="text-154"/>
          <p:cNvSpPr txBox="1"/>
          <p:nvPr/>
        </p:nvSpPr>
        <p:spPr>
          <a:xfrm>
            <a:off x="8321040" y="5495544"/>
            <a:ext cx="3200400" cy="530352"/>
          </a:xfrm>
          <a:prstGeom prst="rect">
            <a:avLst/>
          </a:prstGeom>
          <a:noFill/>
          <a:ln/>
        </p:spPr>
        <p:txBody>
          <a:bodyPr wrap="square" lIns="0" tIns="0" rIns="0" bIns="0" rtlCol="0" anchor="t"/>
          <a:lstStyle/>
          <a:p>
            <a:pPr indent="0" marL="0">
              <a:buNone/>
            </a:pPr>
            <a:r>
              <a:rPr lang="ko-KR" altLang="en-US" sz="1400" dirty="0">
                <a:solidFill>
                  <a:schemeClr val="tx1"/>
                </a:solidFill>
              </a:rPr>
              <a:t>L2 목적함수 (+2.10), Ridge 혼합, 공휴일 피처 등</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2  예측 모델</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목표선 대비 오차 71%, 피크 구간 오차 65% 감소</a:t>
            </a:r>
            <a:endParaRPr lang="ko-KR" sz="2800" dirty="0"/>
          </a:p>
        </p:txBody>
      </p:sp>
      <p:graphicFrame>
        <p:nvGraphicFramePr>
          <p:cNvPr id="4" name="chart-final-vs-target" descr=""/>
          <p:cNvGraphicFramePr/>
          <p:nvPr/>
        </p:nvGraphicFramePr>
        <p:xfrm>
          <a:off x="548640" y="160020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5" name="text-155"/>
          <p:cNvSpPr txBox="1"/>
          <p:nvPr/>
        </p:nvSpPr>
        <p:spPr>
          <a:xfrm>
            <a:off x="7635240" y="1691640"/>
            <a:ext cx="4005072" cy="548640"/>
          </a:xfrm>
          <a:prstGeom prst="rect">
            <a:avLst/>
          </a:prstGeom>
          <a:noFill/>
          <a:ln/>
        </p:spPr>
        <p:txBody>
          <a:bodyPr wrap="square" lIns="0" tIns="0" rIns="0" bIns="0" rtlCol="0" anchor="ctr"/>
          <a:lstStyle/>
          <a:p>
            <a:pPr indent="0" marL="0">
              <a:buNone/>
            </a:pPr>
            <a:r>
              <a:rPr lang="ko-KR" altLang="en-US" sz="2800" b="1" dirty="0">
                <a:solidFill>
                  <a:schemeClr val="accent1"/>
                </a:solidFill>
              </a:rPr>
              <a:t>0.975</a:t>
            </a:r>
            <a:endParaRPr lang="ko-KR" sz="2800" dirty="0"/>
          </a:p>
        </p:txBody>
      </p:sp>
      <p:sp>
        <p:nvSpPr>
          <p:cNvPr id="6" name="text-156"/>
          <p:cNvSpPr txBox="1"/>
          <p:nvPr/>
        </p:nvSpPr>
        <p:spPr>
          <a:xfrm>
            <a:off x="7635240" y="2240280"/>
            <a:ext cx="4005072" cy="292608"/>
          </a:xfrm>
          <a:prstGeom prst="rect">
            <a:avLst/>
          </a:prstGeom>
          <a:noFill/>
          <a:ln/>
        </p:spPr>
        <p:txBody>
          <a:bodyPr wrap="square" lIns="0" tIns="0" rIns="0" bIns="0" rtlCol="0" anchor="t"/>
          <a:lstStyle/>
          <a:p>
            <a:pPr indent="0" marL="0">
              <a:buNone/>
            </a:pPr>
            <a:r>
              <a:rPr lang="ko-KR" altLang="en-US" sz="1400" dirty="0">
                <a:solidFill>
                  <a:schemeClr val="tx1"/>
                </a:solidFill>
              </a:rPr>
              <a:t>결정계수 R²</a:t>
            </a:r>
            <a:endParaRPr lang="ko-KR" sz="1400" dirty="0"/>
          </a:p>
        </p:txBody>
      </p:sp>
      <p:sp>
        <p:nvSpPr>
          <p:cNvPr id="7" name="text-157"/>
          <p:cNvSpPr txBox="1"/>
          <p:nvPr/>
        </p:nvSpPr>
        <p:spPr>
          <a:xfrm>
            <a:off x="7635240" y="2715768"/>
            <a:ext cx="4005072" cy="548640"/>
          </a:xfrm>
          <a:prstGeom prst="rect">
            <a:avLst/>
          </a:prstGeom>
          <a:noFill/>
          <a:ln/>
        </p:spPr>
        <p:txBody>
          <a:bodyPr wrap="square" lIns="0" tIns="0" rIns="0" bIns="0" rtlCol="0" anchor="ctr"/>
          <a:lstStyle/>
          <a:p>
            <a:pPr indent="0" marL="0">
              <a:buNone/>
            </a:pPr>
            <a:r>
              <a:rPr lang="ko-KR" altLang="en-US" sz="2800" b="1" dirty="0">
                <a:solidFill>
                  <a:schemeClr val="accent1"/>
                </a:solidFill>
              </a:rPr>
              <a:t>77.1%</a:t>
            </a:r>
            <a:endParaRPr lang="ko-KR" sz="2800" dirty="0"/>
          </a:p>
        </p:txBody>
      </p:sp>
      <p:sp>
        <p:nvSpPr>
          <p:cNvPr id="8" name="text-158"/>
          <p:cNvSpPr txBox="1"/>
          <p:nvPr/>
        </p:nvSpPr>
        <p:spPr>
          <a:xfrm>
            <a:off x="7635240" y="3264408"/>
            <a:ext cx="4005072" cy="292608"/>
          </a:xfrm>
          <a:prstGeom prst="rect">
            <a:avLst/>
          </a:prstGeom>
          <a:noFill/>
          <a:ln/>
        </p:spPr>
        <p:txBody>
          <a:bodyPr wrap="square" lIns="0" tIns="0" rIns="0" bIns="0" rtlCol="0" anchor="t"/>
          <a:lstStyle/>
          <a:p>
            <a:pPr indent="0" marL="0">
              <a:buNone/>
            </a:pPr>
            <a:r>
              <a:rPr lang="ko-KR" altLang="en-US" sz="1400" dirty="0">
                <a:solidFill>
                  <a:schemeClr val="tx1"/>
                </a:solidFill>
              </a:rPr>
              <a:t>오차 ±10 이내 비율</a:t>
            </a:r>
            <a:endParaRPr lang="ko-KR" sz="1400" dirty="0"/>
          </a:p>
        </p:txBody>
      </p:sp>
      <p:sp>
        <p:nvSpPr>
          <p:cNvPr id="9" name="text-159"/>
          <p:cNvSpPr txBox="1"/>
          <p:nvPr/>
        </p:nvSpPr>
        <p:spPr>
          <a:xfrm>
            <a:off x="7635240" y="3739896"/>
            <a:ext cx="4005072" cy="548640"/>
          </a:xfrm>
          <a:prstGeom prst="rect">
            <a:avLst/>
          </a:prstGeom>
          <a:noFill/>
          <a:ln/>
        </p:spPr>
        <p:txBody>
          <a:bodyPr wrap="square" lIns="0" tIns="0" rIns="0" bIns="0" rtlCol="0" anchor="ctr"/>
          <a:lstStyle/>
          <a:p>
            <a:pPr indent="0" marL="0">
              <a:buNone/>
            </a:pPr>
            <a:r>
              <a:rPr lang="ko-KR" altLang="en-US" sz="2800" b="1" dirty="0">
                <a:solidFill>
                  <a:schemeClr val="accent1"/>
                </a:solidFill>
              </a:rPr>
              <a:t>27.47 → 6.60</a:t>
            </a:r>
            <a:endParaRPr lang="ko-KR" sz="2800" dirty="0"/>
          </a:p>
        </p:txBody>
      </p:sp>
      <p:sp>
        <p:nvSpPr>
          <p:cNvPr id="10" name="text-160"/>
          <p:cNvSpPr txBox="1"/>
          <p:nvPr/>
        </p:nvSpPr>
        <p:spPr>
          <a:xfrm>
            <a:off x="7635240" y="4288536"/>
            <a:ext cx="4005072" cy="292608"/>
          </a:xfrm>
          <a:prstGeom prst="rect">
            <a:avLst/>
          </a:prstGeom>
          <a:noFill/>
          <a:ln/>
        </p:spPr>
        <p:txBody>
          <a:bodyPr wrap="square" lIns="0" tIns="0" rIns="0" bIns="0" rtlCol="0" anchor="t"/>
          <a:lstStyle/>
          <a:p>
            <a:pPr indent="0" marL="0">
              <a:buNone/>
            </a:pPr>
            <a:r>
              <a:rPr lang="ko-KR" altLang="en-US" sz="1400" dirty="0">
                <a:solidFill>
                  <a:schemeClr val="tx1"/>
                </a:solidFill>
              </a:rPr>
              <a:t>8월 (휴가 직후) 목표선 vs 모델</a:t>
            </a:r>
            <a:endParaRPr lang="ko-KR" sz="1400" dirty="0"/>
          </a:p>
        </p:txBody>
      </p:sp>
      <p:sp>
        <p:nvSpPr>
          <p:cNvPr id="11" name="card-161"/>
          <p:cNvSpPr/>
          <p:nvPr/>
        </p:nvSpPr>
        <p:spPr>
          <a:xfrm>
            <a:off x="7635240" y="4983480"/>
            <a:ext cx="4005072" cy="1188720"/>
          </a:xfrm>
          <a:prstGeom prst="roundRect">
            <a:avLst>
              <a:gd name="adj" fmla="val 6154"/>
            </a:avLst>
          </a:prstGeom>
          <a:solidFill>
            <a:schemeClr val="bg2"/>
          </a:solidFill>
          <a:ln w="12700">
            <a:solidFill>
              <a:schemeClr val="bg2"/>
            </a:solidFill>
            <a:prstDash val="solid"/>
          </a:ln>
        </p:spPr>
      </p:sp>
      <p:sp>
        <p:nvSpPr>
          <p:cNvPr id="12" name="text-162"/>
          <p:cNvSpPr txBox="1"/>
          <p:nvPr/>
        </p:nvSpPr>
        <p:spPr>
          <a:xfrm>
            <a:off x="7818120" y="4983480"/>
            <a:ext cx="3657600" cy="1188720"/>
          </a:xfrm>
          <a:prstGeom prst="rect">
            <a:avLst/>
          </a:prstGeom>
          <a:noFill/>
          <a:ln/>
        </p:spPr>
        <p:txBody>
          <a:bodyPr wrap="square" lIns="0" tIns="0" rIns="0" bIns="0" rtlCol="0" anchor="ctr"/>
          <a:lstStyle/>
          <a:p>
            <a:pPr indent="0" marL="0">
              <a:buNone/>
            </a:pPr>
            <a:r>
              <a:rPr lang="ko-KR" altLang="en-US" sz="1200" dirty="0">
                <a:solidFill>
                  <a:schemeClr val="tx1"/>
                </a:solidFill>
              </a:rPr>
              <a:t>7 to 9월은 설정 선택에도 쓴 구간이고 독립 검증 구간이 없어, 현장 성능은 이보다 낮을 수 있습니다. R²와 ±10 비율은 시드 평균 예측 기준 (MAE 6.51)입니다.</a:t>
            </a:r>
            <a:endParaRPr lang="ko-KR"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2  예측 모델</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피크 구간에서는 과거 전력과 기상의 비중이 커집니다</a:t>
            </a:r>
            <a:endParaRPr lang="ko-KR" sz="2800" dirty="0"/>
          </a:p>
        </p:txBody>
      </p:sp>
      <p:graphicFrame>
        <p:nvGraphicFramePr>
          <p:cNvPr id="4" name="chart-shap-ratio" descr=""/>
          <p:cNvGraphicFramePr/>
          <p:nvPr/>
        </p:nvGraphicFramePr>
        <p:xfrm>
          <a:off x="548640" y="1600200"/>
          <a:ext cx="5760720" cy="4572000"/>
        </p:xfrm>
        <a:graphic xmlns:a="http://schemas.openxmlformats.org/drawingml/2006/main">
          <a:graphicData uri="http://schemas.openxmlformats.org/drawingml/2006/chart">
            <c:chart xmlns:c="http://schemas.openxmlformats.org/drawingml/2006/chart" r:id="rId1"/>
          </a:graphicData>
        </a:graphic>
      </p:graphicFrame>
      <p:sp>
        <p:nvSpPr>
          <p:cNvPr id="5" name="text-163"/>
          <p:cNvSpPr txBox="1"/>
          <p:nvPr/>
        </p:nvSpPr>
        <p:spPr>
          <a:xfrm>
            <a:off x="6629400" y="1691640"/>
            <a:ext cx="5010912" cy="365760"/>
          </a:xfrm>
          <a:prstGeom prst="rect">
            <a:avLst/>
          </a:prstGeom>
          <a:noFill/>
          <a:ln/>
        </p:spPr>
        <p:txBody>
          <a:bodyPr wrap="square" lIns="0" tIns="0" rIns="0" bIns="0" rtlCol="0" anchor="t"/>
          <a:lstStyle/>
          <a:p>
            <a:pPr indent="0" marL="0">
              <a:buNone/>
            </a:pPr>
            <a:r>
              <a:rPr lang="ko-KR" altLang="en-US" sz="1600" b="1" dirty="0">
                <a:solidFill>
                  <a:schemeClr val="tx2"/>
                </a:solidFill>
              </a:rPr>
              <a:t>도메인 파생 변수가 피크에서 더 쓰였습니다</a:t>
            </a:r>
            <a:endParaRPr lang="ko-KR" sz="1600" dirty="0"/>
          </a:p>
        </p:txBody>
      </p:sp>
      <p:sp>
        <p:nvSpPr>
          <p:cNvPr id="6" name="text-164"/>
          <p:cNvSpPr txBox="1"/>
          <p:nvPr/>
        </p:nvSpPr>
        <p:spPr>
          <a:xfrm>
            <a:off x="6629400" y="2194560"/>
            <a:ext cx="1463040" cy="548640"/>
          </a:xfrm>
          <a:prstGeom prst="rect">
            <a:avLst/>
          </a:prstGeom>
          <a:noFill/>
          <a:ln/>
        </p:spPr>
        <p:txBody>
          <a:bodyPr wrap="square" lIns="0" tIns="0" rIns="0" bIns="0" rtlCol="0" anchor="ctr"/>
          <a:lstStyle/>
          <a:p>
            <a:pPr indent="0" marL="0">
              <a:buNone/>
            </a:pPr>
            <a:r>
              <a:rPr lang="ko-KR" altLang="en-US" sz="2600" b="1" dirty="0">
                <a:solidFill>
                  <a:schemeClr val="accent2"/>
                </a:solidFill>
              </a:rPr>
              <a:t>2.25배</a:t>
            </a:r>
            <a:endParaRPr lang="ko-KR" sz="2600" dirty="0"/>
          </a:p>
        </p:txBody>
      </p:sp>
      <p:sp>
        <p:nvSpPr>
          <p:cNvPr id="7" name="text-165"/>
          <p:cNvSpPr txBox="1"/>
          <p:nvPr/>
        </p:nvSpPr>
        <p:spPr>
          <a:xfrm>
            <a:off x="8183880" y="2194560"/>
            <a:ext cx="3456432" cy="548640"/>
          </a:xfrm>
          <a:prstGeom prst="rect">
            <a:avLst/>
          </a:prstGeom>
          <a:noFill/>
          <a:ln/>
        </p:spPr>
        <p:txBody>
          <a:bodyPr wrap="square" lIns="0" tIns="0" rIns="0" bIns="0" rtlCol="0" anchor="ctr"/>
          <a:lstStyle/>
          <a:p>
            <a:pPr indent="0" marL="0">
              <a:buNone/>
            </a:pPr>
            <a:r>
              <a:rPr lang="ko-KR" altLang="en-US" sz="1500" dirty="0">
                <a:solidFill>
                  <a:schemeClr val="tx1"/>
                </a:solidFill>
              </a:rPr>
              <a:t>thi 불쾌지수 (기온·습도)</a:t>
            </a:r>
            <a:endParaRPr lang="ko-KR" sz="1500" dirty="0"/>
          </a:p>
        </p:txBody>
      </p:sp>
      <p:sp>
        <p:nvSpPr>
          <p:cNvPr id="8" name="text-166"/>
          <p:cNvSpPr txBox="1"/>
          <p:nvPr/>
        </p:nvSpPr>
        <p:spPr>
          <a:xfrm>
            <a:off x="6629400" y="2926080"/>
            <a:ext cx="1463040" cy="548640"/>
          </a:xfrm>
          <a:prstGeom prst="rect">
            <a:avLst/>
          </a:prstGeom>
          <a:noFill/>
          <a:ln/>
        </p:spPr>
        <p:txBody>
          <a:bodyPr wrap="square" lIns="0" tIns="0" rIns="0" bIns="0" rtlCol="0" anchor="ctr"/>
          <a:lstStyle/>
          <a:p>
            <a:pPr indent="0" marL="0">
              <a:buNone/>
            </a:pPr>
            <a:r>
              <a:rPr lang="ko-KR" altLang="en-US" sz="2600" b="1" dirty="0">
                <a:solidFill>
                  <a:schemeClr val="accent2"/>
                </a:solidFill>
              </a:rPr>
              <a:t>1.54배</a:t>
            </a:r>
            <a:endParaRPr lang="ko-KR" sz="2600" dirty="0"/>
          </a:p>
        </p:txBody>
      </p:sp>
      <p:sp>
        <p:nvSpPr>
          <p:cNvPr id="9" name="text-167"/>
          <p:cNvSpPr txBox="1"/>
          <p:nvPr/>
        </p:nvSpPr>
        <p:spPr>
          <a:xfrm>
            <a:off x="8183880" y="2926080"/>
            <a:ext cx="3456432" cy="548640"/>
          </a:xfrm>
          <a:prstGeom prst="rect">
            <a:avLst/>
          </a:prstGeom>
          <a:noFill/>
          <a:ln/>
        </p:spPr>
        <p:txBody>
          <a:bodyPr wrap="square" lIns="0" tIns="0" rIns="0" bIns="0" rtlCol="0" anchor="ctr"/>
          <a:lstStyle/>
          <a:p>
            <a:pPr indent="0" marL="0">
              <a:buNone/>
            </a:pPr>
            <a:r>
              <a:rPr lang="ko-KR" altLang="en-US" sz="1500" dirty="0">
                <a:solidFill>
                  <a:schemeClr val="tx1"/>
                </a:solidFill>
              </a:rPr>
              <a:t>cool 냉방부하 (22℃ 초과분)</a:t>
            </a:r>
            <a:endParaRPr lang="ko-KR" sz="1500" dirty="0"/>
          </a:p>
        </p:txBody>
      </p:sp>
      <p:sp>
        <p:nvSpPr>
          <p:cNvPr id="10" name="text-168"/>
          <p:cNvSpPr txBox="1"/>
          <p:nvPr/>
        </p:nvSpPr>
        <p:spPr>
          <a:xfrm>
            <a:off x="6629400" y="3657600"/>
            <a:ext cx="1463040" cy="548640"/>
          </a:xfrm>
          <a:prstGeom prst="rect">
            <a:avLst/>
          </a:prstGeom>
          <a:noFill/>
          <a:ln/>
        </p:spPr>
        <p:txBody>
          <a:bodyPr wrap="square" lIns="0" tIns="0" rIns="0" bIns="0" rtlCol="0" anchor="ctr"/>
          <a:lstStyle/>
          <a:p>
            <a:pPr indent="0" marL="0">
              <a:buNone/>
            </a:pPr>
            <a:r>
              <a:rPr lang="ko-KR" altLang="en-US" sz="2600" b="1" dirty="0">
                <a:solidFill>
                  <a:schemeClr val="accent3"/>
                </a:solidFill>
              </a:rPr>
              <a:t>0.92배</a:t>
            </a:r>
            <a:endParaRPr lang="ko-KR" sz="2600" dirty="0"/>
          </a:p>
        </p:txBody>
      </p:sp>
      <p:sp>
        <p:nvSpPr>
          <p:cNvPr id="11" name="text-169"/>
          <p:cNvSpPr txBox="1"/>
          <p:nvPr/>
        </p:nvSpPr>
        <p:spPr>
          <a:xfrm>
            <a:off x="8183880" y="3657600"/>
            <a:ext cx="3456432" cy="548640"/>
          </a:xfrm>
          <a:prstGeom prst="rect">
            <a:avLst/>
          </a:prstGeom>
          <a:noFill/>
          <a:ln/>
        </p:spPr>
        <p:txBody>
          <a:bodyPr wrap="square" lIns="0" tIns="0" rIns="0" bIns="0" rtlCol="0" anchor="ctr"/>
          <a:lstStyle/>
          <a:p>
            <a:pPr indent="0" marL="0">
              <a:buNone/>
            </a:pPr>
            <a:r>
              <a:rPr lang="ko-KR" altLang="en-US" sz="1500" dirty="0">
                <a:solidFill>
                  <a:schemeClr val="tx1"/>
                </a:solidFill>
              </a:rPr>
              <a:t>temp 원본 기온</a:t>
            </a:r>
            <a:endParaRPr lang="ko-KR" sz="1500" dirty="0"/>
          </a:p>
        </p:txBody>
      </p:sp>
      <p:sp>
        <p:nvSpPr>
          <p:cNvPr id="12" name="card-170"/>
          <p:cNvSpPr/>
          <p:nvPr/>
        </p:nvSpPr>
        <p:spPr>
          <a:xfrm>
            <a:off x="6629400" y="4526280"/>
            <a:ext cx="5010912" cy="1645920"/>
          </a:xfrm>
          <a:prstGeom prst="roundRect">
            <a:avLst>
              <a:gd name="adj" fmla="val 4444"/>
            </a:avLst>
          </a:prstGeom>
          <a:solidFill>
            <a:schemeClr val="bg2"/>
          </a:solidFill>
          <a:ln w="12700">
            <a:solidFill>
              <a:schemeClr val="bg2"/>
            </a:solidFill>
            <a:prstDash val="solid"/>
          </a:ln>
        </p:spPr>
      </p:sp>
      <p:sp>
        <p:nvSpPr>
          <p:cNvPr id="13" name="text-171"/>
          <p:cNvSpPr txBox="1"/>
          <p:nvPr/>
        </p:nvSpPr>
        <p:spPr>
          <a:xfrm>
            <a:off x="6812280" y="4526280"/>
            <a:ext cx="4663440" cy="1645920"/>
          </a:xfrm>
          <a:prstGeom prst="rect">
            <a:avLst/>
          </a:prstGeom>
          <a:noFill/>
          <a:ln/>
        </p:spPr>
        <p:txBody>
          <a:bodyPr wrap="square" lIns="0" tIns="0" rIns="0" bIns="0" rtlCol="0" anchor="ctr"/>
          <a:lstStyle/>
          <a:p>
            <a:pPr indent="0" marL="0">
              <a:buNone/>
            </a:pPr>
            <a:r>
              <a:rPr lang="ko-KR" altLang="en-US" sz="1400" dirty="0">
                <a:solidFill>
                  <a:schemeClr val="tx1"/>
                </a:solidFill>
              </a:rPr>
              <a:t>다만 기상의 절대 기여 (3.07)는 과거 전력 (33.70)보다 훨씬 작습니다. 기온은 기본 부하를 정하기보다 주간 고부하 위에 더해지는 증분 요소입니다. 평상시 기준선은 생산계획 (48.7%)과 과거 전력 (33.7%)이 정합니다.</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3  오류 분석</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오차는 부분 가동 공휴일에 집중됩니다</a:t>
            </a:r>
            <a:endParaRPr lang="ko-KR" sz="2800" dirty="0"/>
          </a:p>
        </p:txBody>
      </p:sp>
      <p:graphicFrame>
        <p:nvGraphicFramePr>
          <p:cNvPr id="4" name="chart-cond-mae" descr=""/>
          <p:cNvGraphicFramePr/>
          <p:nvPr/>
        </p:nvGraphicFramePr>
        <p:xfrm>
          <a:off x="548640" y="160020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5" name="legend-172"/>
          <p:cNvSpPr/>
          <p:nvPr/>
        </p:nvSpPr>
        <p:spPr>
          <a:xfrm>
            <a:off x="1097280" y="5943600"/>
            <a:ext cx="164592" cy="164592"/>
          </a:xfrm>
          <a:prstGeom prst="ellipse">
            <a:avLst/>
          </a:prstGeom>
          <a:solidFill>
            <a:schemeClr val="accent1"/>
          </a:solidFill>
          <a:ln w="12700">
            <a:solidFill>
              <a:schemeClr val="accent1"/>
            </a:solidFill>
            <a:prstDash val="solid"/>
          </a:ln>
        </p:spPr>
      </p:sp>
      <p:sp>
        <p:nvSpPr>
          <p:cNvPr id="6" name="text-173"/>
          <p:cNvSpPr txBox="1"/>
          <p:nvPr/>
        </p:nvSpPr>
        <p:spPr>
          <a:xfrm>
            <a:off x="1335024" y="5879592"/>
            <a:ext cx="822960" cy="274320"/>
          </a:xfrm>
          <a:prstGeom prst="rect">
            <a:avLst/>
          </a:prstGeom>
          <a:noFill/>
          <a:ln/>
        </p:spPr>
        <p:txBody>
          <a:bodyPr wrap="square" lIns="0" tIns="0" rIns="0" bIns="0" rtlCol="0" anchor="ctr"/>
          <a:lstStyle/>
          <a:p>
            <a:pPr indent="0" marL="0">
              <a:buNone/>
            </a:pPr>
            <a:r>
              <a:rPr lang="ko-KR" altLang="en-US" sz="1200" dirty="0">
                <a:solidFill>
                  <a:schemeClr val="tx1"/>
                </a:solidFill>
              </a:rPr>
              <a:t>안정</a:t>
            </a:r>
            <a:endParaRPr lang="ko-KR" sz="1200" dirty="0"/>
          </a:p>
        </p:txBody>
      </p:sp>
      <p:sp>
        <p:nvSpPr>
          <p:cNvPr id="7" name="legend-174"/>
          <p:cNvSpPr/>
          <p:nvPr/>
        </p:nvSpPr>
        <p:spPr>
          <a:xfrm>
            <a:off x="2286000" y="5943600"/>
            <a:ext cx="164592" cy="164592"/>
          </a:xfrm>
          <a:prstGeom prst="ellipse">
            <a:avLst/>
          </a:prstGeom>
          <a:solidFill>
            <a:schemeClr val="accent6"/>
          </a:solidFill>
          <a:ln w="12700">
            <a:solidFill>
              <a:schemeClr val="accent6"/>
            </a:solidFill>
            <a:prstDash val="solid"/>
          </a:ln>
        </p:spPr>
      </p:sp>
      <p:sp>
        <p:nvSpPr>
          <p:cNvPr id="8" name="text-175"/>
          <p:cNvSpPr txBox="1"/>
          <p:nvPr/>
        </p:nvSpPr>
        <p:spPr>
          <a:xfrm>
            <a:off x="2523744" y="5879592"/>
            <a:ext cx="822960" cy="274320"/>
          </a:xfrm>
          <a:prstGeom prst="rect">
            <a:avLst/>
          </a:prstGeom>
          <a:noFill/>
          <a:ln/>
        </p:spPr>
        <p:txBody>
          <a:bodyPr wrap="square" lIns="0" tIns="0" rIns="0" bIns="0" rtlCol="0" anchor="ctr"/>
          <a:lstStyle/>
          <a:p>
            <a:pPr indent="0" marL="0">
              <a:buNone/>
            </a:pPr>
            <a:r>
              <a:rPr lang="ko-KR" altLang="en-US" sz="1200" dirty="0">
                <a:solidFill>
                  <a:schemeClr val="tx1"/>
                </a:solidFill>
              </a:rPr>
              <a:t>주의</a:t>
            </a:r>
            <a:endParaRPr lang="ko-KR" sz="1200" dirty="0"/>
          </a:p>
        </p:txBody>
      </p:sp>
      <p:sp>
        <p:nvSpPr>
          <p:cNvPr id="9" name="legend-176"/>
          <p:cNvSpPr/>
          <p:nvPr/>
        </p:nvSpPr>
        <p:spPr>
          <a:xfrm>
            <a:off x="3474720" y="5943600"/>
            <a:ext cx="164592" cy="164592"/>
          </a:xfrm>
          <a:prstGeom prst="ellipse">
            <a:avLst/>
          </a:prstGeom>
          <a:solidFill>
            <a:schemeClr val="accent4"/>
          </a:solidFill>
          <a:ln w="12700">
            <a:solidFill>
              <a:schemeClr val="accent4"/>
            </a:solidFill>
            <a:prstDash val="solid"/>
          </a:ln>
        </p:spPr>
      </p:sp>
      <p:sp>
        <p:nvSpPr>
          <p:cNvPr id="10" name="text-177"/>
          <p:cNvSpPr txBox="1"/>
          <p:nvPr/>
        </p:nvSpPr>
        <p:spPr>
          <a:xfrm>
            <a:off x="3712464" y="5879592"/>
            <a:ext cx="822960" cy="274320"/>
          </a:xfrm>
          <a:prstGeom prst="rect">
            <a:avLst/>
          </a:prstGeom>
          <a:noFill/>
          <a:ln/>
        </p:spPr>
        <p:txBody>
          <a:bodyPr wrap="square" lIns="0" tIns="0" rIns="0" bIns="0" rtlCol="0" anchor="ctr"/>
          <a:lstStyle/>
          <a:p>
            <a:pPr indent="0" marL="0">
              <a:buNone/>
            </a:pPr>
            <a:r>
              <a:rPr lang="ko-KR" altLang="en-US" sz="1200" dirty="0">
                <a:solidFill>
                  <a:schemeClr val="tx1"/>
                </a:solidFill>
              </a:rPr>
              <a:t>실패</a:t>
            </a:r>
            <a:endParaRPr lang="ko-KR" sz="1200" dirty="0"/>
          </a:p>
        </p:txBody>
      </p:sp>
      <p:sp>
        <p:nvSpPr>
          <p:cNvPr id="11" name="text-178"/>
          <p:cNvSpPr txBox="1"/>
          <p:nvPr/>
        </p:nvSpPr>
        <p:spPr>
          <a:xfrm>
            <a:off x="7223760" y="1691640"/>
            <a:ext cx="4416552" cy="320040"/>
          </a:xfrm>
          <a:prstGeom prst="rect">
            <a:avLst/>
          </a:prstGeom>
          <a:noFill/>
          <a:ln/>
        </p:spPr>
        <p:txBody>
          <a:bodyPr wrap="square" lIns="0" tIns="0" rIns="0" bIns="0" rtlCol="0" anchor="t"/>
          <a:lstStyle/>
          <a:p>
            <a:pPr indent="0" marL="0">
              <a:buNone/>
            </a:pPr>
            <a:r>
              <a:rPr lang="ko-KR" altLang="en-US" sz="1500" b="1" dirty="0">
                <a:solidFill>
                  <a:schemeClr val="tx2"/>
                </a:solidFill>
              </a:rPr>
              <a:t>공휴일별 실제 vs 예측 (평균 전력)</a:t>
            </a:r>
            <a:endParaRPr lang="ko-KR" sz="1500" dirty="0"/>
          </a:p>
        </p:txBody>
      </p:sp>
      <p:graphicFrame>
        <p:nvGraphicFramePr>
          <p:cNvPr id="13" name="table-holidays"/>
          <p:cNvGraphicFramePr>
            <a:graphicFrameLocks noGrp="1"/>
          </p:cNvGraphicFramePr>
          <p:nvPr>
            <p:extLst>
              <p:ext uri="{D42A27DB-BD31-4B8C-83A1-F6EECF244321}">
                <p14:modId xmlns:p14="http://schemas.microsoft.com/office/powerpoint/2010/main" val="1579011935"/>
              </p:ext>
            </p:extLst>
          </p:nvPr>
        </p:nvGraphicFramePr>
        <p:xfrm>
          <a:off x="7223760" y="2103120"/>
          <a:ext cx="4416552" cy="914400"/>
        </p:xfrm>
        <a:graphic>
          <a:graphicData uri="http://schemas.openxmlformats.org/drawingml/2006/table">
            <a:tbl>
              <a:tblPr/>
              <a:tblGrid>
                <a:gridCol w="640080"/>
                <a:gridCol w="868680"/>
                <a:gridCol w="777240"/>
                <a:gridCol w="777240"/>
                <a:gridCol w="1353312"/>
              </a:tblGrid>
              <a:tr h="384048">
                <a:tc>
                  <a:txBody>
                    <a:bodyPr/>
                    <a:lstStyle/>
                    <a:p>
                      <a:pPr algn="ctr" indent="0" marL="0">
                        <a:buNone/>
                      </a:pPr>
                      <a:r>
                        <a:rPr lang="en-US" sz="1200" b="1" dirty="0">
                          <a:solidFill>
                            <a:srgbClr val="FFFFFF"/>
                          </a:solidFill>
                        </a:rPr>
                        <a:t>날짜</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15283A"/>
                    </a:solidFill>
                  </a:tcPr>
                </a:tc>
                <a:tc>
                  <a:txBody>
                    <a:bodyPr/>
                    <a:lstStyle/>
                    <a:p>
                      <a:pPr algn="ctr" indent="0" marL="0">
                        <a:buNone/>
                      </a:pPr>
                      <a:r>
                        <a:rPr lang="en-US" sz="1200" b="1" dirty="0">
                          <a:solidFill>
                            <a:srgbClr val="FFFFFF"/>
                          </a:solidFill>
                        </a:rPr>
                        <a:t>일 생산</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15283A"/>
                    </a:solidFill>
                  </a:tcPr>
                </a:tc>
                <a:tc>
                  <a:txBody>
                    <a:bodyPr/>
                    <a:lstStyle/>
                    <a:p>
                      <a:pPr algn="ctr" indent="0" marL="0">
                        <a:buNone/>
                      </a:pPr>
                      <a:r>
                        <a:rPr lang="en-US" sz="1200" b="1" dirty="0">
                          <a:solidFill>
                            <a:srgbClr val="FFFFFF"/>
                          </a:solidFill>
                        </a:rPr>
                        <a:t>실제</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15283A"/>
                    </a:solidFill>
                  </a:tcPr>
                </a:tc>
                <a:tc>
                  <a:txBody>
                    <a:bodyPr/>
                    <a:lstStyle/>
                    <a:p>
                      <a:pPr algn="ctr" indent="0" marL="0">
                        <a:buNone/>
                      </a:pPr>
                      <a:r>
                        <a:rPr lang="en-US" sz="1200" b="1" dirty="0">
                          <a:solidFill>
                            <a:srgbClr val="FFFFFF"/>
                          </a:solidFill>
                        </a:rPr>
                        <a:t>예측</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15283A"/>
                    </a:solidFill>
                  </a:tcPr>
                </a:tc>
                <a:tc>
                  <a:txBody>
                    <a:bodyPr/>
                    <a:lstStyle/>
                    <a:p>
                      <a:pPr algn="ctr" indent="0" marL="0">
                        <a:buNone/>
                      </a:pPr>
                      <a:r>
                        <a:rPr lang="en-US" sz="1200" b="1" dirty="0">
                          <a:solidFill>
                            <a:srgbClr val="FFFFFF"/>
                          </a:solidFill>
                        </a:rPr>
                        <a:t>판정</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15283A"/>
                    </a:solidFill>
                  </a:tcPr>
                </a:tc>
              </a:tr>
              <a:tr h="384048">
                <a:tc>
                  <a:txBody>
                    <a:bodyPr/>
                    <a:lstStyle/>
                    <a:p>
                      <a:pPr algn="ctr" indent="0" marL="0">
                        <a:buNone/>
                      </a:pPr>
                      <a:r>
                        <a:rPr lang="en-US" sz="1200" dirty="0">
                          <a:solidFill>
                            <a:srgbClr val="1C2733"/>
                          </a:solidFill>
                        </a:rPr>
                        <a:t>5/5</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733"/>
                          </a:solidFill>
                        </a:rPr>
                        <a:t>2,190</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733"/>
                          </a:solidFill>
                        </a:rPr>
                        <a:t>45.8</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733"/>
                          </a:solidFill>
                        </a:rPr>
                        <a:t>116.1</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83A3A"/>
                          </a:solidFill>
                        </a:rPr>
                        <a:t>과대</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rgbClr val="1C2733"/>
                          </a:solidFill>
                        </a:rPr>
                        <a:t>5/19</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733"/>
                          </a:solidFill>
                        </a:rPr>
                        <a:t>2,990</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733"/>
                          </a:solidFill>
                        </a:rPr>
                        <a:t>42.1</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733"/>
                          </a:solidFill>
                        </a:rPr>
                        <a:t>101.4</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83A3A"/>
                          </a:solidFill>
                        </a:rPr>
                        <a:t>과대</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rgbClr val="1C2733"/>
                          </a:solidFill>
                        </a:rPr>
                        <a:t>8/15</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733"/>
                          </a:solidFill>
                        </a:rPr>
                        <a:t>0</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733"/>
                          </a:solidFill>
                        </a:rPr>
                        <a:t>22.2</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733"/>
                          </a:solidFill>
                        </a:rPr>
                        <a:t>23.1</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E7C61"/>
                          </a:solidFill>
                        </a:rPr>
                        <a:t>정확</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rgbClr val="1C2733"/>
                          </a:solidFill>
                        </a:rPr>
                        <a:t>8/16</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733"/>
                          </a:solidFill>
                        </a:rPr>
                        <a:t>10,238</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733"/>
                          </a:solidFill>
                        </a:rPr>
                        <a:t>91.5</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733"/>
                          </a:solidFill>
                        </a:rPr>
                        <a:t>106.5</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733"/>
                          </a:solidFill>
                        </a:rPr>
                        <a:t>정상 조업 근접</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r>
            </a:tbl>
          </a:graphicData>
        </a:graphic>
      </p:graphicFrame>
      <p:sp>
        <p:nvSpPr>
          <p:cNvPr id="13" name="card-179"/>
          <p:cNvSpPr/>
          <p:nvPr/>
        </p:nvSpPr>
        <p:spPr>
          <a:xfrm>
            <a:off x="7223760" y="4251960"/>
            <a:ext cx="4416552" cy="1920240"/>
          </a:xfrm>
          <a:prstGeom prst="roundRect">
            <a:avLst>
              <a:gd name="adj" fmla="val 3810"/>
            </a:avLst>
          </a:prstGeom>
          <a:solidFill>
            <a:schemeClr val="bg2"/>
          </a:solidFill>
          <a:ln w="12700">
            <a:solidFill>
              <a:schemeClr val="bg2"/>
            </a:solidFill>
            <a:prstDash val="solid"/>
          </a:ln>
        </p:spPr>
      </p:sp>
      <p:sp>
        <p:nvSpPr>
          <p:cNvPr id="14" name="text-180"/>
          <p:cNvSpPr txBox="1"/>
          <p:nvPr/>
        </p:nvSpPr>
        <p:spPr>
          <a:xfrm>
            <a:off x="7406640" y="4389120"/>
            <a:ext cx="4023360" cy="292608"/>
          </a:xfrm>
          <a:prstGeom prst="rect">
            <a:avLst/>
          </a:prstGeom>
          <a:noFill/>
          <a:ln/>
        </p:spPr>
        <p:txBody>
          <a:bodyPr wrap="square" lIns="0" tIns="0" rIns="0" bIns="0" rtlCol="0" anchor="t"/>
          <a:lstStyle/>
          <a:p>
            <a:pPr indent="0" marL="0">
              <a:buNone/>
            </a:pPr>
            <a:r>
              <a:rPr lang="ko-KR" altLang="en-US" sz="1500" b="1" dirty="0">
                <a:solidFill>
                  <a:schemeClr val="tx2"/>
                </a:solidFill>
              </a:rPr>
              <a:t>원인과 대책</a:t>
            </a:r>
            <a:endParaRPr lang="ko-KR" sz="1500" dirty="0"/>
          </a:p>
        </p:txBody>
      </p:sp>
      <p:sp>
        <p:nvSpPr>
          <p:cNvPr id="15" name="text-181"/>
          <p:cNvSpPr txBox="1"/>
          <p:nvPr/>
        </p:nvSpPr>
        <p:spPr>
          <a:xfrm>
            <a:off x="7406640" y="4736592"/>
            <a:ext cx="4069080" cy="1371600"/>
          </a:xfrm>
          <a:prstGeom prst="rect">
            <a:avLst/>
          </a:prstGeom>
          <a:noFill/>
          <a:ln/>
        </p:spPr>
        <p:txBody>
          <a:bodyPr wrap="square" lIns="0" tIns="0" rIns="0" bIns="0" rtlCol="0" anchor="t"/>
          <a:lstStyle/>
          <a:p>
            <a:pPr indent="0" marL="0">
              <a:buNone/>
            </a:pPr>
            <a:r>
              <a:rPr lang="ko-KR" altLang="en-US" sz="1400" dirty="0">
                <a:solidFill>
                  <a:schemeClr val="tx1"/>
                </a:solidFill>
              </a:rPr>
              <a:t>휴무 판정은 종일 휴무만 식별해, 일찍 끝나는 날을 하루 종일 가동으로 오판합니다. 학습 구간 공휴일이 2일뿐이라 알고리즘보다 공휴일 조업 계획 데이터가 필요합니다.</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3  피크 경보</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경보는 실제 위험일 42일을 모두 잡았습니다</a:t>
            </a:r>
            <a:endParaRPr lang="ko-KR" sz="2800" dirty="0"/>
          </a:p>
        </p:txBody>
      </p:sp>
      <p:sp>
        <p:nvSpPr>
          <p:cNvPr id="4" name="card-182"/>
          <p:cNvSpPr/>
          <p:nvPr/>
        </p:nvSpPr>
        <p:spPr>
          <a:xfrm>
            <a:off x="548640" y="1600200"/>
            <a:ext cx="3429000" cy="777240"/>
          </a:xfrm>
          <a:prstGeom prst="roundRect">
            <a:avLst>
              <a:gd name="adj" fmla="val 9412"/>
            </a:avLst>
          </a:prstGeom>
          <a:solidFill>
            <a:schemeClr val="tx2"/>
          </a:solidFill>
          <a:ln w="12700">
            <a:solidFill>
              <a:schemeClr val="tx2"/>
            </a:solidFill>
            <a:prstDash val="solid"/>
          </a:ln>
        </p:spPr>
      </p:sp>
      <p:sp>
        <p:nvSpPr>
          <p:cNvPr id="5" name="text-183"/>
          <p:cNvSpPr txBox="1"/>
          <p:nvPr/>
        </p:nvSpPr>
        <p:spPr>
          <a:xfrm>
            <a:off x="731520" y="1600200"/>
            <a:ext cx="3063240" cy="777240"/>
          </a:xfrm>
          <a:prstGeom prst="rect">
            <a:avLst/>
          </a:prstGeom>
          <a:noFill/>
          <a:ln/>
        </p:spPr>
        <p:txBody>
          <a:bodyPr wrap="square" lIns="0" tIns="0" rIns="0" bIns="0" rtlCol="0" anchor="ctr"/>
          <a:lstStyle/>
          <a:p>
            <a:pPr algn="ctr" indent="0" marL="0">
              <a:buNone/>
            </a:pPr>
            <a:r>
              <a:rPr lang="ko-KR" altLang="en-US" sz="1500" b="1" dirty="0">
                <a:solidFill>
                  <a:schemeClr val="bg1"/>
                </a:solidFill>
              </a:rPr>
              <a:t>15분 최대를 직접 학습한 P90 예측</a:t>
            </a:r>
            <a:endParaRPr lang="ko-KR" sz="1500" dirty="0"/>
          </a:p>
        </p:txBody>
      </p:sp>
      <p:sp>
        <p:nvSpPr>
          <p:cNvPr id="6" name="arrow-184"/>
          <p:cNvSpPr/>
          <p:nvPr/>
        </p:nvSpPr>
        <p:spPr>
          <a:xfrm>
            <a:off x="4050792" y="1865376"/>
            <a:ext cx="256032" cy="256032"/>
          </a:xfrm>
          <a:prstGeom prst="rightArrow">
            <a:avLst/>
          </a:prstGeom>
          <a:solidFill>
            <a:schemeClr val="accent3"/>
          </a:solidFill>
          <a:ln w="12700">
            <a:solidFill>
              <a:schemeClr val="accent3"/>
            </a:solidFill>
            <a:prstDash val="solid"/>
          </a:ln>
        </p:spPr>
      </p:sp>
      <p:sp>
        <p:nvSpPr>
          <p:cNvPr id="7" name="card-185"/>
          <p:cNvSpPr/>
          <p:nvPr/>
        </p:nvSpPr>
        <p:spPr>
          <a:xfrm>
            <a:off x="4379976" y="1600200"/>
            <a:ext cx="3429000" cy="777240"/>
          </a:xfrm>
          <a:prstGeom prst="roundRect">
            <a:avLst>
              <a:gd name="adj" fmla="val 9412"/>
            </a:avLst>
          </a:prstGeom>
          <a:solidFill>
            <a:schemeClr val="tx2"/>
          </a:solidFill>
          <a:ln w="12700">
            <a:solidFill>
              <a:schemeClr val="tx2"/>
            </a:solidFill>
            <a:prstDash val="solid"/>
          </a:ln>
        </p:spPr>
      </p:sp>
      <p:sp>
        <p:nvSpPr>
          <p:cNvPr id="8" name="text-186"/>
          <p:cNvSpPr txBox="1"/>
          <p:nvPr/>
        </p:nvSpPr>
        <p:spPr>
          <a:xfrm>
            <a:off x="4562856" y="1600200"/>
            <a:ext cx="3063240" cy="777240"/>
          </a:xfrm>
          <a:prstGeom prst="rect">
            <a:avLst/>
          </a:prstGeom>
          <a:noFill/>
          <a:ln/>
        </p:spPr>
        <p:txBody>
          <a:bodyPr wrap="square" lIns="0" tIns="0" rIns="0" bIns="0" rtlCol="0" anchor="ctr"/>
          <a:lstStyle/>
          <a:p>
            <a:pPr algn="ctr" indent="0" marL="0">
              <a:buNone/>
            </a:pPr>
            <a:r>
              <a:rPr lang="ko-KR" altLang="en-US" sz="1500" b="1" dirty="0">
                <a:solidFill>
                  <a:schemeClr val="bg1"/>
                </a:solidFill>
              </a:rPr>
              <a:t>학습 Q95 초과 시각 = 시간 경보</a:t>
            </a:r>
            <a:endParaRPr lang="ko-KR" sz="1500" dirty="0"/>
          </a:p>
        </p:txBody>
      </p:sp>
      <p:sp>
        <p:nvSpPr>
          <p:cNvPr id="9" name="arrow-187"/>
          <p:cNvSpPr/>
          <p:nvPr/>
        </p:nvSpPr>
        <p:spPr>
          <a:xfrm>
            <a:off x="7882128" y="1865376"/>
            <a:ext cx="256032" cy="256032"/>
          </a:xfrm>
          <a:prstGeom prst="rightArrow">
            <a:avLst/>
          </a:prstGeom>
          <a:solidFill>
            <a:schemeClr val="accent3"/>
          </a:solidFill>
          <a:ln w="12700">
            <a:solidFill>
              <a:schemeClr val="accent3"/>
            </a:solidFill>
            <a:prstDash val="solid"/>
          </a:ln>
        </p:spPr>
      </p:sp>
      <p:sp>
        <p:nvSpPr>
          <p:cNvPr id="10" name="card-188"/>
          <p:cNvSpPr/>
          <p:nvPr/>
        </p:nvSpPr>
        <p:spPr>
          <a:xfrm>
            <a:off x="8211312" y="1600200"/>
            <a:ext cx="3429000" cy="777240"/>
          </a:xfrm>
          <a:prstGeom prst="roundRect">
            <a:avLst>
              <a:gd name="adj" fmla="val 9412"/>
            </a:avLst>
          </a:prstGeom>
          <a:solidFill>
            <a:schemeClr val="accent2"/>
          </a:solidFill>
          <a:ln w="12700">
            <a:solidFill>
              <a:schemeClr val="accent2"/>
            </a:solidFill>
            <a:prstDash val="solid"/>
          </a:ln>
        </p:spPr>
      </p:sp>
      <p:sp>
        <p:nvSpPr>
          <p:cNvPr id="11" name="text-189"/>
          <p:cNvSpPr txBox="1"/>
          <p:nvPr/>
        </p:nvSpPr>
        <p:spPr>
          <a:xfrm>
            <a:off x="8394192" y="1600200"/>
            <a:ext cx="3063240" cy="777240"/>
          </a:xfrm>
          <a:prstGeom prst="rect">
            <a:avLst/>
          </a:prstGeom>
          <a:noFill/>
          <a:ln/>
        </p:spPr>
        <p:txBody>
          <a:bodyPr wrap="square" lIns="0" tIns="0" rIns="0" bIns="0" rtlCol="0" anchor="ctr"/>
          <a:lstStyle/>
          <a:p>
            <a:pPr algn="ctr" indent="0" marL="0">
              <a:buNone/>
            </a:pPr>
            <a:r>
              <a:rPr lang="ko-KR" altLang="en-US" sz="1500" b="1" dirty="0">
                <a:solidFill>
                  <a:schemeClr val="bg1"/>
                </a:solidFill>
              </a:rPr>
              <a:t>하루 한 번이라도 경보 → 위험일</a:t>
            </a:r>
            <a:endParaRPr lang="ko-KR" sz="1500" dirty="0"/>
          </a:p>
        </p:txBody>
      </p:sp>
      <p:sp>
        <p:nvSpPr>
          <p:cNvPr id="12" name="text-190"/>
          <p:cNvSpPr txBox="1"/>
          <p:nvPr/>
        </p:nvSpPr>
        <p:spPr>
          <a:xfrm>
            <a:off x="1965960" y="2697480"/>
            <a:ext cx="1600200" cy="365760"/>
          </a:xfrm>
          <a:prstGeom prst="rect">
            <a:avLst/>
          </a:prstGeom>
          <a:noFill/>
          <a:ln/>
        </p:spPr>
        <p:txBody>
          <a:bodyPr wrap="square" lIns="0" tIns="0" rIns="0" bIns="0" rtlCol="0" anchor="ctr"/>
          <a:lstStyle/>
          <a:p>
            <a:pPr algn="ctr" indent="0" marL="0">
              <a:buNone/>
            </a:pPr>
            <a:r>
              <a:rPr lang="ko-KR" altLang="en-US" sz="1400" b="1" dirty="0">
                <a:solidFill>
                  <a:schemeClr val="tx2"/>
                </a:solidFill>
              </a:rPr>
              <a:t>실제 위험일</a:t>
            </a:r>
            <a:endParaRPr lang="ko-KR" sz="1400" dirty="0"/>
          </a:p>
        </p:txBody>
      </p:sp>
      <p:sp>
        <p:nvSpPr>
          <p:cNvPr id="13" name="text-191"/>
          <p:cNvSpPr txBox="1"/>
          <p:nvPr/>
        </p:nvSpPr>
        <p:spPr>
          <a:xfrm>
            <a:off x="3657600" y="2697480"/>
            <a:ext cx="1600200" cy="365760"/>
          </a:xfrm>
          <a:prstGeom prst="rect">
            <a:avLst/>
          </a:prstGeom>
          <a:noFill/>
          <a:ln/>
        </p:spPr>
        <p:txBody>
          <a:bodyPr wrap="square" lIns="0" tIns="0" rIns="0" bIns="0" rtlCol="0" anchor="ctr"/>
          <a:lstStyle/>
          <a:p>
            <a:pPr algn="ctr" indent="0" marL="0">
              <a:buNone/>
            </a:pPr>
            <a:r>
              <a:rPr lang="ko-KR" altLang="en-US" sz="1400" b="1" dirty="0">
                <a:solidFill>
                  <a:schemeClr val="tx2"/>
                </a:solidFill>
              </a:rPr>
              <a:t>실제 안전일</a:t>
            </a:r>
            <a:endParaRPr lang="ko-KR" sz="1400" dirty="0"/>
          </a:p>
        </p:txBody>
      </p:sp>
      <p:sp>
        <p:nvSpPr>
          <p:cNvPr id="14" name="text-192"/>
          <p:cNvSpPr txBox="1"/>
          <p:nvPr/>
        </p:nvSpPr>
        <p:spPr>
          <a:xfrm>
            <a:off x="548640" y="3154680"/>
            <a:ext cx="1325880" cy="960120"/>
          </a:xfrm>
          <a:prstGeom prst="rect">
            <a:avLst/>
          </a:prstGeom>
          <a:noFill/>
          <a:ln/>
        </p:spPr>
        <p:txBody>
          <a:bodyPr wrap="square" lIns="0" tIns="0" rIns="0" bIns="0" rtlCol="0" anchor="ctr"/>
          <a:lstStyle/>
          <a:p>
            <a:pPr indent="0" marL="0">
              <a:buNone/>
            </a:pPr>
            <a:r>
              <a:rPr lang="ko-KR" altLang="en-US" sz="1400" b="1" dirty="0">
                <a:solidFill>
                  <a:schemeClr val="tx2"/>
                </a:solidFill>
              </a:rPr>
              <a:t>경보 발령</a:t>
            </a:r>
            <a:endParaRPr lang="ko-KR" sz="1400" dirty="0"/>
          </a:p>
        </p:txBody>
      </p:sp>
      <p:sp>
        <p:nvSpPr>
          <p:cNvPr id="15" name="text-193"/>
          <p:cNvSpPr txBox="1"/>
          <p:nvPr/>
        </p:nvSpPr>
        <p:spPr>
          <a:xfrm>
            <a:off x="548640" y="4206240"/>
            <a:ext cx="1325880" cy="960120"/>
          </a:xfrm>
          <a:prstGeom prst="rect">
            <a:avLst/>
          </a:prstGeom>
          <a:noFill/>
          <a:ln/>
        </p:spPr>
        <p:txBody>
          <a:bodyPr wrap="square" lIns="0" tIns="0" rIns="0" bIns="0" rtlCol="0" anchor="ctr"/>
          <a:lstStyle/>
          <a:p>
            <a:pPr indent="0" marL="0">
              <a:buNone/>
            </a:pPr>
            <a:r>
              <a:rPr lang="ko-KR" altLang="en-US" sz="1400" b="1" dirty="0">
                <a:solidFill>
                  <a:schemeClr val="tx2"/>
                </a:solidFill>
              </a:rPr>
              <a:t>경보 없음</a:t>
            </a:r>
            <a:endParaRPr lang="ko-KR" sz="1400" dirty="0"/>
          </a:p>
        </p:txBody>
      </p:sp>
      <p:sp>
        <p:nvSpPr>
          <p:cNvPr id="16" name="card-194"/>
          <p:cNvSpPr/>
          <p:nvPr/>
        </p:nvSpPr>
        <p:spPr>
          <a:xfrm>
            <a:off x="1965960" y="3154680"/>
            <a:ext cx="1600200" cy="960120"/>
          </a:xfrm>
          <a:prstGeom prst="roundRect">
            <a:avLst>
              <a:gd name="adj" fmla="val 7619"/>
            </a:avLst>
          </a:prstGeom>
          <a:solidFill>
            <a:schemeClr val="accent1"/>
          </a:solidFill>
          <a:ln w="12700">
            <a:solidFill>
              <a:schemeClr val="accent1"/>
            </a:solidFill>
            <a:prstDash val="solid"/>
          </a:ln>
        </p:spPr>
      </p:sp>
      <p:sp>
        <p:nvSpPr>
          <p:cNvPr id="17" name="text-195"/>
          <p:cNvSpPr txBox="1"/>
          <p:nvPr/>
        </p:nvSpPr>
        <p:spPr>
          <a:xfrm>
            <a:off x="1965960" y="3227832"/>
            <a:ext cx="1600200" cy="548640"/>
          </a:xfrm>
          <a:prstGeom prst="rect">
            <a:avLst/>
          </a:prstGeom>
          <a:noFill/>
          <a:ln/>
        </p:spPr>
        <p:txBody>
          <a:bodyPr wrap="square" lIns="0" tIns="0" rIns="0" bIns="0" rtlCol="0" anchor="ctr"/>
          <a:lstStyle/>
          <a:p>
            <a:pPr algn="ctr" indent="0" marL="0">
              <a:buNone/>
            </a:pPr>
            <a:r>
              <a:rPr lang="ko-KR" altLang="en-US" sz="3000" b="1" dirty="0">
                <a:solidFill>
                  <a:schemeClr val="bg1"/>
                </a:solidFill>
              </a:rPr>
              <a:t>42</a:t>
            </a:r>
            <a:endParaRPr lang="ko-KR" sz="3000" dirty="0"/>
          </a:p>
        </p:txBody>
      </p:sp>
      <p:sp>
        <p:nvSpPr>
          <p:cNvPr id="18" name="text-196"/>
          <p:cNvSpPr txBox="1"/>
          <p:nvPr/>
        </p:nvSpPr>
        <p:spPr>
          <a:xfrm>
            <a:off x="1965960" y="3776472"/>
            <a:ext cx="1600200" cy="274320"/>
          </a:xfrm>
          <a:prstGeom prst="rect">
            <a:avLst/>
          </a:prstGeom>
          <a:noFill/>
          <a:ln/>
        </p:spPr>
        <p:txBody>
          <a:bodyPr wrap="square" lIns="0" tIns="0" rIns="0" bIns="0" rtlCol="0" anchor="t"/>
          <a:lstStyle/>
          <a:p>
            <a:pPr algn="ctr" indent="0" marL="0">
              <a:buNone/>
            </a:pPr>
            <a:r>
              <a:rPr lang="ko-KR" altLang="en-US" sz="1200" dirty="0">
                <a:solidFill>
                  <a:schemeClr val="bg1"/>
                </a:solidFill>
              </a:rPr>
              <a:t>적중</a:t>
            </a:r>
            <a:endParaRPr lang="ko-KR" sz="1200" dirty="0"/>
          </a:p>
        </p:txBody>
      </p:sp>
      <p:sp>
        <p:nvSpPr>
          <p:cNvPr id="19" name="card-197"/>
          <p:cNvSpPr/>
          <p:nvPr/>
        </p:nvSpPr>
        <p:spPr>
          <a:xfrm>
            <a:off x="3657600" y="3154680"/>
            <a:ext cx="1600200" cy="960120"/>
          </a:xfrm>
          <a:prstGeom prst="roundRect">
            <a:avLst>
              <a:gd name="adj" fmla="val 7619"/>
            </a:avLst>
          </a:prstGeom>
          <a:solidFill>
            <a:schemeClr val="bg2"/>
          </a:solidFill>
          <a:ln w="12700">
            <a:solidFill>
              <a:schemeClr val="bg2"/>
            </a:solidFill>
            <a:prstDash val="solid"/>
          </a:ln>
        </p:spPr>
      </p:sp>
      <p:sp>
        <p:nvSpPr>
          <p:cNvPr id="20" name="text-198"/>
          <p:cNvSpPr txBox="1"/>
          <p:nvPr/>
        </p:nvSpPr>
        <p:spPr>
          <a:xfrm>
            <a:off x="3657600" y="3227832"/>
            <a:ext cx="1600200" cy="548640"/>
          </a:xfrm>
          <a:prstGeom prst="rect">
            <a:avLst/>
          </a:prstGeom>
          <a:noFill/>
          <a:ln/>
        </p:spPr>
        <p:txBody>
          <a:bodyPr wrap="square" lIns="0" tIns="0" rIns="0" bIns="0" rtlCol="0" anchor="ctr"/>
          <a:lstStyle/>
          <a:p>
            <a:pPr algn="ctr" indent="0" marL="0">
              <a:buNone/>
            </a:pPr>
            <a:r>
              <a:rPr lang="ko-KR" altLang="en-US" sz="3000" b="1" dirty="0">
                <a:solidFill>
                  <a:schemeClr val="accent2"/>
                </a:solidFill>
              </a:rPr>
              <a:t>2</a:t>
            </a:r>
            <a:endParaRPr lang="ko-KR" sz="3000" dirty="0"/>
          </a:p>
        </p:txBody>
      </p:sp>
      <p:sp>
        <p:nvSpPr>
          <p:cNvPr id="21" name="text-199"/>
          <p:cNvSpPr txBox="1"/>
          <p:nvPr/>
        </p:nvSpPr>
        <p:spPr>
          <a:xfrm>
            <a:off x="3657600" y="3776472"/>
            <a:ext cx="1600200" cy="274320"/>
          </a:xfrm>
          <a:prstGeom prst="rect">
            <a:avLst/>
          </a:prstGeom>
          <a:noFill/>
          <a:ln/>
        </p:spPr>
        <p:txBody>
          <a:bodyPr wrap="square" lIns="0" tIns="0" rIns="0" bIns="0" rtlCol="0" anchor="t"/>
          <a:lstStyle/>
          <a:p>
            <a:pPr algn="ctr" indent="0" marL="0">
              <a:buNone/>
            </a:pPr>
            <a:r>
              <a:rPr lang="ko-KR" altLang="en-US" sz="1200" dirty="0">
                <a:solidFill>
                  <a:schemeClr val="tx1"/>
                </a:solidFill>
              </a:rPr>
              <a:t>오경보</a:t>
            </a:r>
            <a:endParaRPr lang="ko-KR" sz="1200" dirty="0"/>
          </a:p>
        </p:txBody>
      </p:sp>
      <p:sp>
        <p:nvSpPr>
          <p:cNvPr id="22" name="card-200"/>
          <p:cNvSpPr/>
          <p:nvPr/>
        </p:nvSpPr>
        <p:spPr>
          <a:xfrm>
            <a:off x="1965960" y="4206240"/>
            <a:ext cx="1600200" cy="960120"/>
          </a:xfrm>
          <a:prstGeom prst="roundRect">
            <a:avLst>
              <a:gd name="adj" fmla="val 7619"/>
            </a:avLst>
          </a:prstGeom>
          <a:solidFill>
            <a:schemeClr val="bg2"/>
          </a:solidFill>
          <a:ln w="12700">
            <a:solidFill>
              <a:schemeClr val="bg2"/>
            </a:solidFill>
            <a:prstDash val="solid"/>
          </a:ln>
        </p:spPr>
      </p:sp>
      <p:sp>
        <p:nvSpPr>
          <p:cNvPr id="23" name="text-201"/>
          <p:cNvSpPr txBox="1"/>
          <p:nvPr/>
        </p:nvSpPr>
        <p:spPr>
          <a:xfrm>
            <a:off x="1965960" y="4279392"/>
            <a:ext cx="1600200" cy="548640"/>
          </a:xfrm>
          <a:prstGeom prst="rect">
            <a:avLst/>
          </a:prstGeom>
          <a:noFill/>
          <a:ln/>
        </p:spPr>
        <p:txBody>
          <a:bodyPr wrap="square" lIns="0" tIns="0" rIns="0" bIns="0" rtlCol="0" anchor="ctr"/>
          <a:lstStyle/>
          <a:p>
            <a:pPr algn="ctr" indent="0" marL="0">
              <a:buNone/>
            </a:pPr>
            <a:r>
              <a:rPr lang="ko-KR" altLang="en-US" sz="3000" b="1" dirty="0">
                <a:solidFill>
                  <a:schemeClr val="accent1"/>
                </a:solidFill>
              </a:rPr>
              <a:t>0</a:t>
            </a:r>
            <a:endParaRPr lang="ko-KR" sz="3000" dirty="0"/>
          </a:p>
        </p:txBody>
      </p:sp>
      <p:sp>
        <p:nvSpPr>
          <p:cNvPr id="24" name="text-202"/>
          <p:cNvSpPr txBox="1"/>
          <p:nvPr/>
        </p:nvSpPr>
        <p:spPr>
          <a:xfrm>
            <a:off x="1965960" y="4828032"/>
            <a:ext cx="1600200" cy="274320"/>
          </a:xfrm>
          <a:prstGeom prst="rect">
            <a:avLst/>
          </a:prstGeom>
          <a:noFill/>
          <a:ln/>
        </p:spPr>
        <p:txBody>
          <a:bodyPr wrap="square" lIns="0" tIns="0" rIns="0" bIns="0" rtlCol="0" anchor="t"/>
          <a:lstStyle/>
          <a:p>
            <a:pPr algn="ctr" indent="0" marL="0">
              <a:buNone/>
            </a:pPr>
            <a:r>
              <a:rPr lang="ko-KR" altLang="en-US" sz="1200" dirty="0">
                <a:solidFill>
                  <a:schemeClr val="tx1"/>
                </a:solidFill>
              </a:rPr>
              <a:t>미탐지</a:t>
            </a:r>
            <a:endParaRPr lang="ko-KR" sz="1200" dirty="0"/>
          </a:p>
        </p:txBody>
      </p:sp>
      <p:sp>
        <p:nvSpPr>
          <p:cNvPr id="25" name="card-203"/>
          <p:cNvSpPr/>
          <p:nvPr/>
        </p:nvSpPr>
        <p:spPr>
          <a:xfrm>
            <a:off x="3657600" y="4206240"/>
            <a:ext cx="1600200" cy="960120"/>
          </a:xfrm>
          <a:prstGeom prst="roundRect">
            <a:avLst>
              <a:gd name="adj" fmla="val 7619"/>
            </a:avLst>
          </a:prstGeom>
          <a:solidFill>
            <a:schemeClr val="bg2"/>
          </a:solidFill>
          <a:ln w="12700">
            <a:solidFill>
              <a:schemeClr val="bg2"/>
            </a:solidFill>
            <a:prstDash val="solid"/>
          </a:ln>
        </p:spPr>
      </p:sp>
      <p:sp>
        <p:nvSpPr>
          <p:cNvPr id="26" name="text-204"/>
          <p:cNvSpPr txBox="1"/>
          <p:nvPr/>
        </p:nvSpPr>
        <p:spPr>
          <a:xfrm>
            <a:off x="3657600" y="4279392"/>
            <a:ext cx="1600200" cy="548640"/>
          </a:xfrm>
          <a:prstGeom prst="rect">
            <a:avLst/>
          </a:prstGeom>
          <a:noFill/>
          <a:ln/>
        </p:spPr>
        <p:txBody>
          <a:bodyPr wrap="square" lIns="0" tIns="0" rIns="0" bIns="0" rtlCol="0" anchor="ctr"/>
          <a:lstStyle/>
          <a:p>
            <a:pPr algn="ctr" indent="0" marL="0">
              <a:buNone/>
            </a:pPr>
            <a:r>
              <a:rPr lang="ko-KR" altLang="en-US" sz="3000" b="1" dirty="0">
                <a:solidFill>
                  <a:schemeClr val="tx2"/>
                </a:solidFill>
              </a:rPr>
              <a:t>25</a:t>
            </a:r>
            <a:endParaRPr lang="ko-KR" sz="3000" dirty="0"/>
          </a:p>
        </p:txBody>
      </p:sp>
      <p:sp>
        <p:nvSpPr>
          <p:cNvPr id="27" name="text-205"/>
          <p:cNvSpPr txBox="1"/>
          <p:nvPr/>
        </p:nvSpPr>
        <p:spPr>
          <a:xfrm>
            <a:off x="3657600" y="4828032"/>
            <a:ext cx="1600200" cy="274320"/>
          </a:xfrm>
          <a:prstGeom prst="rect">
            <a:avLst/>
          </a:prstGeom>
          <a:noFill/>
          <a:ln/>
        </p:spPr>
        <p:txBody>
          <a:bodyPr wrap="square" lIns="0" tIns="0" rIns="0" bIns="0" rtlCol="0" anchor="t"/>
          <a:lstStyle/>
          <a:p>
            <a:pPr algn="ctr" indent="0" marL="0">
              <a:buNone/>
            </a:pPr>
            <a:r>
              <a:rPr lang="ko-KR" altLang="en-US" sz="1200" dirty="0">
                <a:solidFill>
                  <a:schemeClr val="tx1"/>
                </a:solidFill>
              </a:rPr>
              <a:t>정상 무경보</a:t>
            </a:r>
            <a:endParaRPr lang="ko-KR" sz="1200" dirty="0"/>
          </a:p>
        </p:txBody>
      </p:sp>
      <p:sp>
        <p:nvSpPr>
          <p:cNvPr id="28" name="text-206"/>
          <p:cNvSpPr txBox="1"/>
          <p:nvPr/>
        </p:nvSpPr>
        <p:spPr>
          <a:xfrm>
            <a:off x="548640" y="5394960"/>
            <a:ext cx="4754880" cy="640080"/>
          </a:xfrm>
          <a:prstGeom prst="rect">
            <a:avLst/>
          </a:prstGeom>
          <a:noFill/>
          <a:ln/>
        </p:spPr>
        <p:txBody>
          <a:bodyPr wrap="square" lIns="0" tIns="0" rIns="0" bIns="0" rtlCol="0" anchor="t"/>
          <a:lstStyle/>
          <a:p>
            <a:pPr indent="0" marL="0">
              <a:buNone/>
            </a:pPr>
            <a:r>
              <a:rPr lang="ko-KR" altLang="en-US" sz="1200" dirty="0">
                <a:solidFill>
                  <a:schemeClr val="tx1"/>
                </a:solidFill>
              </a:rPr>
              <a:t>평가 69일 (7 to 9월). 오경보 2일은 실제 최대가 임계보다 2 to 12 낮았던 고부하일입니다.</a:t>
            </a:r>
            <a:endParaRPr lang="ko-KR" sz="1200" dirty="0"/>
          </a:p>
        </p:txBody>
      </p:sp>
      <p:sp>
        <p:nvSpPr>
          <p:cNvPr id="29" name="text-207"/>
          <p:cNvSpPr txBox="1"/>
          <p:nvPr/>
        </p:nvSpPr>
        <p:spPr>
          <a:xfrm>
            <a:off x="5760720" y="2697480"/>
            <a:ext cx="1874520" cy="548640"/>
          </a:xfrm>
          <a:prstGeom prst="rect">
            <a:avLst/>
          </a:prstGeom>
          <a:noFill/>
          <a:ln/>
        </p:spPr>
        <p:txBody>
          <a:bodyPr wrap="square" lIns="0" tIns="0" rIns="0" bIns="0" rtlCol="0" anchor="ctr"/>
          <a:lstStyle/>
          <a:p>
            <a:pPr indent="0" marL="0">
              <a:buNone/>
            </a:pPr>
            <a:r>
              <a:rPr lang="ko-KR" altLang="en-US" sz="2800" b="1" dirty="0">
                <a:solidFill>
                  <a:schemeClr val="accent1"/>
                </a:solidFill>
              </a:rPr>
              <a:t>100%</a:t>
            </a:r>
            <a:endParaRPr lang="ko-KR" sz="2800" dirty="0"/>
          </a:p>
        </p:txBody>
      </p:sp>
      <p:sp>
        <p:nvSpPr>
          <p:cNvPr id="30" name="text-208"/>
          <p:cNvSpPr txBox="1"/>
          <p:nvPr/>
        </p:nvSpPr>
        <p:spPr>
          <a:xfrm>
            <a:off x="5760720" y="3246120"/>
            <a:ext cx="1874520" cy="274320"/>
          </a:xfrm>
          <a:prstGeom prst="rect">
            <a:avLst/>
          </a:prstGeom>
          <a:noFill/>
          <a:ln/>
        </p:spPr>
        <p:txBody>
          <a:bodyPr wrap="square" lIns="0" tIns="0" rIns="0" bIns="0" rtlCol="0" anchor="t"/>
          <a:lstStyle/>
          <a:p>
            <a:pPr indent="0" marL="0">
              <a:buNone/>
            </a:pPr>
            <a:r>
              <a:rPr lang="ko-KR" altLang="en-US" sz="1400" dirty="0">
                <a:solidFill>
                  <a:schemeClr val="tx1"/>
                </a:solidFill>
              </a:rPr>
              <a:t>재현율</a:t>
            </a:r>
            <a:endParaRPr lang="ko-KR" sz="1400" dirty="0"/>
          </a:p>
        </p:txBody>
      </p:sp>
      <p:sp>
        <p:nvSpPr>
          <p:cNvPr id="31" name="text-209"/>
          <p:cNvSpPr txBox="1"/>
          <p:nvPr/>
        </p:nvSpPr>
        <p:spPr>
          <a:xfrm>
            <a:off x="7754112" y="2697480"/>
            <a:ext cx="1874520" cy="548640"/>
          </a:xfrm>
          <a:prstGeom prst="rect">
            <a:avLst/>
          </a:prstGeom>
          <a:noFill/>
          <a:ln/>
        </p:spPr>
        <p:txBody>
          <a:bodyPr wrap="square" lIns="0" tIns="0" rIns="0" bIns="0" rtlCol="0" anchor="ctr"/>
          <a:lstStyle/>
          <a:p>
            <a:pPr indent="0" marL="0">
              <a:buNone/>
            </a:pPr>
            <a:r>
              <a:rPr lang="ko-KR" altLang="en-US" sz="2800" b="1" dirty="0">
                <a:solidFill>
                  <a:schemeClr val="accent1"/>
                </a:solidFill>
              </a:rPr>
              <a:t>95.5%</a:t>
            </a:r>
            <a:endParaRPr lang="ko-KR" sz="2800" dirty="0"/>
          </a:p>
        </p:txBody>
      </p:sp>
      <p:sp>
        <p:nvSpPr>
          <p:cNvPr id="32" name="text-210"/>
          <p:cNvSpPr txBox="1"/>
          <p:nvPr/>
        </p:nvSpPr>
        <p:spPr>
          <a:xfrm>
            <a:off x="7754112" y="3246120"/>
            <a:ext cx="1874520" cy="274320"/>
          </a:xfrm>
          <a:prstGeom prst="rect">
            <a:avLst/>
          </a:prstGeom>
          <a:noFill/>
          <a:ln/>
        </p:spPr>
        <p:txBody>
          <a:bodyPr wrap="square" lIns="0" tIns="0" rIns="0" bIns="0" rtlCol="0" anchor="t"/>
          <a:lstStyle/>
          <a:p>
            <a:pPr indent="0" marL="0">
              <a:buNone/>
            </a:pPr>
            <a:r>
              <a:rPr lang="ko-KR" altLang="en-US" sz="1400" dirty="0">
                <a:solidFill>
                  <a:schemeClr val="tx1"/>
                </a:solidFill>
              </a:rPr>
              <a:t>정밀도</a:t>
            </a:r>
            <a:endParaRPr lang="ko-KR" sz="1400" dirty="0"/>
          </a:p>
        </p:txBody>
      </p:sp>
      <p:sp>
        <p:nvSpPr>
          <p:cNvPr id="33" name="text-211"/>
          <p:cNvSpPr txBox="1"/>
          <p:nvPr/>
        </p:nvSpPr>
        <p:spPr>
          <a:xfrm>
            <a:off x="9747504" y="2697480"/>
            <a:ext cx="1874520" cy="548640"/>
          </a:xfrm>
          <a:prstGeom prst="rect">
            <a:avLst/>
          </a:prstGeom>
          <a:noFill/>
          <a:ln/>
        </p:spPr>
        <p:txBody>
          <a:bodyPr wrap="square" lIns="0" tIns="0" rIns="0" bIns="0" rtlCol="0" anchor="ctr"/>
          <a:lstStyle/>
          <a:p>
            <a:pPr indent="0" marL="0">
              <a:buNone/>
            </a:pPr>
            <a:r>
              <a:rPr lang="ko-KR" altLang="en-US" sz="2800" b="1" dirty="0">
                <a:solidFill>
                  <a:schemeClr val="accent3"/>
                </a:solidFill>
              </a:rPr>
              <a:t>63.8%</a:t>
            </a:r>
            <a:endParaRPr lang="ko-KR" sz="2800" dirty="0"/>
          </a:p>
        </p:txBody>
      </p:sp>
      <p:sp>
        <p:nvSpPr>
          <p:cNvPr id="34" name="text-212"/>
          <p:cNvSpPr txBox="1"/>
          <p:nvPr/>
        </p:nvSpPr>
        <p:spPr>
          <a:xfrm>
            <a:off x="9747504" y="3246120"/>
            <a:ext cx="1874520" cy="274320"/>
          </a:xfrm>
          <a:prstGeom prst="rect">
            <a:avLst/>
          </a:prstGeom>
          <a:noFill/>
          <a:ln/>
        </p:spPr>
        <p:txBody>
          <a:bodyPr wrap="square" lIns="0" tIns="0" rIns="0" bIns="0" rtlCol="0" anchor="t"/>
          <a:lstStyle/>
          <a:p>
            <a:pPr indent="0" marL="0">
              <a:buNone/>
            </a:pPr>
            <a:r>
              <a:rPr lang="ko-KR" altLang="en-US" sz="1400" dirty="0">
                <a:solidFill>
                  <a:schemeClr val="tx1"/>
                </a:solidFill>
              </a:rPr>
              <a:t>경보율</a:t>
            </a:r>
            <a:endParaRPr lang="ko-KR" sz="1400" dirty="0"/>
          </a:p>
        </p:txBody>
      </p:sp>
      <p:graphicFrame>
        <p:nvGraphicFramePr>
          <p:cNvPr id="35" name="chart-l1-vs-p90" descr=""/>
          <p:cNvGraphicFramePr/>
          <p:nvPr/>
        </p:nvGraphicFramePr>
        <p:xfrm>
          <a:off x="5760720" y="3703320"/>
          <a:ext cx="5879592" cy="2468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3  피크 경보</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놓치지 않는 임계를 고르고, 누수가 없음을 확인했습니다</a:t>
            </a:r>
            <a:endParaRPr lang="ko-KR" sz="2800" dirty="0"/>
          </a:p>
        </p:txBody>
      </p:sp>
      <p:graphicFrame>
        <p:nvGraphicFramePr>
          <p:cNvPr id="4" name="chart-threshold" descr=""/>
          <p:cNvGraphicFramePr/>
          <p:nvPr/>
        </p:nvGraphicFramePr>
        <p:xfrm>
          <a:off x="548640" y="1600200"/>
          <a:ext cx="3514344" cy="3017520"/>
        </p:xfrm>
        <a:graphic xmlns:a="http://schemas.openxmlformats.org/drawingml/2006/main">
          <a:graphicData uri="http://schemas.openxmlformats.org/drawingml/2006/chart">
            <c:chart xmlns:c="http://schemas.openxmlformats.org/drawingml/2006/chart" r:id="rId1"/>
          </a:graphicData>
        </a:graphic>
      </p:graphicFrame>
      <p:sp>
        <p:nvSpPr>
          <p:cNvPr id="5" name="text-213"/>
          <p:cNvSpPr txBox="1"/>
          <p:nvPr/>
        </p:nvSpPr>
        <p:spPr>
          <a:xfrm>
            <a:off x="548640" y="4800600"/>
            <a:ext cx="3514344" cy="1371600"/>
          </a:xfrm>
          <a:prstGeom prst="rect">
            <a:avLst/>
          </a:prstGeom>
          <a:noFill/>
          <a:ln/>
        </p:spPr>
        <p:txBody>
          <a:bodyPr wrap="square" lIns="0" tIns="0" rIns="0" bIns="0" rtlCol="0" anchor="t"/>
          <a:lstStyle/>
          <a:p>
            <a:pPr indent="0" marL="0">
              <a:buNone/>
            </a:pPr>
            <a:r>
              <a:rPr lang="ko-KR" altLang="en-US" sz="1400" dirty="0">
                <a:solidFill>
                  <a:schemeClr val="tx1"/>
                </a:solidFill>
              </a:rPr>
              <a:t>한 번의 초과가 12개월 기본요금을 정하므로 미탐지 비용이 더 큽니다. 그래서 Q95를 기본으로 두고, 현장에서는 실행 옵션 하나로 계약전력을 절대 임계로 바꿔 씁니다.</a:t>
            </a:r>
            <a:endParaRPr lang="ko-KR" sz="1400" dirty="0"/>
          </a:p>
        </p:txBody>
      </p:sp>
      <p:sp>
        <p:nvSpPr>
          <p:cNvPr id="6" name="card-214"/>
          <p:cNvSpPr/>
          <p:nvPr/>
        </p:nvSpPr>
        <p:spPr>
          <a:xfrm>
            <a:off x="4337304" y="1600200"/>
            <a:ext cx="3514344" cy="4572000"/>
          </a:xfrm>
          <a:prstGeom prst="roundRect">
            <a:avLst>
              <a:gd name="adj" fmla="val 2082"/>
            </a:avLst>
          </a:prstGeom>
          <a:solidFill>
            <a:schemeClr val="bg2"/>
          </a:solidFill>
          <a:ln w="12700">
            <a:solidFill>
              <a:schemeClr val="bg2"/>
            </a:solidFill>
            <a:prstDash val="solid"/>
          </a:ln>
        </p:spPr>
      </p:sp>
      <p:sp>
        <p:nvSpPr>
          <p:cNvPr id="7" name="icon-bg-215"/>
          <p:cNvSpPr/>
          <p:nvPr/>
        </p:nvSpPr>
        <p:spPr>
          <a:xfrm>
            <a:off x="4611624" y="1828800"/>
            <a:ext cx="566928" cy="566928"/>
          </a:xfrm>
          <a:prstGeom prst="ellipse">
            <a:avLst/>
          </a:prstGeom>
          <a:solidFill>
            <a:schemeClr val="accent1"/>
          </a:solidFill>
          <a:ln w="12700">
            <a:solidFill>
              <a:schemeClr val="accent1"/>
            </a:solidFill>
            <a:prstDash val="solid"/>
          </a:ln>
        </p:spPr>
      </p:sp>
      <p:pic>
        <p:nvPicPr>
          <p:cNvPr id="8" name="icon-216" descr="preencoded.png">    </p:cNvPr>
          <p:cNvPicPr>
            <a:picLocks noChangeAspect="1"/>
          </p:cNvPicPr>
          <p:nvPr/>
        </p:nvPicPr>
        <p:blipFill>
          <a:blip r:embed="rId2"/>
          <a:stretch>
            <a:fillRect/>
          </a:stretch>
        </p:blipFill>
        <p:spPr>
          <a:xfrm>
            <a:off x="4759025" y="1976201"/>
            <a:ext cx="272125" cy="272125"/>
          </a:xfrm>
          <a:prstGeom prst="rect">
            <a:avLst/>
          </a:prstGeom>
        </p:spPr>
      </p:pic>
      <p:sp>
        <p:nvSpPr>
          <p:cNvPr id="9" name="text-217"/>
          <p:cNvSpPr txBox="1"/>
          <p:nvPr/>
        </p:nvSpPr>
        <p:spPr>
          <a:xfrm>
            <a:off x="5324856" y="1920240"/>
            <a:ext cx="2325624" cy="365760"/>
          </a:xfrm>
          <a:prstGeom prst="rect">
            <a:avLst/>
          </a:prstGeom>
          <a:noFill/>
          <a:ln/>
        </p:spPr>
        <p:txBody>
          <a:bodyPr wrap="square" lIns="0" tIns="0" rIns="0" bIns="0" rtlCol="0" anchor="ctr"/>
          <a:lstStyle/>
          <a:p>
            <a:pPr indent="0" marL="0">
              <a:buNone/>
            </a:pPr>
            <a:r>
              <a:rPr lang="ko-KR" altLang="en-US" sz="1600" b="1" dirty="0">
                <a:solidFill>
                  <a:schemeClr val="tx2"/>
                </a:solidFill>
              </a:rPr>
              <a:t>미래 정보 누수 점검</a:t>
            </a:r>
            <a:endParaRPr lang="ko-KR" sz="1600" dirty="0"/>
          </a:p>
        </p:txBody>
      </p:sp>
      <p:sp>
        <p:nvSpPr>
          <p:cNvPr id="10" name="text-218"/>
          <p:cNvSpPr txBox="1"/>
          <p:nvPr/>
        </p:nvSpPr>
        <p:spPr>
          <a:xfrm>
            <a:off x="4611624" y="2606040"/>
            <a:ext cx="2965704" cy="777240"/>
          </a:xfrm>
          <a:prstGeom prst="rect">
            <a:avLst/>
          </a:prstGeom>
          <a:noFill/>
          <a:ln/>
        </p:spPr>
        <p:txBody>
          <a:bodyPr wrap="square" lIns="0" tIns="0" rIns="0" bIns="0" rtlCol="0" anchor="ctr"/>
          <a:lstStyle/>
          <a:p>
            <a:pPr indent="0" marL="0">
              <a:buNone/>
            </a:pPr>
            <a:r>
              <a:rPr lang="ko-KR" altLang="en-US" sz="4000" b="1" dirty="0">
                <a:solidFill>
                  <a:schemeClr val="accent1"/>
                </a:solidFill>
              </a:rPr>
              <a:t>176회</a:t>
            </a:r>
            <a:endParaRPr lang="ko-KR" sz="4000" dirty="0"/>
          </a:p>
        </p:txBody>
      </p:sp>
      <p:sp>
        <p:nvSpPr>
          <p:cNvPr id="11" name="text-219"/>
          <p:cNvSpPr txBox="1"/>
          <p:nvPr/>
        </p:nvSpPr>
        <p:spPr>
          <a:xfrm>
            <a:off x="4611624" y="3520440"/>
            <a:ext cx="2965704" cy="1188720"/>
          </a:xfrm>
          <a:prstGeom prst="rect">
            <a:avLst/>
          </a:prstGeom>
          <a:noFill/>
          <a:ln/>
        </p:spPr>
        <p:txBody>
          <a:bodyPr wrap="square" lIns="0" tIns="0" rIns="0" bIns="0" rtlCol="0" anchor="t"/>
          <a:lstStyle/>
          <a:p>
            <a:pPr indent="0" marL="0">
              <a:buNone/>
            </a:pPr>
            <a:r>
              <a:rPr lang="ko-KR" altLang="en-US" sz="1400" dirty="0">
                <a:solidFill>
                  <a:schemeClr val="tx1"/>
                </a:solidFill>
              </a:rPr>
              <a:t>88일 치 데이터의 당일 이후 실제 전력을 지우거나 바꾼 뒤 예측과 경보를 다시 수행</a:t>
            </a:r>
            <a:endParaRPr lang="ko-KR" sz="1400" dirty="0"/>
          </a:p>
        </p:txBody>
      </p:sp>
      <p:sp>
        <p:nvSpPr>
          <p:cNvPr id="12" name="text-220"/>
          <p:cNvSpPr txBox="1"/>
          <p:nvPr/>
        </p:nvSpPr>
        <p:spPr>
          <a:xfrm>
            <a:off x="4611624" y="4846320"/>
            <a:ext cx="2965704" cy="1097280"/>
          </a:xfrm>
          <a:prstGeom prst="rect">
            <a:avLst/>
          </a:prstGeom>
          <a:noFill/>
          <a:ln/>
        </p:spPr>
        <p:txBody>
          <a:bodyPr wrap="square" lIns="0" tIns="0" rIns="0" bIns="0" rtlCol="0" anchor="t"/>
          <a:lstStyle/>
          <a:p>
            <a:pPr indent="0" marL="0">
              <a:buNone/>
            </a:pPr>
            <a:r>
              <a:rPr lang="ko-KR" altLang="en-US" sz="1400" b="1" dirty="0">
                <a:solidFill>
                  <a:schemeClr val="tx2"/>
                </a:solidFill>
              </a:rPr>
              <a:t>예측값 변화 0.0 · 경보 판정 동일. 테스트로 고정해 코드 수정 시에도 검사</a:t>
            </a:r>
            <a:endParaRPr lang="ko-KR" sz="1400" dirty="0"/>
          </a:p>
        </p:txBody>
      </p:sp>
      <p:sp>
        <p:nvSpPr>
          <p:cNvPr id="13" name="card-221"/>
          <p:cNvSpPr/>
          <p:nvPr/>
        </p:nvSpPr>
        <p:spPr>
          <a:xfrm>
            <a:off x="8125968" y="1600200"/>
            <a:ext cx="3514344" cy="4572000"/>
          </a:xfrm>
          <a:prstGeom prst="roundRect">
            <a:avLst>
              <a:gd name="adj" fmla="val 2082"/>
            </a:avLst>
          </a:prstGeom>
          <a:solidFill>
            <a:schemeClr val="bg2"/>
          </a:solidFill>
          <a:ln w="12700">
            <a:solidFill>
              <a:schemeClr val="bg2"/>
            </a:solidFill>
            <a:prstDash val="solid"/>
          </a:ln>
        </p:spPr>
      </p:sp>
      <p:sp>
        <p:nvSpPr>
          <p:cNvPr id="14" name="icon-bg-222"/>
          <p:cNvSpPr/>
          <p:nvPr/>
        </p:nvSpPr>
        <p:spPr>
          <a:xfrm>
            <a:off x="8400288" y="1828800"/>
            <a:ext cx="566928" cy="566928"/>
          </a:xfrm>
          <a:prstGeom prst="ellipse">
            <a:avLst/>
          </a:prstGeom>
          <a:solidFill>
            <a:schemeClr val="accent2"/>
          </a:solidFill>
          <a:ln w="12700">
            <a:solidFill>
              <a:schemeClr val="accent2"/>
            </a:solidFill>
            <a:prstDash val="solid"/>
          </a:ln>
        </p:spPr>
      </p:sp>
      <p:pic>
        <p:nvPicPr>
          <p:cNvPr id="15" name="icon-223" descr="preencoded.png">    </p:cNvPr>
          <p:cNvPicPr>
            <a:picLocks noChangeAspect="1"/>
          </p:cNvPicPr>
          <p:nvPr/>
        </p:nvPicPr>
        <p:blipFill>
          <a:blip r:embed="rId3"/>
          <a:stretch>
            <a:fillRect/>
          </a:stretch>
        </p:blipFill>
        <p:spPr>
          <a:xfrm>
            <a:off x="8547689" y="1976201"/>
            <a:ext cx="272125" cy="272125"/>
          </a:xfrm>
          <a:prstGeom prst="rect">
            <a:avLst/>
          </a:prstGeom>
        </p:spPr>
      </p:pic>
      <p:sp>
        <p:nvSpPr>
          <p:cNvPr id="16" name="text-224"/>
          <p:cNvSpPr txBox="1"/>
          <p:nvPr/>
        </p:nvSpPr>
        <p:spPr>
          <a:xfrm>
            <a:off x="9113520" y="1920240"/>
            <a:ext cx="2325624" cy="365760"/>
          </a:xfrm>
          <a:prstGeom prst="rect">
            <a:avLst/>
          </a:prstGeom>
          <a:noFill/>
          <a:ln/>
        </p:spPr>
        <p:txBody>
          <a:bodyPr wrap="square" lIns="0" tIns="0" rIns="0" bIns="0" rtlCol="0" anchor="ctr"/>
          <a:lstStyle/>
          <a:p>
            <a:pPr indent="0" marL="0">
              <a:buNone/>
            </a:pPr>
            <a:r>
              <a:rPr lang="ko-KR" altLang="en-US" sz="1600" b="1" dirty="0">
                <a:solidFill>
                  <a:schemeClr val="tx2"/>
                </a:solidFill>
              </a:rPr>
              <a:t>7일 전 (D-7) 경보</a:t>
            </a:r>
            <a:endParaRPr lang="ko-KR" sz="1600" dirty="0"/>
          </a:p>
        </p:txBody>
      </p:sp>
      <p:sp>
        <p:nvSpPr>
          <p:cNvPr id="17" name="text-225"/>
          <p:cNvSpPr txBox="1"/>
          <p:nvPr/>
        </p:nvSpPr>
        <p:spPr>
          <a:xfrm>
            <a:off x="8400288" y="2606040"/>
            <a:ext cx="2965704" cy="777240"/>
          </a:xfrm>
          <a:prstGeom prst="rect">
            <a:avLst/>
          </a:prstGeom>
          <a:noFill/>
          <a:ln/>
        </p:spPr>
        <p:txBody>
          <a:bodyPr wrap="square" lIns="0" tIns="0" rIns="0" bIns="0" rtlCol="0" anchor="ctr"/>
          <a:lstStyle/>
          <a:p>
            <a:pPr indent="0" marL="0">
              <a:buNone/>
            </a:pPr>
            <a:r>
              <a:rPr lang="ko-KR" altLang="en-US" sz="4000" b="1" dirty="0">
                <a:solidFill>
                  <a:schemeClr val="accent2"/>
                </a:solidFill>
              </a:rPr>
              <a:t>97.4%</a:t>
            </a:r>
            <a:endParaRPr lang="ko-KR" sz="4000" dirty="0"/>
          </a:p>
        </p:txBody>
      </p:sp>
      <p:sp>
        <p:nvSpPr>
          <p:cNvPr id="18" name="text-226"/>
          <p:cNvSpPr txBox="1"/>
          <p:nvPr/>
        </p:nvSpPr>
        <p:spPr>
          <a:xfrm>
            <a:off x="8400288" y="3520440"/>
            <a:ext cx="2965704" cy="1188720"/>
          </a:xfrm>
          <a:prstGeom prst="rect">
            <a:avLst/>
          </a:prstGeom>
          <a:noFill/>
          <a:ln/>
        </p:spPr>
        <p:txBody>
          <a:bodyPr wrap="square" lIns="0" tIns="0" rIns="0" bIns="0" rtlCol="0" anchor="t"/>
          <a:lstStyle/>
          <a:p>
            <a:pPr indent="0" marL="0">
              <a:buNone/>
            </a:pPr>
            <a:r>
              <a:rPr lang="ko-KR" altLang="en-US" sz="1400" dirty="0">
                <a:solidFill>
                  <a:schemeClr val="tx1"/>
                </a:solidFill>
              </a:rPr>
              <a:t>7일 전에 발령해도 재현율 97.4% (하루 전 100%, 분위 0.9 정책 · 72일 기준)</a:t>
            </a:r>
            <a:endParaRPr lang="ko-KR" sz="1400" dirty="0"/>
          </a:p>
        </p:txBody>
      </p:sp>
      <p:sp>
        <p:nvSpPr>
          <p:cNvPr id="19" name="text-227"/>
          <p:cNvSpPr txBox="1"/>
          <p:nvPr/>
        </p:nvSpPr>
        <p:spPr>
          <a:xfrm>
            <a:off x="8400288" y="4846320"/>
            <a:ext cx="2965704" cy="1097280"/>
          </a:xfrm>
          <a:prstGeom prst="rect">
            <a:avLst/>
          </a:prstGeom>
          <a:noFill/>
          <a:ln/>
        </p:spPr>
        <p:txBody>
          <a:bodyPr wrap="square" lIns="0" tIns="0" rIns="0" bIns="0" rtlCol="0" anchor="t"/>
          <a:lstStyle/>
          <a:p>
            <a:pPr indent="0" marL="0">
              <a:buNone/>
            </a:pPr>
            <a:r>
              <a:rPr lang="ko-KR" altLang="en-US" sz="1400" b="1" dirty="0">
                <a:solidFill>
                  <a:schemeClr val="tx2"/>
                </a:solidFill>
              </a:rPr>
              <a:t>교대 편성과 정비 일정을 준비할 시간을 확보</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4  현장 활용</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생산 하위 1/3인 날은 폭염에도 피크일이 없었습니다</a:t>
            </a:r>
            <a:endParaRPr lang="ko-KR" sz="2800" dirty="0"/>
          </a:p>
        </p:txBody>
      </p:sp>
      <p:graphicFrame>
        <p:nvGraphicFramePr>
          <p:cNvPr id="16" name="table-heat"/>
          <p:cNvGraphicFramePr>
            <a:graphicFrameLocks noGrp="1"/>
          </p:cNvGraphicFramePr>
          <p:nvPr>
            <p:extLst>
              <p:ext uri="{D42A27DB-BD31-4B8C-83A1-F6EECF244321}">
                <p14:modId xmlns:p14="http://schemas.microsoft.com/office/powerpoint/2010/main" val="1579011935"/>
              </p:ext>
            </p:extLst>
          </p:nvPr>
        </p:nvGraphicFramePr>
        <p:xfrm>
          <a:off x="548640" y="1645920"/>
          <a:ext cx="6035040" cy="914400"/>
        </p:xfrm>
        <a:graphic>
          <a:graphicData uri="http://schemas.openxmlformats.org/drawingml/2006/table">
            <a:tbl>
              <a:tblPr/>
              <a:tblGrid>
                <a:gridCol w="1783080"/>
                <a:gridCol w="1417320"/>
                <a:gridCol w="1417320"/>
                <a:gridCol w="1417320"/>
              </a:tblGrid>
              <a:tr h="502920">
                <a:tc>
                  <a:txBody>
                    <a:bodyPr/>
                    <a:lstStyle/>
                    <a:p>
                      <a:pPr algn="ctr" indent="0" marL="0">
                        <a:buNone/>
                      </a:pPr>
                      <a:r>
                        <a:rPr lang="en-US" sz="1300" b="1" dirty="0">
                          <a:solidFill>
                            <a:srgbClr val="FFFFFF"/>
                          </a:solidFill>
                        </a:rPr>
                        <a:t>기온 ↓ · 생산 →</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5283A"/>
                    </a:solidFill>
                  </a:tcPr>
                </a:tc>
                <a:tc>
                  <a:txBody>
                    <a:bodyPr/>
                    <a:lstStyle/>
                    <a:p>
                      <a:pPr algn="ctr" indent="0" marL="0">
                        <a:buNone/>
                      </a:pPr>
                      <a:r>
                        <a:rPr lang="en-US" sz="1400" b="1" dirty="0">
                          <a:solidFill>
                            <a:srgbClr val="FFFFFF"/>
                          </a:solidFill>
                        </a:rPr>
                        <a:t>하위 1/3</a:t>
                      </a:r>
                      <a:endParaRPr lang="en-US" sz="14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5283A"/>
                    </a:solidFill>
                  </a:tcPr>
                </a:tc>
                <a:tc>
                  <a:txBody>
                    <a:bodyPr/>
                    <a:lstStyle/>
                    <a:p>
                      <a:pPr algn="ctr" indent="0" marL="0">
                        <a:buNone/>
                      </a:pPr>
                      <a:r>
                        <a:rPr lang="en-US" sz="1400" b="1" dirty="0">
                          <a:solidFill>
                            <a:srgbClr val="FFFFFF"/>
                          </a:solidFill>
                        </a:rPr>
                        <a:t>중위 1/3</a:t>
                      </a:r>
                      <a:endParaRPr lang="en-US" sz="14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5283A"/>
                    </a:solidFill>
                  </a:tcPr>
                </a:tc>
                <a:tc>
                  <a:txBody>
                    <a:bodyPr/>
                    <a:lstStyle/>
                    <a:p>
                      <a:pPr algn="ctr" indent="0" marL="0">
                        <a:buNone/>
                      </a:pPr>
                      <a:r>
                        <a:rPr lang="en-US" sz="1400" b="1" dirty="0">
                          <a:solidFill>
                            <a:srgbClr val="FFFFFF"/>
                          </a:solidFill>
                        </a:rPr>
                        <a:t>상위 1/3</a:t>
                      </a:r>
                      <a:endParaRPr lang="en-US" sz="14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5283A"/>
                    </a:solidFill>
                  </a:tcPr>
                </a:tc>
              </a:tr>
              <a:tr h="1051560">
                <a:tc>
                  <a:txBody>
                    <a:bodyPr/>
                    <a:lstStyle/>
                    <a:p>
                      <a:pPr algn="ctr" indent="0" marL="0">
                        <a:buNone/>
                      </a:pPr>
                      <a:r>
                        <a:rPr lang="en-US" sz="1400" b="1" dirty="0">
                          <a:solidFill>
                            <a:srgbClr val="1C2733"/>
                          </a:solidFill>
                        </a:rPr>
                        <a:t>26℃ 이하</a:t>
                      </a:r>
                      <a:endParaRPr lang="en-US" sz="14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8F8"/>
                    </a:solidFill>
                  </a:tcPr>
                </a:tc>
                <a:tc>
                  <a:txBody>
                    <a:bodyPr/>
                    <a:lstStyle/>
                    <a:p>
                      <a:pPr algn="ctr" indent="0" marL="0">
                        <a:buNone/>
                      </a:pPr>
                      <a:r>
                        <a:rPr lang="en-US" sz="2000" b="1" dirty="0">
                          <a:solidFill>
                            <a:srgbClr val="1C2733"/>
                          </a:solidFill>
                        </a:rPr>
                        <a:t>0%</a:t>
                      </a:r>
                      <a:endParaRPr lang="en-US" sz="1400" dirty="0"/>
                    </a:p>
                    <a:p>
                      <a:pPr algn="ctr" indent="0" marL="0">
                        <a:buNone/>
                      </a:pPr>
                      <a:r>
                        <a:rPr lang="en-US" sz="1200" dirty="0">
                          <a:solidFill>
                            <a:srgbClr val="1C2733"/>
                          </a:solidFill>
                        </a:rPr>
                        <a:t>(4일)</a:t>
                      </a:r>
                      <a:endParaRPr lang="en-US" sz="14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EEC"/>
                    </a:solidFill>
                  </a:tcPr>
                </a:tc>
                <a:tc>
                  <a:txBody>
                    <a:bodyPr/>
                    <a:lstStyle/>
                    <a:p>
                      <a:pPr algn="ctr" indent="0" marL="0">
                        <a:buNone/>
                      </a:pPr>
                      <a:r>
                        <a:rPr lang="en-US" sz="2000" b="1" dirty="0">
                          <a:solidFill>
                            <a:srgbClr val="1C2733"/>
                          </a:solidFill>
                        </a:rPr>
                        <a:t>67%</a:t>
                      </a:r>
                      <a:endParaRPr lang="en-US" sz="1400" dirty="0"/>
                    </a:p>
                    <a:p>
                      <a:pPr algn="ctr" indent="0" marL="0">
                        <a:buNone/>
                      </a:pPr>
                      <a:r>
                        <a:rPr lang="en-US" sz="1200" dirty="0">
                          <a:solidFill>
                            <a:srgbClr val="1C2733"/>
                          </a:solidFill>
                        </a:rPr>
                        <a:t>(9일)</a:t>
                      </a:r>
                      <a:endParaRPr lang="en-US" sz="14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C9A9"/>
                    </a:solidFill>
                  </a:tcPr>
                </a:tc>
                <a:tc>
                  <a:txBody>
                    <a:bodyPr/>
                    <a:lstStyle/>
                    <a:p>
                      <a:pPr algn="ctr" indent="0" marL="0">
                        <a:buNone/>
                      </a:pPr>
                      <a:r>
                        <a:rPr lang="en-US" sz="2000" b="1" dirty="0">
                          <a:solidFill>
                            <a:srgbClr val="1C2733"/>
                          </a:solidFill>
                        </a:rPr>
                        <a:t>71%</a:t>
                      </a:r>
                      <a:endParaRPr lang="en-US" sz="1400" dirty="0"/>
                    </a:p>
                    <a:p>
                      <a:pPr algn="ctr" indent="0" marL="0">
                        <a:buNone/>
                      </a:pPr>
                      <a:r>
                        <a:rPr lang="en-US" sz="1200" dirty="0">
                          <a:solidFill>
                            <a:srgbClr val="1C2733"/>
                          </a:solidFill>
                        </a:rPr>
                        <a:t>(7일)</a:t>
                      </a:r>
                      <a:endParaRPr lang="en-US" sz="14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C9A9"/>
                    </a:solidFill>
                  </a:tcPr>
                </a:tc>
              </a:tr>
              <a:tr h="1051560">
                <a:tc>
                  <a:txBody>
                    <a:bodyPr/>
                    <a:lstStyle/>
                    <a:p>
                      <a:pPr algn="ctr" indent="0" marL="0">
                        <a:buNone/>
                      </a:pPr>
                      <a:r>
                        <a:rPr lang="en-US" sz="1400" b="1" dirty="0">
                          <a:solidFill>
                            <a:srgbClr val="1C2733"/>
                          </a:solidFill>
                        </a:rPr>
                        <a:t>26 to 30℃</a:t>
                      </a:r>
                      <a:endParaRPr lang="en-US" sz="14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8F8"/>
                    </a:solidFill>
                  </a:tcPr>
                </a:tc>
                <a:tc>
                  <a:txBody>
                    <a:bodyPr/>
                    <a:lstStyle/>
                    <a:p>
                      <a:pPr algn="ctr" indent="0" marL="0">
                        <a:buNone/>
                      </a:pPr>
                      <a:r>
                        <a:rPr lang="en-US" sz="2000" b="1" dirty="0">
                          <a:solidFill>
                            <a:srgbClr val="1C2733"/>
                          </a:solidFill>
                        </a:rPr>
                        <a:t>0%</a:t>
                      </a:r>
                      <a:endParaRPr lang="en-US" sz="1400" dirty="0"/>
                    </a:p>
                    <a:p>
                      <a:pPr algn="ctr" indent="0" marL="0">
                        <a:buNone/>
                      </a:pPr>
                      <a:r>
                        <a:rPr lang="en-US" sz="1200" dirty="0">
                          <a:solidFill>
                            <a:srgbClr val="1C2733"/>
                          </a:solidFill>
                        </a:rPr>
                        <a:t>(7일)</a:t>
                      </a:r>
                      <a:endParaRPr lang="en-US" sz="14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EEC"/>
                    </a:solidFill>
                  </a:tcPr>
                </a:tc>
                <a:tc>
                  <a:txBody>
                    <a:bodyPr/>
                    <a:lstStyle/>
                    <a:p>
                      <a:pPr algn="ctr" indent="0" marL="0">
                        <a:buNone/>
                      </a:pPr>
                      <a:r>
                        <a:rPr lang="en-US" sz="2000" b="1" dirty="0">
                          <a:solidFill>
                            <a:srgbClr val="1C2733"/>
                          </a:solidFill>
                        </a:rPr>
                        <a:t>83%</a:t>
                      </a:r>
                      <a:endParaRPr lang="en-US" sz="1400" dirty="0"/>
                    </a:p>
                    <a:p>
                      <a:pPr algn="ctr" indent="0" marL="0">
                        <a:buNone/>
                      </a:pPr>
                      <a:r>
                        <a:rPr lang="en-US" sz="1200" dirty="0">
                          <a:solidFill>
                            <a:srgbClr val="1C2733"/>
                          </a:solidFill>
                        </a:rPr>
                        <a:t>(12일)</a:t>
                      </a:r>
                      <a:endParaRPr lang="en-US" sz="14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9F70"/>
                    </a:solidFill>
                  </a:tcPr>
                </a:tc>
                <a:tc>
                  <a:txBody>
                    <a:bodyPr/>
                    <a:lstStyle/>
                    <a:p>
                      <a:pPr algn="ctr" indent="0" marL="0">
                        <a:buNone/>
                      </a:pPr>
                      <a:r>
                        <a:rPr lang="en-US" sz="2000" b="1" dirty="0">
                          <a:solidFill>
                            <a:srgbClr val="FFFFFF"/>
                          </a:solidFill>
                        </a:rPr>
                        <a:t>100%</a:t>
                      </a:r>
                      <a:endParaRPr lang="en-US" sz="1400" dirty="0"/>
                    </a:p>
                    <a:p>
                      <a:pPr algn="ctr" indent="0" marL="0">
                        <a:buNone/>
                      </a:pPr>
                      <a:r>
                        <a:rPr lang="en-US" sz="1200" dirty="0">
                          <a:solidFill>
                            <a:srgbClr val="FFFFFF"/>
                          </a:solidFill>
                        </a:rPr>
                        <a:t>(10일)</a:t>
                      </a:r>
                      <a:endParaRPr lang="en-US" sz="14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622B"/>
                    </a:solidFill>
                  </a:tcPr>
                </a:tc>
              </a:tr>
              <a:tr h="1051560">
                <a:tc>
                  <a:txBody>
                    <a:bodyPr/>
                    <a:lstStyle/>
                    <a:p>
                      <a:pPr algn="ctr" indent="0" marL="0">
                        <a:buNone/>
                      </a:pPr>
                      <a:r>
                        <a:rPr lang="en-US" sz="1400" b="1" dirty="0">
                          <a:solidFill>
                            <a:srgbClr val="1C2733"/>
                          </a:solidFill>
                        </a:rPr>
                        <a:t>30℃ 초과</a:t>
                      </a:r>
                      <a:endParaRPr lang="en-US" sz="14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8F8"/>
                    </a:solidFill>
                  </a:tcPr>
                </a:tc>
                <a:tc>
                  <a:txBody>
                    <a:bodyPr/>
                    <a:lstStyle/>
                    <a:p>
                      <a:pPr algn="ctr" indent="0" marL="0">
                        <a:buNone/>
                      </a:pPr>
                      <a:r>
                        <a:rPr lang="en-US" sz="2000" b="1" dirty="0">
                          <a:solidFill>
                            <a:srgbClr val="1C2733"/>
                          </a:solidFill>
                        </a:rPr>
                        <a:t>0%</a:t>
                      </a:r>
                      <a:endParaRPr lang="en-US" sz="1400" dirty="0"/>
                    </a:p>
                    <a:p>
                      <a:pPr algn="ctr" indent="0" marL="0">
                        <a:buNone/>
                      </a:pPr>
                      <a:r>
                        <a:rPr lang="en-US" sz="1200" dirty="0">
                          <a:solidFill>
                            <a:srgbClr val="1C2733"/>
                          </a:solidFill>
                        </a:rPr>
                        <a:t>(12일)</a:t>
                      </a:r>
                      <a:endParaRPr lang="en-US" sz="14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EEC"/>
                    </a:solidFill>
                  </a:tcPr>
                </a:tc>
                <a:tc>
                  <a:txBody>
                    <a:bodyPr/>
                    <a:lstStyle/>
                    <a:p>
                      <a:pPr algn="ctr" indent="0" marL="0">
                        <a:buNone/>
                      </a:pPr>
                      <a:r>
                        <a:rPr lang="en-US" sz="2000" b="1" dirty="0">
                          <a:solidFill>
                            <a:srgbClr val="FFFFFF"/>
                          </a:solidFill>
                        </a:rPr>
                        <a:t>100%</a:t>
                      </a:r>
                      <a:endParaRPr lang="en-US" sz="1400" dirty="0"/>
                    </a:p>
                    <a:p>
                      <a:pPr algn="ctr" indent="0" marL="0">
                        <a:buNone/>
                      </a:pPr>
                      <a:r>
                        <a:rPr lang="en-US" sz="1200" dirty="0">
                          <a:solidFill>
                            <a:srgbClr val="FFFFFF"/>
                          </a:solidFill>
                        </a:rPr>
                        <a:t>(2일)</a:t>
                      </a:r>
                      <a:endParaRPr lang="en-US" sz="14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622B"/>
                    </a:solidFill>
                  </a:tcPr>
                </a:tc>
                <a:tc>
                  <a:txBody>
                    <a:bodyPr/>
                    <a:lstStyle/>
                    <a:p>
                      <a:pPr algn="ctr" indent="0" marL="0">
                        <a:buNone/>
                      </a:pPr>
                      <a:r>
                        <a:rPr lang="en-US" sz="2000" b="1" dirty="0">
                          <a:solidFill>
                            <a:srgbClr val="FFFFFF"/>
                          </a:solidFill>
                        </a:rPr>
                        <a:t>100%</a:t>
                      </a:r>
                      <a:endParaRPr lang="en-US" sz="1400" dirty="0"/>
                    </a:p>
                    <a:p>
                      <a:pPr algn="ctr" indent="0" marL="0">
                        <a:buNone/>
                      </a:pPr>
                      <a:r>
                        <a:rPr lang="en-US" sz="1200" dirty="0">
                          <a:solidFill>
                            <a:srgbClr val="FFFFFF"/>
                          </a:solidFill>
                        </a:rPr>
                        <a:t>(6일)</a:t>
                      </a:r>
                      <a:endParaRPr lang="en-US" sz="14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622B"/>
                    </a:solidFill>
                  </a:tcPr>
                </a:tc>
              </a:tr>
            </a:tbl>
          </a:graphicData>
        </a:graphic>
      </p:graphicFrame>
      <p:sp>
        <p:nvSpPr>
          <p:cNvPr id="5" name="text-228"/>
          <p:cNvSpPr txBox="1"/>
          <p:nvPr/>
        </p:nvSpPr>
        <p:spPr>
          <a:xfrm>
            <a:off x="548640" y="5669280"/>
            <a:ext cx="6035040" cy="502920"/>
          </a:xfrm>
          <a:prstGeom prst="rect">
            <a:avLst/>
          </a:prstGeom>
          <a:noFill/>
          <a:ln/>
        </p:spPr>
        <p:txBody>
          <a:bodyPr wrap="square" lIns="0" tIns="0" rIns="0" bIns="0" rtlCol="0" anchor="t"/>
          <a:lstStyle/>
          <a:p>
            <a:pPr indent="0" marL="0">
              <a:buNone/>
            </a:pPr>
            <a:r>
              <a:rPr lang="ko-KR" altLang="en-US" sz="1200" dirty="0">
                <a:solidFill>
                  <a:schemeClr val="tx1"/>
                </a:solidFill>
              </a:rPr>
              <a:t>칸 = 피크일 비율 (해당 일수). 30℃ 초과·중위 1/3 칸은 2일뿐이라 크기보다 방향을 읽습니다.</a:t>
            </a:r>
            <a:endParaRPr lang="ko-KR" sz="1200" dirty="0"/>
          </a:p>
        </p:txBody>
      </p:sp>
      <p:sp>
        <p:nvSpPr>
          <p:cNvPr id="6" name="text-229"/>
          <p:cNvSpPr txBox="1"/>
          <p:nvPr/>
        </p:nvSpPr>
        <p:spPr>
          <a:xfrm>
            <a:off x="6949440" y="1645920"/>
            <a:ext cx="4690872" cy="365760"/>
          </a:xfrm>
          <a:prstGeom prst="rect">
            <a:avLst/>
          </a:prstGeom>
          <a:noFill/>
          <a:ln/>
        </p:spPr>
        <p:txBody>
          <a:bodyPr wrap="square" lIns="0" tIns="0" rIns="0" bIns="0" rtlCol="0" anchor="t"/>
          <a:lstStyle/>
          <a:p>
            <a:pPr indent="0" marL="0">
              <a:buNone/>
            </a:pPr>
            <a:r>
              <a:rPr lang="ko-KR" altLang="en-US" sz="1800" b="1" dirty="0">
                <a:solidFill>
                  <a:schemeClr val="tx2"/>
                </a:solidFill>
              </a:rPr>
              <a:t>전날 자정 3단계 점검</a:t>
            </a:r>
            <a:endParaRPr lang="ko-KR" sz="1800" dirty="0"/>
          </a:p>
        </p:txBody>
      </p:sp>
      <p:sp>
        <p:nvSpPr>
          <p:cNvPr id="7" name="num-bg-230"/>
          <p:cNvSpPr/>
          <p:nvPr/>
        </p:nvSpPr>
        <p:spPr>
          <a:xfrm>
            <a:off x="6949440" y="2176272"/>
            <a:ext cx="457200" cy="457200"/>
          </a:xfrm>
          <a:prstGeom prst="ellipse">
            <a:avLst/>
          </a:prstGeom>
          <a:solidFill>
            <a:schemeClr val="accent2"/>
          </a:solidFill>
          <a:ln w="12700">
            <a:solidFill>
              <a:schemeClr val="accent2"/>
            </a:solidFill>
            <a:prstDash val="solid"/>
          </a:ln>
        </p:spPr>
      </p:sp>
      <p:sp>
        <p:nvSpPr>
          <p:cNvPr id="8" name="text-231"/>
          <p:cNvSpPr txBox="1"/>
          <p:nvPr/>
        </p:nvSpPr>
        <p:spPr>
          <a:xfrm>
            <a:off x="6949440" y="2176272"/>
            <a:ext cx="457200" cy="457200"/>
          </a:xfrm>
          <a:prstGeom prst="rect">
            <a:avLst/>
          </a:prstGeom>
          <a:noFill/>
          <a:ln/>
        </p:spPr>
        <p:txBody>
          <a:bodyPr wrap="square" lIns="0" tIns="0" rIns="0" bIns="0" rtlCol="0" anchor="ctr"/>
          <a:lstStyle/>
          <a:p>
            <a:pPr algn="ctr" indent="0" marL="0">
              <a:buNone/>
            </a:pPr>
            <a:r>
              <a:rPr lang="ko-KR" altLang="en-US" sz="1500" b="1" dirty="0">
                <a:solidFill>
                  <a:schemeClr val="bg1"/>
                </a:solidFill>
              </a:rPr>
              <a:t>1</a:t>
            </a:r>
            <a:endParaRPr lang="ko-KR" sz="1500" dirty="0"/>
          </a:p>
        </p:txBody>
      </p:sp>
      <p:sp>
        <p:nvSpPr>
          <p:cNvPr id="9" name="text-232"/>
          <p:cNvSpPr txBox="1"/>
          <p:nvPr/>
        </p:nvSpPr>
        <p:spPr>
          <a:xfrm>
            <a:off x="7589520" y="2148840"/>
            <a:ext cx="4050792" cy="310896"/>
          </a:xfrm>
          <a:prstGeom prst="rect">
            <a:avLst/>
          </a:prstGeom>
          <a:noFill/>
          <a:ln/>
        </p:spPr>
        <p:txBody>
          <a:bodyPr wrap="square" lIns="0" tIns="0" rIns="0" bIns="0" rtlCol="0" anchor="t"/>
          <a:lstStyle/>
          <a:p>
            <a:pPr indent="0" marL="0">
              <a:buNone/>
            </a:pPr>
            <a:r>
              <a:rPr lang="ko-KR" altLang="en-US" sz="1500" b="1" dirty="0">
                <a:solidFill>
                  <a:schemeClr val="tx2"/>
                </a:solidFill>
              </a:rPr>
              <a:t>일 생산계획 상위 1/3</a:t>
            </a:r>
            <a:endParaRPr lang="ko-KR" sz="1500" dirty="0"/>
          </a:p>
        </p:txBody>
      </p:sp>
      <p:sp>
        <p:nvSpPr>
          <p:cNvPr id="10" name="text-233"/>
          <p:cNvSpPr txBox="1"/>
          <p:nvPr/>
        </p:nvSpPr>
        <p:spPr>
          <a:xfrm>
            <a:off x="7589520" y="2468880"/>
            <a:ext cx="4050792" cy="292608"/>
          </a:xfrm>
          <a:prstGeom prst="rect">
            <a:avLst/>
          </a:prstGeom>
          <a:noFill/>
          <a:ln/>
        </p:spPr>
        <p:txBody>
          <a:bodyPr wrap="square" lIns="0" tIns="0" rIns="0" bIns="0" rtlCol="0" anchor="t"/>
          <a:lstStyle/>
          <a:p>
            <a:pPr indent="0" marL="0">
              <a:buNone/>
            </a:pPr>
            <a:r>
              <a:rPr lang="ko-KR" altLang="en-US" sz="1400" dirty="0">
                <a:solidFill>
                  <a:schemeClr val="tx1"/>
                </a:solidFill>
              </a:rPr>
              <a:t>피크일 91.3% · 기준 대비 1.62배</a:t>
            </a:r>
            <a:endParaRPr lang="ko-KR" sz="1400" dirty="0"/>
          </a:p>
        </p:txBody>
      </p:sp>
      <p:sp>
        <p:nvSpPr>
          <p:cNvPr id="11" name="num-bg-234"/>
          <p:cNvSpPr/>
          <p:nvPr/>
        </p:nvSpPr>
        <p:spPr>
          <a:xfrm>
            <a:off x="6949440" y="2999232"/>
            <a:ext cx="457200" cy="457200"/>
          </a:xfrm>
          <a:prstGeom prst="ellipse">
            <a:avLst/>
          </a:prstGeom>
          <a:solidFill>
            <a:schemeClr val="accent2"/>
          </a:solidFill>
          <a:ln w="12700">
            <a:solidFill>
              <a:schemeClr val="accent2"/>
            </a:solidFill>
            <a:prstDash val="solid"/>
          </a:ln>
        </p:spPr>
      </p:sp>
      <p:sp>
        <p:nvSpPr>
          <p:cNvPr id="12" name="text-235"/>
          <p:cNvSpPr txBox="1"/>
          <p:nvPr/>
        </p:nvSpPr>
        <p:spPr>
          <a:xfrm>
            <a:off x="6949440" y="2999232"/>
            <a:ext cx="457200" cy="457200"/>
          </a:xfrm>
          <a:prstGeom prst="rect">
            <a:avLst/>
          </a:prstGeom>
          <a:noFill/>
          <a:ln/>
        </p:spPr>
        <p:txBody>
          <a:bodyPr wrap="square" lIns="0" tIns="0" rIns="0" bIns="0" rtlCol="0" anchor="ctr"/>
          <a:lstStyle/>
          <a:p>
            <a:pPr algn="ctr" indent="0" marL="0">
              <a:buNone/>
            </a:pPr>
            <a:r>
              <a:rPr lang="ko-KR" altLang="en-US" sz="1500" b="1" dirty="0">
                <a:solidFill>
                  <a:schemeClr val="bg1"/>
                </a:solidFill>
              </a:rPr>
              <a:t>2</a:t>
            </a:r>
            <a:endParaRPr lang="ko-KR" sz="1500" dirty="0"/>
          </a:p>
        </p:txBody>
      </p:sp>
      <p:sp>
        <p:nvSpPr>
          <p:cNvPr id="13" name="text-236"/>
          <p:cNvSpPr txBox="1"/>
          <p:nvPr/>
        </p:nvSpPr>
        <p:spPr>
          <a:xfrm>
            <a:off x="7589520" y="2971800"/>
            <a:ext cx="4050792" cy="310896"/>
          </a:xfrm>
          <a:prstGeom prst="rect">
            <a:avLst/>
          </a:prstGeom>
          <a:noFill/>
          <a:ln/>
        </p:spPr>
        <p:txBody>
          <a:bodyPr wrap="square" lIns="0" tIns="0" rIns="0" bIns="0" rtlCol="0" anchor="t"/>
          <a:lstStyle/>
          <a:p>
            <a:pPr indent="0" marL="0">
              <a:buNone/>
            </a:pPr>
            <a:r>
              <a:rPr lang="ko-KR" altLang="en-US" sz="1500" b="1" dirty="0">
                <a:solidFill>
                  <a:schemeClr val="tx2"/>
                </a:solidFill>
              </a:rPr>
              <a:t>가동 예정 18시간 이상</a:t>
            </a:r>
            <a:endParaRPr lang="ko-KR" sz="1500" dirty="0"/>
          </a:p>
        </p:txBody>
      </p:sp>
      <p:sp>
        <p:nvSpPr>
          <p:cNvPr id="14" name="text-237"/>
          <p:cNvSpPr txBox="1"/>
          <p:nvPr/>
        </p:nvSpPr>
        <p:spPr>
          <a:xfrm>
            <a:off x="7589520" y="3291840"/>
            <a:ext cx="4050792" cy="292608"/>
          </a:xfrm>
          <a:prstGeom prst="rect">
            <a:avLst/>
          </a:prstGeom>
          <a:noFill/>
          <a:ln/>
        </p:spPr>
        <p:txBody>
          <a:bodyPr wrap="square" lIns="0" tIns="0" rIns="0" bIns="0" rtlCol="0" anchor="t"/>
          <a:lstStyle/>
          <a:p>
            <a:pPr indent="0" marL="0">
              <a:buNone/>
            </a:pPr>
            <a:r>
              <a:rPr lang="ko-KR" altLang="en-US" sz="1400" dirty="0">
                <a:solidFill>
                  <a:schemeClr val="tx1"/>
                </a:solidFill>
              </a:rPr>
              <a:t>91.2% · 1.61배</a:t>
            </a:r>
            <a:endParaRPr lang="ko-KR" sz="1400" dirty="0"/>
          </a:p>
        </p:txBody>
      </p:sp>
      <p:sp>
        <p:nvSpPr>
          <p:cNvPr id="15" name="num-bg-238"/>
          <p:cNvSpPr/>
          <p:nvPr/>
        </p:nvSpPr>
        <p:spPr>
          <a:xfrm>
            <a:off x="6949440" y="3822192"/>
            <a:ext cx="457200" cy="457200"/>
          </a:xfrm>
          <a:prstGeom prst="ellipse">
            <a:avLst/>
          </a:prstGeom>
          <a:solidFill>
            <a:schemeClr val="accent2"/>
          </a:solidFill>
          <a:ln w="12700">
            <a:solidFill>
              <a:schemeClr val="accent2"/>
            </a:solidFill>
            <a:prstDash val="solid"/>
          </a:ln>
        </p:spPr>
      </p:sp>
      <p:sp>
        <p:nvSpPr>
          <p:cNvPr id="16" name="text-239"/>
          <p:cNvSpPr txBox="1"/>
          <p:nvPr/>
        </p:nvSpPr>
        <p:spPr>
          <a:xfrm>
            <a:off x="6949440" y="3822192"/>
            <a:ext cx="457200" cy="457200"/>
          </a:xfrm>
          <a:prstGeom prst="rect">
            <a:avLst/>
          </a:prstGeom>
          <a:noFill/>
          <a:ln/>
        </p:spPr>
        <p:txBody>
          <a:bodyPr wrap="square" lIns="0" tIns="0" rIns="0" bIns="0" rtlCol="0" anchor="ctr"/>
          <a:lstStyle/>
          <a:p>
            <a:pPr algn="ctr" indent="0" marL="0">
              <a:buNone/>
            </a:pPr>
            <a:r>
              <a:rPr lang="ko-KR" altLang="en-US" sz="1500" b="1" dirty="0">
                <a:solidFill>
                  <a:schemeClr val="bg1"/>
                </a:solidFill>
              </a:rPr>
              <a:t>3</a:t>
            </a:r>
            <a:endParaRPr lang="ko-KR" sz="1500" dirty="0"/>
          </a:p>
        </p:txBody>
      </p:sp>
      <p:sp>
        <p:nvSpPr>
          <p:cNvPr id="17" name="text-240"/>
          <p:cNvSpPr txBox="1"/>
          <p:nvPr/>
        </p:nvSpPr>
        <p:spPr>
          <a:xfrm>
            <a:off x="7589520" y="3794760"/>
            <a:ext cx="4050792" cy="310896"/>
          </a:xfrm>
          <a:prstGeom prst="rect">
            <a:avLst/>
          </a:prstGeom>
          <a:noFill/>
          <a:ln/>
        </p:spPr>
        <p:txBody>
          <a:bodyPr wrap="square" lIns="0" tIns="0" rIns="0" bIns="0" rtlCol="0" anchor="t"/>
          <a:lstStyle/>
          <a:p>
            <a:pPr indent="0" marL="0">
              <a:buNone/>
            </a:pPr>
            <a:r>
              <a:rPr lang="ko-KR" altLang="en-US" sz="1500" b="1" dirty="0">
                <a:solidFill>
                  <a:schemeClr val="tx2"/>
                </a:solidFill>
              </a:rPr>
              <a:t>예측 최고기온 26 to 30℃</a:t>
            </a:r>
            <a:endParaRPr lang="ko-KR" sz="1500" dirty="0"/>
          </a:p>
        </p:txBody>
      </p:sp>
      <p:sp>
        <p:nvSpPr>
          <p:cNvPr id="18" name="text-241"/>
          <p:cNvSpPr txBox="1"/>
          <p:nvPr/>
        </p:nvSpPr>
        <p:spPr>
          <a:xfrm>
            <a:off x="7589520" y="4114800"/>
            <a:ext cx="4050792" cy="292608"/>
          </a:xfrm>
          <a:prstGeom prst="rect">
            <a:avLst/>
          </a:prstGeom>
          <a:noFill/>
          <a:ln/>
        </p:spPr>
        <p:txBody>
          <a:bodyPr wrap="square" lIns="0" tIns="0" rIns="0" bIns="0" rtlCol="0" anchor="t"/>
          <a:lstStyle/>
          <a:p>
            <a:pPr indent="0" marL="0">
              <a:buNone/>
            </a:pPr>
            <a:r>
              <a:rPr lang="ko-KR" altLang="en-US" sz="1400" dirty="0">
                <a:solidFill>
                  <a:schemeClr val="tx1"/>
                </a:solidFill>
              </a:rPr>
              <a:t>75.0% · 1.33배 (생산 조건과 함께 읽기)</a:t>
            </a:r>
            <a:endParaRPr lang="ko-KR" sz="1400" dirty="0"/>
          </a:p>
        </p:txBody>
      </p:sp>
      <p:sp>
        <p:nvSpPr>
          <p:cNvPr id="19" name="card-242"/>
          <p:cNvSpPr/>
          <p:nvPr/>
        </p:nvSpPr>
        <p:spPr>
          <a:xfrm>
            <a:off x="6949440" y="4709160"/>
            <a:ext cx="4690872" cy="658368"/>
          </a:xfrm>
          <a:prstGeom prst="roundRect">
            <a:avLst>
              <a:gd name="adj" fmla="val 11111"/>
            </a:avLst>
          </a:prstGeom>
          <a:solidFill>
            <a:schemeClr val="accent1"/>
          </a:solidFill>
          <a:ln w="12700">
            <a:solidFill>
              <a:schemeClr val="accent1"/>
            </a:solidFill>
            <a:prstDash val="solid"/>
          </a:ln>
        </p:spPr>
      </p:sp>
      <p:sp>
        <p:nvSpPr>
          <p:cNvPr id="20" name="text-243"/>
          <p:cNvSpPr txBox="1"/>
          <p:nvPr/>
        </p:nvSpPr>
        <p:spPr>
          <a:xfrm>
            <a:off x="7132320" y="4709160"/>
            <a:ext cx="4389120" cy="658368"/>
          </a:xfrm>
          <a:prstGeom prst="rect">
            <a:avLst/>
          </a:prstGeom>
          <a:noFill/>
          <a:ln/>
        </p:spPr>
        <p:txBody>
          <a:bodyPr wrap="square" lIns="0" tIns="0" rIns="0" bIns="0" rtlCol="0" anchor="ctr"/>
          <a:lstStyle/>
          <a:p>
            <a:pPr indent="0" marL="0">
              <a:buNone/>
            </a:pPr>
            <a:r>
              <a:rPr lang="ko-KR" altLang="en-US" sz="1400" b="1" dirty="0">
                <a:solidFill>
                  <a:schemeClr val="bg1"/>
                </a:solidFill>
              </a:rPr>
              <a:t>셋 다 해당 → 경보와 무관하게 설비 기동 분산부터</a:t>
            </a:r>
            <a:endParaRPr lang="ko-KR" sz="1400" dirty="0"/>
          </a:p>
        </p:txBody>
      </p:sp>
      <p:sp>
        <p:nvSpPr>
          <p:cNvPr id="21" name="card-244"/>
          <p:cNvSpPr/>
          <p:nvPr/>
        </p:nvSpPr>
        <p:spPr>
          <a:xfrm>
            <a:off x="6949440" y="5513832"/>
            <a:ext cx="4690872" cy="658368"/>
          </a:xfrm>
          <a:prstGeom prst="roundRect">
            <a:avLst>
              <a:gd name="adj" fmla="val 11111"/>
            </a:avLst>
          </a:prstGeom>
          <a:solidFill>
            <a:schemeClr val="bg2"/>
          </a:solidFill>
          <a:ln w="12700">
            <a:solidFill>
              <a:schemeClr val="bg2"/>
            </a:solidFill>
            <a:prstDash val="solid"/>
          </a:ln>
        </p:spPr>
      </p:sp>
      <p:sp>
        <p:nvSpPr>
          <p:cNvPr id="22" name="text-245"/>
          <p:cNvSpPr txBox="1"/>
          <p:nvPr/>
        </p:nvSpPr>
        <p:spPr>
          <a:xfrm>
            <a:off x="7132320" y="5513832"/>
            <a:ext cx="4389120" cy="658368"/>
          </a:xfrm>
          <a:prstGeom prst="rect">
            <a:avLst/>
          </a:prstGeom>
          <a:noFill/>
          <a:ln/>
        </p:spPr>
        <p:txBody>
          <a:bodyPr wrap="square" lIns="0" tIns="0" rIns="0" bIns="0" rtlCol="0" anchor="ctr"/>
          <a:lstStyle/>
          <a:p>
            <a:pPr indent="0" marL="0">
              <a:buNone/>
            </a:pPr>
            <a:r>
              <a:rPr lang="ko-KR" altLang="en-US" sz="1400" b="1" dirty="0">
                <a:solidFill>
                  <a:schemeClr val="tx2"/>
                </a:solidFill>
              </a:rPr>
              <a:t>주말·생산 하위 1/3 → 피크일 0%, 추가 조치 불필요</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4  현장 활용</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저감 방안 4축을 나눠 검증하고 A·B를 채택했습니다</a:t>
            </a:r>
            <a:endParaRPr lang="ko-KR" sz="2800" dirty="0"/>
          </a:p>
        </p:txBody>
      </p:sp>
      <p:sp>
        <p:nvSpPr>
          <p:cNvPr id="4" name="card-246"/>
          <p:cNvSpPr/>
          <p:nvPr/>
        </p:nvSpPr>
        <p:spPr>
          <a:xfrm>
            <a:off x="548640" y="1600200"/>
            <a:ext cx="2606040" cy="3657600"/>
          </a:xfrm>
          <a:prstGeom prst="roundRect">
            <a:avLst>
              <a:gd name="adj" fmla="val 2807"/>
            </a:avLst>
          </a:prstGeom>
          <a:solidFill>
            <a:schemeClr val="bg2"/>
          </a:solidFill>
          <a:ln w="12700">
            <a:solidFill>
              <a:schemeClr val="bg2"/>
            </a:solidFill>
            <a:prstDash val="solid"/>
          </a:ln>
        </p:spPr>
      </p:sp>
      <p:sp>
        <p:nvSpPr>
          <p:cNvPr id="5" name="num-bg-247"/>
          <p:cNvSpPr/>
          <p:nvPr/>
        </p:nvSpPr>
        <p:spPr>
          <a:xfrm>
            <a:off x="749808" y="1801368"/>
            <a:ext cx="548640" cy="548640"/>
          </a:xfrm>
          <a:prstGeom prst="ellipse">
            <a:avLst/>
          </a:prstGeom>
          <a:solidFill>
            <a:schemeClr val="accent1"/>
          </a:solidFill>
          <a:ln w="12700">
            <a:solidFill>
              <a:schemeClr val="accent1"/>
            </a:solidFill>
            <a:prstDash val="solid"/>
          </a:ln>
        </p:spPr>
      </p:sp>
      <p:sp>
        <p:nvSpPr>
          <p:cNvPr id="6" name="text-248"/>
          <p:cNvSpPr txBox="1"/>
          <p:nvPr/>
        </p:nvSpPr>
        <p:spPr>
          <a:xfrm>
            <a:off x="749808" y="1801368"/>
            <a:ext cx="548640" cy="548640"/>
          </a:xfrm>
          <a:prstGeom prst="rect">
            <a:avLst/>
          </a:prstGeom>
          <a:noFill/>
          <a:ln/>
        </p:spPr>
        <p:txBody>
          <a:bodyPr wrap="square" lIns="0" tIns="0" rIns="0" bIns="0" rtlCol="0" anchor="ctr"/>
          <a:lstStyle/>
          <a:p>
            <a:pPr algn="ctr" indent="0" marL="0">
              <a:buNone/>
            </a:pPr>
            <a:r>
              <a:rPr lang="ko-KR" altLang="en-US" sz="2000" b="1" dirty="0">
                <a:solidFill>
                  <a:schemeClr val="bg1"/>
                </a:solidFill>
              </a:rPr>
              <a:t>A</a:t>
            </a:r>
            <a:endParaRPr lang="ko-KR" sz="2000" dirty="0"/>
          </a:p>
        </p:txBody>
      </p:sp>
      <p:sp>
        <p:nvSpPr>
          <p:cNvPr id="7" name="card-249"/>
          <p:cNvSpPr/>
          <p:nvPr/>
        </p:nvSpPr>
        <p:spPr>
          <a:xfrm>
            <a:off x="1417320" y="1911096"/>
            <a:ext cx="1536192" cy="347472"/>
          </a:xfrm>
          <a:prstGeom prst="roundRect">
            <a:avLst>
              <a:gd name="adj" fmla="val 50000"/>
            </a:avLst>
          </a:prstGeom>
          <a:solidFill>
            <a:schemeClr val="accent1"/>
          </a:solidFill>
          <a:ln w="12700">
            <a:solidFill>
              <a:schemeClr val="accent1"/>
            </a:solidFill>
            <a:prstDash val="solid"/>
          </a:ln>
        </p:spPr>
      </p:sp>
      <p:sp>
        <p:nvSpPr>
          <p:cNvPr id="8" name="text-250"/>
          <p:cNvSpPr txBox="1"/>
          <p:nvPr/>
        </p:nvSpPr>
        <p:spPr>
          <a:xfrm>
            <a:off x="1417320" y="1911096"/>
            <a:ext cx="1536192" cy="347472"/>
          </a:xfrm>
          <a:prstGeom prst="rect">
            <a:avLst/>
          </a:prstGeom>
          <a:noFill/>
          <a:ln/>
        </p:spPr>
        <p:txBody>
          <a:bodyPr wrap="square" lIns="0" tIns="0" rIns="0" bIns="0" rtlCol="0" anchor="ctr"/>
          <a:lstStyle/>
          <a:p>
            <a:pPr algn="ctr" indent="0" marL="0">
              <a:buNone/>
            </a:pPr>
            <a:r>
              <a:rPr lang="ko-KR" altLang="en-US" sz="1200" b="1" dirty="0">
                <a:solidFill>
                  <a:schemeClr val="bg1"/>
                </a:solidFill>
              </a:rPr>
              <a:t>채택 · 상시</a:t>
            </a:r>
            <a:endParaRPr lang="ko-KR" sz="1200" dirty="0"/>
          </a:p>
        </p:txBody>
      </p:sp>
      <p:sp>
        <p:nvSpPr>
          <p:cNvPr id="9" name="text-251"/>
          <p:cNvSpPr txBox="1"/>
          <p:nvPr/>
        </p:nvSpPr>
        <p:spPr>
          <a:xfrm>
            <a:off x="749808" y="2496312"/>
            <a:ext cx="2240280" cy="347472"/>
          </a:xfrm>
          <a:prstGeom prst="rect">
            <a:avLst/>
          </a:prstGeom>
          <a:noFill/>
          <a:ln/>
        </p:spPr>
        <p:txBody>
          <a:bodyPr wrap="square" lIns="0" tIns="0" rIns="0" bIns="0" rtlCol="0" anchor="t"/>
          <a:lstStyle/>
          <a:p>
            <a:pPr indent="0" marL="0">
              <a:buNone/>
            </a:pPr>
            <a:r>
              <a:rPr lang="ko-KR" altLang="en-US" sz="1600" b="1" dirty="0">
                <a:solidFill>
                  <a:schemeClr val="tx2"/>
                </a:solidFill>
              </a:rPr>
              <a:t>상시 기동 분산</a:t>
            </a:r>
            <a:endParaRPr lang="ko-KR" sz="1600" dirty="0"/>
          </a:p>
        </p:txBody>
      </p:sp>
      <p:sp>
        <p:nvSpPr>
          <p:cNvPr id="10" name="text-252"/>
          <p:cNvSpPr txBox="1"/>
          <p:nvPr/>
        </p:nvSpPr>
        <p:spPr>
          <a:xfrm>
            <a:off x="749808" y="2898648"/>
            <a:ext cx="2240280" cy="868680"/>
          </a:xfrm>
          <a:prstGeom prst="rect">
            <a:avLst/>
          </a:prstGeom>
          <a:noFill/>
          <a:ln/>
        </p:spPr>
        <p:txBody>
          <a:bodyPr wrap="square" lIns="0" tIns="0" rIns="0" bIns="0" rtlCol="0" anchor="t"/>
          <a:lstStyle/>
          <a:p>
            <a:pPr indent="0" marL="0">
              <a:buNone/>
            </a:pPr>
            <a:r>
              <a:rPr lang="ko-KR" altLang="en-US" sz="1400" dirty="0">
                <a:solidFill>
                  <a:schemeClr val="tx1"/>
                </a:solidFill>
              </a:rPr>
              <a:t>7·8시와 13시의 동시 기동을 10 to 20분 간격 순차 기동으로</a:t>
            </a:r>
            <a:endParaRPr lang="ko-KR" sz="1400" dirty="0"/>
          </a:p>
        </p:txBody>
      </p:sp>
      <p:sp>
        <p:nvSpPr>
          <p:cNvPr id="11" name="text-253"/>
          <p:cNvSpPr txBox="1"/>
          <p:nvPr/>
        </p:nvSpPr>
        <p:spPr>
          <a:xfrm>
            <a:off x="749808" y="3813048"/>
            <a:ext cx="2240280" cy="228600"/>
          </a:xfrm>
          <a:prstGeom prst="rect">
            <a:avLst/>
          </a:prstGeom>
          <a:noFill/>
          <a:ln/>
        </p:spPr>
        <p:txBody>
          <a:bodyPr wrap="square" lIns="0" tIns="0" rIns="0" bIns="0" rtlCol="0" anchor="t"/>
          <a:lstStyle/>
          <a:p>
            <a:pPr indent="0" marL="0">
              <a:buNone/>
            </a:pPr>
            <a:r>
              <a:rPr lang="ko-KR" altLang="en-US" sz="1100" b="1" dirty="0">
                <a:solidFill>
                  <a:schemeClr val="accent3"/>
                </a:solidFill>
              </a:rPr>
              <a:t>근거</a:t>
            </a:r>
            <a:endParaRPr lang="ko-KR" sz="1100" dirty="0"/>
          </a:p>
        </p:txBody>
      </p:sp>
      <p:sp>
        <p:nvSpPr>
          <p:cNvPr id="12" name="text-254"/>
          <p:cNvSpPr txBox="1"/>
          <p:nvPr/>
        </p:nvSpPr>
        <p:spPr>
          <a:xfrm>
            <a:off x="749808" y="4041648"/>
            <a:ext cx="2240280" cy="731520"/>
          </a:xfrm>
          <a:prstGeom prst="rect">
            <a:avLst/>
          </a:prstGeom>
          <a:noFill/>
          <a:ln/>
        </p:spPr>
        <p:txBody>
          <a:bodyPr wrap="square" lIns="0" tIns="0" rIns="0" bIns="0" rtlCol="0" anchor="t"/>
          <a:lstStyle/>
          <a:p>
            <a:pPr indent="0" marL="0">
              <a:buNone/>
            </a:pPr>
            <a:r>
              <a:rPr lang="ko-KR" altLang="en-US" sz="1400" b="1" dirty="0">
                <a:solidFill>
                  <a:schemeClr val="tx2"/>
                </a:solidFill>
              </a:rPr>
              <a:t>상승폭 8시 +48.6 · 13시 +50.1</a:t>
            </a:r>
            <a:endParaRPr lang="ko-KR" sz="1400" dirty="0"/>
          </a:p>
        </p:txBody>
      </p:sp>
      <p:sp>
        <p:nvSpPr>
          <p:cNvPr id="13" name="text-255"/>
          <p:cNvSpPr txBox="1"/>
          <p:nvPr/>
        </p:nvSpPr>
        <p:spPr>
          <a:xfrm>
            <a:off x="749808" y="4800600"/>
            <a:ext cx="2240280" cy="320040"/>
          </a:xfrm>
          <a:prstGeom prst="rect">
            <a:avLst/>
          </a:prstGeom>
          <a:noFill/>
          <a:ln/>
        </p:spPr>
        <p:txBody>
          <a:bodyPr wrap="square" lIns="0" tIns="0" rIns="0" bIns="0" rtlCol="0" anchor="t"/>
          <a:lstStyle/>
          <a:p>
            <a:pPr indent="0" marL="0">
              <a:buNone/>
            </a:pPr>
            <a:r>
              <a:rPr lang="ko-KR" altLang="en-US" sz="1200" dirty="0">
                <a:solidFill>
                  <a:schemeClr val="tx1"/>
                </a:solidFill>
              </a:rPr>
              <a:t>인건비 0 · 생산 손실 0</a:t>
            </a:r>
            <a:endParaRPr lang="ko-KR" sz="1200" dirty="0"/>
          </a:p>
        </p:txBody>
      </p:sp>
      <p:sp>
        <p:nvSpPr>
          <p:cNvPr id="14" name="card-256"/>
          <p:cNvSpPr/>
          <p:nvPr/>
        </p:nvSpPr>
        <p:spPr>
          <a:xfrm>
            <a:off x="3376879" y="1600200"/>
            <a:ext cx="2606040" cy="3657600"/>
          </a:xfrm>
          <a:prstGeom prst="roundRect">
            <a:avLst>
              <a:gd name="adj" fmla="val 2807"/>
            </a:avLst>
          </a:prstGeom>
          <a:solidFill>
            <a:schemeClr val="bg2"/>
          </a:solidFill>
          <a:ln w="12700">
            <a:solidFill>
              <a:schemeClr val="bg2"/>
            </a:solidFill>
            <a:prstDash val="solid"/>
          </a:ln>
        </p:spPr>
      </p:sp>
      <p:sp>
        <p:nvSpPr>
          <p:cNvPr id="15" name="num-bg-257"/>
          <p:cNvSpPr/>
          <p:nvPr/>
        </p:nvSpPr>
        <p:spPr>
          <a:xfrm>
            <a:off x="3578047" y="1801368"/>
            <a:ext cx="548640" cy="548640"/>
          </a:xfrm>
          <a:prstGeom prst="ellipse">
            <a:avLst/>
          </a:prstGeom>
          <a:solidFill>
            <a:schemeClr val="accent1"/>
          </a:solidFill>
          <a:ln w="12700">
            <a:solidFill>
              <a:schemeClr val="accent1"/>
            </a:solidFill>
            <a:prstDash val="solid"/>
          </a:ln>
        </p:spPr>
      </p:sp>
      <p:sp>
        <p:nvSpPr>
          <p:cNvPr id="16" name="text-258"/>
          <p:cNvSpPr txBox="1"/>
          <p:nvPr/>
        </p:nvSpPr>
        <p:spPr>
          <a:xfrm>
            <a:off x="3578047" y="1801368"/>
            <a:ext cx="548640" cy="548640"/>
          </a:xfrm>
          <a:prstGeom prst="rect">
            <a:avLst/>
          </a:prstGeom>
          <a:noFill/>
          <a:ln/>
        </p:spPr>
        <p:txBody>
          <a:bodyPr wrap="square" lIns="0" tIns="0" rIns="0" bIns="0" rtlCol="0" anchor="ctr"/>
          <a:lstStyle/>
          <a:p>
            <a:pPr algn="ctr" indent="0" marL="0">
              <a:buNone/>
            </a:pPr>
            <a:r>
              <a:rPr lang="ko-KR" altLang="en-US" sz="2000" b="1" dirty="0">
                <a:solidFill>
                  <a:schemeClr val="bg1"/>
                </a:solidFill>
              </a:rPr>
              <a:t>B</a:t>
            </a:r>
            <a:endParaRPr lang="ko-KR" sz="2000" dirty="0"/>
          </a:p>
        </p:txBody>
      </p:sp>
      <p:sp>
        <p:nvSpPr>
          <p:cNvPr id="17" name="card-259"/>
          <p:cNvSpPr/>
          <p:nvPr/>
        </p:nvSpPr>
        <p:spPr>
          <a:xfrm>
            <a:off x="4245559" y="1911096"/>
            <a:ext cx="1536192" cy="347472"/>
          </a:xfrm>
          <a:prstGeom prst="roundRect">
            <a:avLst>
              <a:gd name="adj" fmla="val 50000"/>
            </a:avLst>
          </a:prstGeom>
          <a:solidFill>
            <a:schemeClr val="accent1"/>
          </a:solidFill>
          <a:ln w="12700">
            <a:solidFill>
              <a:schemeClr val="accent1"/>
            </a:solidFill>
            <a:prstDash val="solid"/>
          </a:ln>
        </p:spPr>
      </p:sp>
      <p:sp>
        <p:nvSpPr>
          <p:cNvPr id="18" name="text-260"/>
          <p:cNvSpPr txBox="1"/>
          <p:nvPr/>
        </p:nvSpPr>
        <p:spPr>
          <a:xfrm>
            <a:off x="4245559" y="1911096"/>
            <a:ext cx="1536192" cy="347472"/>
          </a:xfrm>
          <a:prstGeom prst="rect">
            <a:avLst/>
          </a:prstGeom>
          <a:noFill/>
          <a:ln/>
        </p:spPr>
        <p:txBody>
          <a:bodyPr wrap="square" lIns="0" tIns="0" rIns="0" bIns="0" rtlCol="0" anchor="ctr"/>
          <a:lstStyle/>
          <a:p>
            <a:pPr algn="ctr" indent="0" marL="0">
              <a:buNone/>
            </a:pPr>
            <a:r>
              <a:rPr lang="ko-KR" altLang="en-US" sz="1200" b="1" dirty="0">
                <a:solidFill>
                  <a:schemeClr val="bg1"/>
                </a:solidFill>
              </a:rPr>
              <a:t>채택 · 경보일</a:t>
            </a:r>
            <a:endParaRPr lang="ko-KR" sz="1200" dirty="0"/>
          </a:p>
        </p:txBody>
      </p:sp>
      <p:sp>
        <p:nvSpPr>
          <p:cNvPr id="19" name="text-261"/>
          <p:cNvSpPr txBox="1"/>
          <p:nvPr/>
        </p:nvSpPr>
        <p:spPr>
          <a:xfrm>
            <a:off x="3578047" y="2496312"/>
            <a:ext cx="2240280" cy="347472"/>
          </a:xfrm>
          <a:prstGeom prst="rect">
            <a:avLst/>
          </a:prstGeom>
          <a:noFill/>
          <a:ln/>
        </p:spPr>
        <p:txBody>
          <a:bodyPr wrap="square" lIns="0" tIns="0" rIns="0" bIns="0" rtlCol="0" anchor="t"/>
          <a:lstStyle/>
          <a:p>
            <a:pPr indent="0" marL="0">
              <a:buNone/>
            </a:pPr>
            <a:r>
              <a:rPr lang="ko-KR" altLang="en-US" sz="1600" b="1" dirty="0">
                <a:solidFill>
                  <a:schemeClr val="tx2"/>
                </a:solidFill>
              </a:rPr>
              <a:t>경보일 피크 시각 억제</a:t>
            </a:r>
            <a:endParaRPr lang="ko-KR" sz="1600" dirty="0"/>
          </a:p>
        </p:txBody>
      </p:sp>
      <p:sp>
        <p:nvSpPr>
          <p:cNvPr id="20" name="text-262"/>
          <p:cNvSpPr txBox="1"/>
          <p:nvPr/>
        </p:nvSpPr>
        <p:spPr>
          <a:xfrm>
            <a:off x="3578047" y="2898648"/>
            <a:ext cx="2240280" cy="868680"/>
          </a:xfrm>
          <a:prstGeom prst="rect">
            <a:avLst/>
          </a:prstGeom>
          <a:noFill/>
          <a:ln/>
        </p:spPr>
        <p:txBody>
          <a:bodyPr wrap="square" lIns="0" tIns="0" rIns="0" bIns="0" rtlCol="0" anchor="t"/>
          <a:lstStyle/>
          <a:p>
            <a:pPr indent="0" marL="0">
              <a:buNone/>
            </a:pPr>
            <a:r>
              <a:rPr lang="ko-KR" altLang="en-US" sz="1400" dirty="0">
                <a:solidFill>
                  <a:schemeClr val="tx1"/>
                </a:solidFill>
              </a:rPr>
              <a:t>그날 최대 시각 1시간을 2위 시각 수준까지 억제</a:t>
            </a:r>
            <a:endParaRPr lang="ko-KR" sz="1400" dirty="0"/>
          </a:p>
        </p:txBody>
      </p:sp>
      <p:sp>
        <p:nvSpPr>
          <p:cNvPr id="21" name="text-263"/>
          <p:cNvSpPr txBox="1"/>
          <p:nvPr/>
        </p:nvSpPr>
        <p:spPr>
          <a:xfrm>
            <a:off x="3578047" y="3813048"/>
            <a:ext cx="2240280" cy="228600"/>
          </a:xfrm>
          <a:prstGeom prst="rect">
            <a:avLst/>
          </a:prstGeom>
          <a:noFill/>
          <a:ln/>
        </p:spPr>
        <p:txBody>
          <a:bodyPr wrap="square" lIns="0" tIns="0" rIns="0" bIns="0" rtlCol="0" anchor="t"/>
          <a:lstStyle/>
          <a:p>
            <a:pPr indent="0" marL="0">
              <a:buNone/>
            </a:pPr>
            <a:r>
              <a:rPr lang="ko-KR" altLang="en-US" sz="1100" b="1" dirty="0">
                <a:solidFill>
                  <a:schemeClr val="accent3"/>
                </a:solidFill>
              </a:rPr>
              <a:t>근거</a:t>
            </a:r>
            <a:endParaRPr lang="ko-KR" sz="1100" dirty="0"/>
          </a:p>
        </p:txBody>
      </p:sp>
      <p:sp>
        <p:nvSpPr>
          <p:cNvPr id="22" name="text-264"/>
          <p:cNvSpPr txBox="1"/>
          <p:nvPr/>
        </p:nvSpPr>
        <p:spPr>
          <a:xfrm>
            <a:off x="3578047" y="4041648"/>
            <a:ext cx="2240280" cy="731520"/>
          </a:xfrm>
          <a:prstGeom prst="rect">
            <a:avLst/>
          </a:prstGeom>
          <a:noFill/>
          <a:ln/>
        </p:spPr>
        <p:txBody>
          <a:bodyPr wrap="square" lIns="0" tIns="0" rIns="0" bIns="0" rtlCol="0" anchor="t"/>
          <a:lstStyle/>
          <a:p>
            <a:pPr indent="0" marL="0">
              <a:buNone/>
            </a:pPr>
            <a:r>
              <a:rPr lang="ko-KR" altLang="en-US" sz="1400" b="1" dirty="0">
                <a:solidFill>
                  <a:schemeClr val="tx2"/>
                </a:solidFill>
              </a:rPr>
              <a:t>연 최대 222 → 215.5 (50% 억제)</a:t>
            </a:r>
            <a:endParaRPr lang="ko-KR" sz="1400" dirty="0"/>
          </a:p>
        </p:txBody>
      </p:sp>
      <p:sp>
        <p:nvSpPr>
          <p:cNvPr id="23" name="text-265"/>
          <p:cNvSpPr txBox="1"/>
          <p:nvPr/>
        </p:nvSpPr>
        <p:spPr>
          <a:xfrm>
            <a:off x="3578047" y="4800600"/>
            <a:ext cx="2240280" cy="320040"/>
          </a:xfrm>
          <a:prstGeom prst="rect">
            <a:avLst/>
          </a:prstGeom>
          <a:noFill/>
          <a:ln/>
        </p:spPr>
        <p:txBody>
          <a:bodyPr wrap="square" lIns="0" tIns="0" rIns="0" bIns="0" rtlCol="0" anchor="t"/>
          <a:lstStyle/>
          <a:p>
            <a:pPr indent="0" marL="0">
              <a:buNone/>
            </a:pPr>
            <a:r>
              <a:rPr lang="ko-KR" altLang="en-US" sz="1200" dirty="0">
                <a:solidFill>
                  <a:schemeClr val="tx1"/>
                </a:solidFill>
              </a:rPr>
              <a:t>인건비 0 · 생산 손실 0</a:t>
            </a:r>
            <a:endParaRPr lang="ko-KR" sz="1200" dirty="0"/>
          </a:p>
        </p:txBody>
      </p:sp>
      <p:sp>
        <p:nvSpPr>
          <p:cNvPr id="24" name="card-266"/>
          <p:cNvSpPr/>
          <p:nvPr/>
        </p:nvSpPr>
        <p:spPr>
          <a:xfrm>
            <a:off x="6205118" y="1600200"/>
            <a:ext cx="2606040" cy="3657600"/>
          </a:xfrm>
          <a:prstGeom prst="roundRect">
            <a:avLst>
              <a:gd name="adj" fmla="val 2807"/>
            </a:avLst>
          </a:prstGeom>
          <a:solidFill>
            <a:schemeClr val="bg2"/>
          </a:solidFill>
          <a:ln w="12700">
            <a:solidFill>
              <a:schemeClr val="bg2"/>
            </a:solidFill>
            <a:prstDash val="solid"/>
          </a:ln>
        </p:spPr>
      </p:sp>
      <p:sp>
        <p:nvSpPr>
          <p:cNvPr id="25" name="num-bg-267"/>
          <p:cNvSpPr/>
          <p:nvPr/>
        </p:nvSpPr>
        <p:spPr>
          <a:xfrm>
            <a:off x="6406286" y="1801368"/>
            <a:ext cx="548640" cy="548640"/>
          </a:xfrm>
          <a:prstGeom prst="ellipse">
            <a:avLst/>
          </a:prstGeom>
          <a:solidFill>
            <a:schemeClr val="accent6"/>
          </a:solidFill>
          <a:ln w="12700">
            <a:solidFill>
              <a:schemeClr val="accent6"/>
            </a:solidFill>
            <a:prstDash val="solid"/>
          </a:ln>
        </p:spPr>
      </p:sp>
      <p:sp>
        <p:nvSpPr>
          <p:cNvPr id="26" name="text-268"/>
          <p:cNvSpPr txBox="1"/>
          <p:nvPr/>
        </p:nvSpPr>
        <p:spPr>
          <a:xfrm>
            <a:off x="6406286" y="1801368"/>
            <a:ext cx="548640" cy="548640"/>
          </a:xfrm>
          <a:prstGeom prst="rect">
            <a:avLst/>
          </a:prstGeom>
          <a:noFill/>
          <a:ln/>
        </p:spPr>
        <p:txBody>
          <a:bodyPr wrap="square" lIns="0" tIns="0" rIns="0" bIns="0" rtlCol="0" anchor="ctr"/>
          <a:lstStyle/>
          <a:p>
            <a:pPr algn="ctr" indent="0" marL="0">
              <a:buNone/>
            </a:pPr>
            <a:r>
              <a:rPr lang="ko-KR" altLang="en-US" sz="2000" b="1" dirty="0">
                <a:solidFill>
                  <a:schemeClr val="bg1"/>
                </a:solidFill>
              </a:rPr>
              <a:t>C</a:t>
            </a:r>
            <a:endParaRPr lang="ko-KR" sz="2000" dirty="0"/>
          </a:p>
        </p:txBody>
      </p:sp>
      <p:sp>
        <p:nvSpPr>
          <p:cNvPr id="27" name="card-269"/>
          <p:cNvSpPr/>
          <p:nvPr/>
        </p:nvSpPr>
        <p:spPr>
          <a:xfrm>
            <a:off x="7073798" y="1911096"/>
            <a:ext cx="1536192" cy="347472"/>
          </a:xfrm>
          <a:prstGeom prst="roundRect">
            <a:avLst>
              <a:gd name="adj" fmla="val 50000"/>
            </a:avLst>
          </a:prstGeom>
          <a:solidFill>
            <a:schemeClr val="accent6"/>
          </a:solidFill>
          <a:ln w="12700">
            <a:solidFill>
              <a:schemeClr val="accent6"/>
            </a:solidFill>
            <a:prstDash val="solid"/>
          </a:ln>
        </p:spPr>
      </p:sp>
      <p:sp>
        <p:nvSpPr>
          <p:cNvPr id="28" name="text-270"/>
          <p:cNvSpPr txBox="1"/>
          <p:nvPr/>
        </p:nvSpPr>
        <p:spPr>
          <a:xfrm>
            <a:off x="7073798" y="1911096"/>
            <a:ext cx="1536192" cy="347472"/>
          </a:xfrm>
          <a:prstGeom prst="rect">
            <a:avLst/>
          </a:prstGeom>
          <a:noFill/>
          <a:ln/>
        </p:spPr>
        <p:txBody>
          <a:bodyPr wrap="square" lIns="0" tIns="0" rIns="0" bIns="0" rtlCol="0" anchor="ctr"/>
          <a:lstStyle/>
          <a:p>
            <a:pPr algn="ctr" indent="0" marL="0">
              <a:buNone/>
            </a:pPr>
            <a:r>
              <a:rPr lang="ko-KR" altLang="en-US" sz="1200" b="1" dirty="0">
                <a:solidFill>
                  <a:schemeClr val="bg1"/>
                </a:solidFill>
              </a:rPr>
              <a:t>보조</a:t>
            </a:r>
            <a:endParaRPr lang="ko-KR" sz="1200" dirty="0"/>
          </a:p>
        </p:txBody>
      </p:sp>
      <p:sp>
        <p:nvSpPr>
          <p:cNvPr id="29" name="text-271"/>
          <p:cNvSpPr txBox="1"/>
          <p:nvPr/>
        </p:nvSpPr>
        <p:spPr>
          <a:xfrm>
            <a:off x="6406286" y="2496312"/>
            <a:ext cx="2240280" cy="347472"/>
          </a:xfrm>
          <a:prstGeom prst="rect">
            <a:avLst/>
          </a:prstGeom>
          <a:noFill/>
          <a:ln/>
        </p:spPr>
        <p:txBody>
          <a:bodyPr wrap="square" lIns="0" tIns="0" rIns="0" bIns="0" rtlCol="0" anchor="t"/>
          <a:lstStyle/>
          <a:p>
            <a:pPr indent="0" marL="0">
              <a:buNone/>
            </a:pPr>
            <a:r>
              <a:rPr lang="ko-KR" altLang="en-US" sz="1600" b="1" dirty="0">
                <a:solidFill>
                  <a:schemeClr val="tx2"/>
                </a:solidFill>
              </a:rPr>
              <a:t>날짜 간 생산일정</a:t>
            </a:r>
            <a:endParaRPr lang="ko-KR" sz="1600" dirty="0"/>
          </a:p>
        </p:txBody>
      </p:sp>
      <p:sp>
        <p:nvSpPr>
          <p:cNvPr id="30" name="text-272"/>
          <p:cNvSpPr txBox="1"/>
          <p:nvPr/>
        </p:nvSpPr>
        <p:spPr>
          <a:xfrm>
            <a:off x="6406286" y="2898648"/>
            <a:ext cx="2240280" cy="868680"/>
          </a:xfrm>
          <a:prstGeom prst="rect">
            <a:avLst/>
          </a:prstGeom>
          <a:noFill/>
          <a:ln/>
        </p:spPr>
        <p:txBody>
          <a:bodyPr wrap="square" lIns="0" tIns="0" rIns="0" bIns="0" rtlCol="0" anchor="t"/>
          <a:lstStyle/>
          <a:p>
            <a:pPr indent="0" marL="0">
              <a:buNone/>
            </a:pPr>
            <a:r>
              <a:rPr lang="ko-KR" altLang="en-US" sz="1400" dirty="0">
                <a:solidFill>
                  <a:schemeClr val="tx1"/>
                </a:solidFill>
              </a:rPr>
              <a:t>고생산일의 물량 일부를 경보 없는 날로</a:t>
            </a:r>
            <a:endParaRPr lang="ko-KR" sz="1400" dirty="0"/>
          </a:p>
        </p:txBody>
      </p:sp>
      <p:sp>
        <p:nvSpPr>
          <p:cNvPr id="31" name="text-273"/>
          <p:cNvSpPr txBox="1"/>
          <p:nvPr/>
        </p:nvSpPr>
        <p:spPr>
          <a:xfrm>
            <a:off x="6406286" y="3813048"/>
            <a:ext cx="2240280" cy="228600"/>
          </a:xfrm>
          <a:prstGeom prst="rect">
            <a:avLst/>
          </a:prstGeom>
          <a:noFill/>
          <a:ln/>
        </p:spPr>
        <p:txBody>
          <a:bodyPr wrap="square" lIns="0" tIns="0" rIns="0" bIns="0" rtlCol="0" anchor="t"/>
          <a:lstStyle/>
          <a:p>
            <a:pPr indent="0" marL="0">
              <a:buNone/>
            </a:pPr>
            <a:r>
              <a:rPr lang="ko-KR" altLang="en-US" sz="1100" b="1" dirty="0">
                <a:solidFill>
                  <a:schemeClr val="accent3"/>
                </a:solidFill>
              </a:rPr>
              <a:t>근거</a:t>
            </a:r>
            <a:endParaRPr lang="ko-KR" sz="1100" dirty="0"/>
          </a:p>
        </p:txBody>
      </p:sp>
      <p:sp>
        <p:nvSpPr>
          <p:cNvPr id="32" name="text-274"/>
          <p:cNvSpPr txBox="1"/>
          <p:nvPr/>
        </p:nvSpPr>
        <p:spPr>
          <a:xfrm>
            <a:off x="6406286" y="4041648"/>
            <a:ext cx="2240280" cy="731520"/>
          </a:xfrm>
          <a:prstGeom prst="rect">
            <a:avLst/>
          </a:prstGeom>
          <a:noFill/>
          <a:ln/>
        </p:spPr>
        <p:txBody>
          <a:bodyPr wrap="square" lIns="0" tIns="0" rIns="0" bIns="0" rtlCol="0" anchor="t"/>
          <a:lstStyle/>
          <a:p>
            <a:pPr indent="0" marL="0">
              <a:buNone/>
            </a:pPr>
            <a:r>
              <a:rPr lang="ko-KR" altLang="en-US" sz="1400" b="1" dirty="0">
                <a:solidFill>
                  <a:schemeClr val="tx2"/>
                </a:solidFill>
              </a:rPr>
              <a:t>일생산 17,000 이상에서 일 최대가 180 to 185로 포화</a:t>
            </a:r>
            <a:endParaRPr lang="ko-KR" sz="1400" dirty="0"/>
          </a:p>
        </p:txBody>
      </p:sp>
      <p:sp>
        <p:nvSpPr>
          <p:cNvPr id="33" name="text-275"/>
          <p:cNvSpPr txBox="1"/>
          <p:nvPr/>
        </p:nvSpPr>
        <p:spPr>
          <a:xfrm>
            <a:off x="6406286" y="4800600"/>
            <a:ext cx="2240280" cy="320040"/>
          </a:xfrm>
          <a:prstGeom prst="rect">
            <a:avLst/>
          </a:prstGeom>
          <a:noFill/>
          <a:ln/>
        </p:spPr>
        <p:txBody>
          <a:bodyPr wrap="square" lIns="0" tIns="0" rIns="0" bIns="0" rtlCol="0" anchor="t"/>
          <a:lstStyle/>
          <a:p>
            <a:pPr indent="0" marL="0">
              <a:buNone/>
            </a:pPr>
            <a:r>
              <a:rPr lang="ko-KR" altLang="en-US" sz="1200" dirty="0">
                <a:solidFill>
                  <a:schemeClr val="tx1"/>
                </a:solidFill>
              </a:rPr>
              <a:t>생산 계획 변경 필요</a:t>
            </a:r>
            <a:endParaRPr lang="ko-KR" sz="1200" dirty="0"/>
          </a:p>
        </p:txBody>
      </p:sp>
      <p:sp>
        <p:nvSpPr>
          <p:cNvPr id="34" name="card-276"/>
          <p:cNvSpPr/>
          <p:nvPr/>
        </p:nvSpPr>
        <p:spPr>
          <a:xfrm>
            <a:off x="9033358" y="1600200"/>
            <a:ext cx="2606040" cy="3657600"/>
          </a:xfrm>
          <a:prstGeom prst="roundRect">
            <a:avLst>
              <a:gd name="adj" fmla="val 2807"/>
            </a:avLst>
          </a:prstGeom>
          <a:solidFill>
            <a:schemeClr val="bg2"/>
          </a:solidFill>
          <a:ln w="12700">
            <a:solidFill>
              <a:schemeClr val="bg2"/>
            </a:solidFill>
            <a:prstDash val="solid"/>
          </a:ln>
        </p:spPr>
      </p:sp>
      <p:sp>
        <p:nvSpPr>
          <p:cNvPr id="35" name="num-bg-277"/>
          <p:cNvSpPr/>
          <p:nvPr/>
        </p:nvSpPr>
        <p:spPr>
          <a:xfrm>
            <a:off x="9234526" y="1801368"/>
            <a:ext cx="548640" cy="548640"/>
          </a:xfrm>
          <a:prstGeom prst="ellipse">
            <a:avLst/>
          </a:prstGeom>
          <a:solidFill>
            <a:schemeClr val="accent4"/>
          </a:solidFill>
          <a:ln w="12700">
            <a:solidFill>
              <a:schemeClr val="accent4"/>
            </a:solidFill>
            <a:prstDash val="solid"/>
          </a:ln>
        </p:spPr>
      </p:sp>
      <p:sp>
        <p:nvSpPr>
          <p:cNvPr id="36" name="text-278"/>
          <p:cNvSpPr txBox="1"/>
          <p:nvPr/>
        </p:nvSpPr>
        <p:spPr>
          <a:xfrm>
            <a:off x="9234526" y="1801368"/>
            <a:ext cx="548640" cy="548640"/>
          </a:xfrm>
          <a:prstGeom prst="rect">
            <a:avLst/>
          </a:prstGeom>
          <a:noFill/>
          <a:ln/>
        </p:spPr>
        <p:txBody>
          <a:bodyPr wrap="square" lIns="0" tIns="0" rIns="0" bIns="0" rtlCol="0" anchor="ctr"/>
          <a:lstStyle/>
          <a:p>
            <a:pPr algn="ctr" indent="0" marL="0">
              <a:buNone/>
            </a:pPr>
            <a:r>
              <a:rPr lang="ko-KR" altLang="en-US" sz="2000" b="1" dirty="0">
                <a:solidFill>
                  <a:schemeClr val="bg1"/>
                </a:solidFill>
              </a:rPr>
              <a:t>D</a:t>
            </a:r>
            <a:endParaRPr lang="ko-KR" sz="2000" dirty="0"/>
          </a:p>
        </p:txBody>
      </p:sp>
      <p:sp>
        <p:nvSpPr>
          <p:cNvPr id="37" name="card-279"/>
          <p:cNvSpPr/>
          <p:nvPr/>
        </p:nvSpPr>
        <p:spPr>
          <a:xfrm>
            <a:off x="9902038" y="1911096"/>
            <a:ext cx="1536192" cy="347472"/>
          </a:xfrm>
          <a:prstGeom prst="roundRect">
            <a:avLst>
              <a:gd name="adj" fmla="val 50000"/>
            </a:avLst>
          </a:prstGeom>
          <a:solidFill>
            <a:schemeClr val="accent4"/>
          </a:solidFill>
          <a:ln w="12700">
            <a:solidFill>
              <a:schemeClr val="accent4"/>
            </a:solidFill>
            <a:prstDash val="solid"/>
          </a:ln>
        </p:spPr>
      </p:sp>
      <p:sp>
        <p:nvSpPr>
          <p:cNvPr id="38" name="text-280"/>
          <p:cNvSpPr txBox="1"/>
          <p:nvPr/>
        </p:nvSpPr>
        <p:spPr>
          <a:xfrm>
            <a:off x="9902038" y="1911096"/>
            <a:ext cx="1536192" cy="347472"/>
          </a:xfrm>
          <a:prstGeom prst="rect">
            <a:avLst/>
          </a:prstGeom>
          <a:noFill/>
          <a:ln/>
        </p:spPr>
        <p:txBody>
          <a:bodyPr wrap="square" lIns="0" tIns="0" rIns="0" bIns="0" rtlCol="0" anchor="ctr"/>
          <a:lstStyle/>
          <a:p>
            <a:pPr algn="ctr" indent="0" marL="0">
              <a:buNone/>
            </a:pPr>
            <a:r>
              <a:rPr lang="ko-KR" altLang="en-US" sz="1200" b="1" dirty="0">
                <a:solidFill>
                  <a:schemeClr val="bg1"/>
                </a:solidFill>
              </a:rPr>
              <a:t>기각</a:t>
            </a:r>
            <a:endParaRPr lang="ko-KR" sz="1200" dirty="0"/>
          </a:p>
        </p:txBody>
      </p:sp>
      <p:sp>
        <p:nvSpPr>
          <p:cNvPr id="39" name="text-281"/>
          <p:cNvSpPr txBox="1"/>
          <p:nvPr/>
        </p:nvSpPr>
        <p:spPr>
          <a:xfrm>
            <a:off x="9234526" y="2496312"/>
            <a:ext cx="2240280" cy="347472"/>
          </a:xfrm>
          <a:prstGeom prst="rect">
            <a:avLst/>
          </a:prstGeom>
          <a:noFill/>
          <a:ln/>
        </p:spPr>
        <p:txBody>
          <a:bodyPr wrap="square" lIns="0" tIns="0" rIns="0" bIns="0" rtlCol="0" anchor="t"/>
          <a:lstStyle/>
          <a:p>
            <a:pPr indent="0" marL="0">
              <a:buNone/>
            </a:pPr>
            <a:r>
              <a:rPr lang="ko-KR" altLang="en-US" sz="1600" b="1" dirty="0">
                <a:solidFill>
                  <a:schemeClr val="tx2"/>
                </a:solidFill>
              </a:rPr>
              <a:t>하루 안 생산 배분</a:t>
            </a:r>
            <a:endParaRPr lang="ko-KR" sz="1600" dirty="0"/>
          </a:p>
        </p:txBody>
      </p:sp>
      <p:sp>
        <p:nvSpPr>
          <p:cNvPr id="40" name="text-282"/>
          <p:cNvSpPr txBox="1"/>
          <p:nvPr/>
        </p:nvSpPr>
        <p:spPr>
          <a:xfrm>
            <a:off x="9234526" y="2898648"/>
            <a:ext cx="2240280" cy="868680"/>
          </a:xfrm>
          <a:prstGeom prst="rect">
            <a:avLst/>
          </a:prstGeom>
          <a:noFill/>
          <a:ln/>
        </p:spPr>
        <p:txBody>
          <a:bodyPr wrap="square" lIns="0" tIns="0" rIns="0" bIns="0" rtlCol="0" anchor="t"/>
          <a:lstStyle/>
          <a:p>
            <a:pPr indent="0" marL="0">
              <a:buNone/>
            </a:pPr>
            <a:r>
              <a:rPr lang="ko-KR" altLang="en-US" sz="1400" dirty="0">
                <a:solidFill>
                  <a:schemeClr val="tx1"/>
                </a:solidFill>
              </a:rPr>
              <a:t>총생산은 그대로, 시간별 배분만 변경</a:t>
            </a:r>
            <a:endParaRPr lang="ko-KR" sz="1400" dirty="0"/>
          </a:p>
        </p:txBody>
      </p:sp>
      <p:sp>
        <p:nvSpPr>
          <p:cNvPr id="41" name="text-283"/>
          <p:cNvSpPr txBox="1"/>
          <p:nvPr/>
        </p:nvSpPr>
        <p:spPr>
          <a:xfrm>
            <a:off x="9234526" y="3813048"/>
            <a:ext cx="2240280" cy="228600"/>
          </a:xfrm>
          <a:prstGeom prst="rect">
            <a:avLst/>
          </a:prstGeom>
          <a:noFill/>
          <a:ln/>
        </p:spPr>
        <p:txBody>
          <a:bodyPr wrap="square" lIns="0" tIns="0" rIns="0" bIns="0" rtlCol="0" anchor="t"/>
          <a:lstStyle/>
          <a:p>
            <a:pPr indent="0" marL="0">
              <a:buNone/>
            </a:pPr>
            <a:r>
              <a:rPr lang="ko-KR" altLang="en-US" sz="1100" b="1" dirty="0">
                <a:solidFill>
                  <a:schemeClr val="accent3"/>
                </a:solidFill>
              </a:rPr>
              <a:t>근거</a:t>
            </a:r>
            <a:endParaRPr lang="ko-KR" sz="1100" dirty="0"/>
          </a:p>
        </p:txBody>
      </p:sp>
      <p:sp>
        <p:nvSpPr>
          <p:cNvPr id="42" name="text-284"/>
          <p:cNvSpPr txBox="1"/>
          <p:nvPr/>
        </p:nvSpPr>
        <p:spPr>
          <a:xfrm>
            <a:off x="9234526" y="4041648"/>
            <a:ext cx="2240280" cy="731520"/>
          </a:xfrm>
          <a:prstGeom prst="rect">
            <a:avLst/>
          </a:prstGeom>
          <a:noFill/>
          <a:ln/>
        </p:spPr>
        <p:txBody>
          <a:bodyPr wrap="square" lIns="0" tIns="0" rIns="0" bIns="0" rtlCol="0" anchor="t"/>
          <a:lstStyle/>
          <a:p>
            <a:pPr indent="0" marL="0">
              <a:buNone/>
            </a:pPr>
            <a:r>
              <a:rPr lang="ko-KR" altLang="en-US" sz="1400" b="1" dirty="0">
                <a:solidFill>
                  <a:schemeClr val="tx2"/>
                </a:solidFill>
              </a:rPr>
              <a:t>날짜 쌍 83개 적중률 48.2% (p = 0.670), 우연 수준</a:t>
            </a:r>
            <a:endParaRPr lang="ko-KR" sz="1400" dirty="0"/>
          </a:p>
        </p:txBody>
      </p:sp>
      <p:sp>
        <p:nvSpPr>
          <p:cNvPr id="43" name="text-285"/>
          <p:cNvSpPr txBox="1"/>
          <p:nvPr/>
        </p:nvSpPr>
        <p:spPr>
          <a:xfrm>
            <a:off x="9234526" y="4800600"/>
            <a:ext cx="2240280" cy="320040"/>
          </a:xfrm>
          <a:prstGeom prst="rect">
            <a:avLst/>
          </a:prstGeom>
          <a:noFill/>
          <a:ln/>
        </p:spPr>
        <p:txBody>
          <a:bodyPr wrap="square" lIns="0" tIns="0" rIns="0" bIns="0" rtlCol="0" anchor="t"/>
          <a:lstStyle/>
          <a:p>
            <a:pPr indent="0" marL="0">
              <a:buNone/>
            </a:pPr>
            <a:r>
              <a:rPr lang="ko-KR" altLang="en-US" sz="1200" dirty="0">
                <a:solidFill>
                  <a:schemeClr val="tx1"/>
                </a:solidFill>
              </a:rPr>
              <a:t>모델이 효과를 판정하지 못함</a:t>
            </a:r>
            <a:endParaRPr lang="ko-KR" sz="1200" dirty="0"/>
          </a:p>
        </p:txBody>
      </p:sp>
      <p:sp>
        <p:nvSpPr>
          <p:cNvPr id="44" name="card-286"/>
          <p:cNvSpPr/>
          <p:nvPr/>
        </p:nvSpPr>
        <p:spPr>
          <a:xfrm>
            <a:off x="548640" y="5440680"/>
            <a:ext cx="11091672" cy="731520"/>
          </a:xfrm>
          <a:prstGeom prst="roundRect">
            <a:avLst>
              <a:gd name="adj" fmla="val 10000"/>
            </a:avLst>
          </a:prstGeom>
          <a:solidFill>
            <a:schemeClr val="bg1"/>
          </a:solidFill>
          <a:ln w="9525">
            <a:solidFill>
              <a:schemeClr val="accent3"/>
            </a:solidFill>
            <a:prstDash val="solid"/>
          </a:ln>
        </p:spPr>
      </p:sp>
      <p:sp>
        <p:nvSpPr>
          <p:cNvPr id="45" name="text-287"/>
          <p:cNvSpPr txBox="1"/>
          <p:nvPr/>
        </p:nvSpPr>
        <p:spPr>
          <a:xfrm>
            <a:off x="777240" y="5440680"/>
            <a:ext cx="10698480" cy="731520"/>
          </a:xfrm>
          <a:prstGeom prst="rect">
            <a:avLst/>
          </a:prstGeom>
          <a:noFill/>
          <a:ln/>
        </p:spPr>
        <p:txBody>
          <a:bodyPr wrap="square" lIns="0" tIns="0" rIns="0" bIns="0" rtlCol="0" anchor="ctr"/>
          <a:lstStyle/>
          <a:p>
            <a:pPr indent="0" marL="0">
              <a:buNone/>
            </a:pPr>
            <a:r>
              <a:rPr lang="ko-KR" altLang="en-US" sz="1400" dirty="0">
                <a:solidFill>
                  <a:schemeClr val="tx1"/>
                </a:solidFill>
              </a:rPr>
              <a:t>저감폭은 모델 예측이 아니라 당일 1위·2위 시각의 실측 차이로 계산했습니다. 시간대별 요금 차등이 없어 야간 이전은 인건비 (1.5배)만 늘리므로 제외했습니다.</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4  현장 활용</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연 최대 피크가 11시에 나서 축 B가 필요합니다</a:t>
            </a:r>
            <a:endParaRPr lang="ko-KR" sz="2800" dirty="0"/>
          </a:p>
        </p:txBody>
      </p:sp>
      <p:graphicFrame>
        <p:nvGraphicFramePr>
          <p:cNvPr id="4" name="chart-hourly-rise" descr=""/>
          <p:cNvGraphicFramePr/>
          <p:nvPr/>
        </p:nvGraphicFramePr>
        <p:xfrm>
          <a:off x="548640" y="1600200"/>
          <a:ext cx="6675120" cy="4572000"/>
        </p:xfrm>
        <a:graphic xmlns:a="http://schemas.openxmlformats.org/drawingml/2006/main">
          <a:graphicData uri="http://schemas.openxmlformats.org/drawingml/2006/chart">
            <c:chart xmlns:c="http://schemas.openxmlformats.org/drawingml/2006/chart" r:id="rId1"/>
          </a:graphicData>
        </a:graphic>
      </p:graphicFrame>
      <p:sp>
        <p:nvSpPr>
          <p:cNvPr id="5" name="card-288"/>
          <p:cNvSpPr/>
          <p:nvPr/>
        </p:nvSpPr>
        <p:spPr>
          <a:xfrm>
            <a:off x="7498080" y="1600200"/>
            <a:ext cx="4142232" cy="2057400"/>
          </a:xfrm>
          <a:prstGeom prst="roundRect">
            <a:avLst>
              <a:gd name="adj" fmla="val 3556"/>
            </a:avLst>
          </a:prstGeom>
          <a:solidFill>
            <a:schemeClr val="tx2"/>
          </a:solidFill>
          <a:ln w="12700">
            <a:solidFill>
              <a:schemeClr val="tx2"/>
            </a:solidFill>
            <a:prstDash val="solid"/>
          </a:ln>
        </p:spPr>
      </p:sp>
      <p:sp>
        <p:nvSpPr>
          <p:cNvPr id="6" name="text-289"/>
          <p:cNvSpPr txBox="1"/>
          <p:nvPr/>
        </p:nvSpPr>
        <p:spPr>
          <a:xfrm>
            <a:off x="7726680" y="1755648"/>
            <a:ext cx="3657600" cy="292608"/>
          </a:xfrm>
          <a:prstGeom prst="rect">
            <a:avLst/>
          </a:prstGeom>
          <a:noFill/>
          <a:ln/>
        </p:spPr>
        <p:txBody>
          <a:bodyPr wrap="square" lIns="0" tIns="0" rIns="0" bIns="0" rtlCol="0" anchor="t"/>
          <a:lstStyle/>
          <a:p>
            <a:pPr indent="0" marL="0">
              <a:buNone/>
            </a:pPr>
            <a:r>
              <a:rPr lang="ko-KR" altLang="en-US" sz="1400" b="1" dirty="0">
                <a:solidFill>
                  <a:schemeClr val="accent5"/>
                </a:solidFill>
              </a:rPr>
              <a:t>연 최대수요전력</a:t>
            </a:r>
            <a:endParaRPr lang="ko-KR" sz="1400" dirty="0"/>
          </a:p>
        </p:txBody>
      </p:sp>
      <p:sp>
        <p:nvSpPr>
          <p:cNvPr id="7" name="text-290"/>
          <p:cNvSpPr txBox="1"/>
          <p:nvPr/>
        </p:nvSpPr>
        <p:spPr>
          <a:xfrm>
            <a:off x="7726680" y="2084832"/>
            <a:ext cx="3749040" cy="640080"/>
          </a:xfrm>
          <a:prstGeom prst="rect">
            <a:avLst/>
          </a:prstGeom>
          <a:noFill/>
          <a:ln/>
        </p:spPr>
        <p:txBody>
          <a:bodyPr wrap="square" lIns="0" tIns="0" rIns="0" bIns="0" rtlCol="0" anchor="ctr"/>
          <a:lstStyle/>
          <a:p>
            <a:pPr indent="0" marL="0">
              <a:buNone/>
            </a:pPr>
            <a:r>
              <a:rPr lang="ko-KR" altLang="en-US" sz="3600" b="1" dirty="0">
                <a:solidFill>
                  <a:schemeClr val="bg1"/>
                </a:solidFill>
              </a:rPr>
              <a:t>222</a:t>
            </a:r>
            <a:pPr indent="0" marL="0">
              <a:buNone/>
            </a:pPr>
            <a:r>
              <a:rPr lang="ko-KR" altLang="en-US" sz="1500" dirty="0">
                <a:solidFill>
                  <a:schemeClr val="bg1"/>
                </a:solidFill>
              </a:rPr>
              <a:t>  2021-07-19 · 11시</a:t>
            </a:r>
            <a:endParaRPr lang="ko-KR" sz="1400" dirty="0"/>
          </a:p>
        </p:txBody>
      </p:sp>
      <p:sp>
        <p:nvSpPr>
          <p:cNvPr id="8" name="text-291"/>
          <p:cNvSpPr txBox="1"/>
          <p:nvPr/>
        </p:nvSpPr>
        <p:spPr>
          <a:xfrm>
            <a:off x="7726680" y="2788920"/>
            <a:ext cx="3703320" cy="777240"/>
          </a:xfrm>
          <a:prstGeom prst="rect">
            <a:avLst/>
          </a:prstGeom>
          <a:noFill/>
          <a:ln/>
        </p:spPr>
        <p:txBody>
          <a:bodyPr wrap="square" lIns="0" tIns="0" rIns="0" bIns="0" rtlCol="0" anchor="t"/>
          <a:lstStyle/>
          <a:p>
            <a:pPr indent="0" marL="0">
              <a:buNone/>
            </a:pPr>
            <a:r>
              <a:rPr lang="ko-KR" altLang="en-US" sz="1400" dirty="0">
                <a:solidFill>
                  <a:schemeClr val="bg2"/>
                </a:solidFill>
              </a:rPr>
              <a:t>피크 시각이 기동 시각 (7 to 9시·13시)이 아니어서 축 A만으로는 연 최대 저감 0</a:t>
            </a:r>
            <a:endParaRPr lang="ko-KR" sz="1400" dirty="0"/>
          </a:p>
        </p:txBody>
      </p:sp>
      <p:sp>
        <p:nvSpPr>
          <p:cNvPr id="9" name="num-bg-292"/>
          <p:cNvSpPr/>
          <p:nvPr/>
        </p:nvSpPr>
        <p:spPr>
          <a:xfrm>
            <a:off x="7498080" y="3886200"/>
            <a:ext cx="502920" cy="502920"/>
          </a:xfrm>
          <a:prstGeom prst="ellipse">
            <a:avLst/>
          </a:prstGeom>
          <a:solidFill>
            <a:schemeClr val="accent1"/>
          </a:solidFill>
          <a:ln w="12700">
            <a:solidFill>
              <a:schemeClr val="accent1"/>
            </a:solidFill>
            <a:prstDash val="solid"/>
          </a:ln>
        </p:spPr>
      </p:sp>
      <p:sp>
        <p:nvSpPr>
          <p:cNvPr id="10" name="text-293"/>
          <p:cNvSpPr txBox="1"/>
          <p:nvPr/>
        </p:nvSpPr>
        <p:spPr>
          <a:xfrm>
            <a:off x="7498080" y="3886200"/>
            <a:ext cx="502920" cy="502920"/>
          </a:xfrm>
          <a:prstGeom prst="rect">
            <a:avLst/>
          </a:prstGeom>
          <a:noFill/>
          <a:ln/>
        </p:spPr>
        <p:txBody>
          <a:bodyPr wrap="square" lIns="0" tIns="0" rIns="0" bIns="0" rtlCol="0" anchor="ctr"/>
          <a:lstStyle/>
          <a:p>
            <a:pPr algn="ctr" indent="0" marL="0">
              <a:buNone/>
            </a:pPr>
            <a:r>
              <a:rPr lang="ko-KR" altLang="en-US" sz="1800" b="1" dirty="0">
                <a:solidFill>
                  <a:schemeClr val="bg1"/>
                </a:solidFill>
              </a:rPr>
              <a:t>A</a:t>
            </a:r>
            <a:endParaRPr lang="ko-KR" sz="1800" dirty="0"/>
          </a:p>
        </p:txBody>
      </p:sp>
      <p:sp>
        <p:nvSpPr>
          <p:cNvPr id="11" name="text-294"/>
          <p:cNvSpPr txBox="1"/>
          <p:nvPr/>
        </p:nvSpPr>
        <p:spPr>
          <a:xfrm>
            <a:off x="8183880" y="3840480"/>
            <a:ext cx="3456432" cy="310896"/>
          </a:xfrm>
          <a:prstGeom prst="rect">
            <a:avLst/>
          </a:prstGeom>
          <a:noFill/>
          <a:ln/>
        </p:spPr>
        <p:txBody>
          <a:bodyPr wrap="square" lIns="0" tIns="0" rIns="0" bIns="0" rtlCol="0" anchor="t"/>
          <a:lstStyle/>
          <a:p>
            <a:pPr indent="0" marL="0">
              <a:buNone/>
            </a:pPr>
            <a:r>
              <a:rPr lang="ko-KR" altLang="en-US" sz="1500" b="1" dirty="0">
                <a:solidFill>
                  <a:schemeClr val="tx2"/>
                </a:solidFill>
              </a:rPr>
              <a:t>평상시 · 무비용</a:t>
            </a:r>
            <a:endParaRPr lang="ko-KR" sz="1500" dirty="0"/>
          </a:p>
        </p:txBody>
      </p:sp>
      <p:sp>
        <p:nvSpPr>
          <p:cNvPr id="12" name="text-295"/>
          <p:cNvSpPr txBox="1"/>
          <p:nvPr/>
        </p:nvSpPr>
        <p:spPr>
          <a:xfrm>
            <a:off x="8183880" y="4169664"/>
            <a:ext cx="3456432" cy="777240"/>
          </a:xfrm>
          <a:prstGeom prst="rect">
            <a:avLst/>
          </a:prstGeom>
          <a:noFill/>
          <a:ln/>
        </p:spPr>
        <p:txBody>
          <a:bodyPr wrap="square" lIns="0" tIns="0" rIns="0" bIns="0" rtlCol="0" anchor="t"/>
          <a:lstStyle/>
          <a:p>
            <a:pPr indent="0" marL="0">
              <a:buNone/>
            </a:pPr>
            <a:r>
              <a:rPr lang="ko-KR" altLang="en-US" sz="1400" dirty="0">
                <a:solidFill>
                  <a:schemeClr val="tx1"/>
                </a:solidFill>
              </a:rPr>
              <a:t>기동 봉우리를 매일 평탄화. 월 최대일 기준 기동 시각 피크 5개월에서 평균 −8.0</a:t>
            </a:r>
            <a:endParaRPr lang="ko-KR" sz="1400" dirty="0"/>
          </a:p>
        </p:txBody>
      </p:sp>
      <p:sp>
        <p:nvSpPr>
          <p:cNvPr id="13" name="num-bg-296"/>
          <p:cNvSpPr/>
          <p:nvPr/>
        </p:nvSpPr>
        <p:spPr>
          <a:xfrm>
            <a:off x="7498080" y="5074920"/>
            <a:ext cx="502920" cy="502920"/>
          </a:xfrm>
          <a:prstGeom prst="ellipse">
            <a:avLst/>
          </a:prstGeom>
          <a:solidFill>
            <a:schemeClr val="accent2"/>
          </a:solidFill>
          <a:ln w="12700">
            <a:solidFill>
              <a:schemeClr val="accent2"/>
            </a:solidFill>
            <a:prstDash val="solid"/>
          </a:ln>
        </p:spPr>
      </p:sp>
      <p:sp>
        <p:nvSpPr>
          <p:cNvPr id="14" name="text-297"/>
          <p:cNvSpPr txBox="1"/>
          <p:nvPr/>
        </p:nvSpPr>
        <p:spPr>
          <a:xfrm>
            <a:off x="7498080" y="5074920"/>
            <a:ext cx="502920" cy="502920"/>
          </a:xfrm>
          <a:prstGeom prst="rect">
            <a:avLst/>
          </a:prstGeom>
          <a:noFill/>
          <a:ln/>
        </p:spPr>
        <p:txBody>
          <a:bodyPr wrap="square" lIns="0" tIns="0" rIns="0" bIns="0" rtlCol="0" anchor="ctr"/>
          <a:lstStyle/>
          <a:p>
            <a:pPr algn="ctr" indent="0" marL="0">
              <a:buNone/>
            </a:pPr>
            <a:r>
              <a:rPr lang="ko-KR" altLang="en-US" sz="1800" b="1" dirty="0">
                <a:solidFill>
                  <a:schemeClr val="bg1"/>
                </a:solidFill>
              </a:rPr>
              <a:t>B</a:t>
            </a:r>
            <a:endParaRPr lang="ko-KR" sz="1800" dirty="0"/>
          </a:p>
        </p:txBody>
      </p:sp>
      <p:sp>
        <p:nvSpPr>
          <p:cNvPr id="15" name="text-298"/>
          <p:cNvSpPr txBox="1"/>
          <p:nvPr/>
        </p:nvSpPr>
        <p:spPr>
          <a:xfrm>
            <a:off x="8183880" y="5029200"/>
            <a:ext cx="3456432" cy="310896"/>
          </a:xfrm>
          <a:prstGeom prst="rect">
            <a:avLst/>
          </a:prstGeom>
          <a:noFill/>
          <a:ln/>
        </p:spPr>
        <p:txBody>
          <a:bodyPr wrap="square" lIns="0" tIns="0" rIns="0" bIns="0" rtlCol="0" anchor="t"/>
          <a:lstStyle/>
          <a:p>
            <a:pPr indent="0" marL="0">
              <a:buNone/>
            </a:pPr>
            <a:r>
              <a:rPr lang="ko-KR" altLang="en-US" sz="1500" b="1" dirty="0">
                <a:solidFill>
                  <a:schemeClr val="tx2"/>
                </a:solidFill>
              </a:rPr>
              <a:t>경보일 · 집중 억제</a:t>
            </a:r>
            <a:endParaRPr lang="ko-KR" sz="1500" dirty="0"/>
          </a:p>
        </p:txBody>
      </p:sp>
      <p:sp>
        <p:nvSpPr>
          <p:cNvPr id="16" name="text-299"/>
          <p:cNvSpPr txBox="1"/>
          <p:nvPr/>
        </p:nvSpPr>
        <p:spPr>
          <a:xfrm>
            <a:off x="8183880" y="5358384"/>
            <a:ext cx="3456432" cy="777240"/>
          </a:xfrm>
          <a:prstGeom prst="rect">
            <a:avLst/>
          </a:prstGeom>
          <a:noFill/>
          <a:ln/>
        </p:spPr>
        <p:txBody>
          <a:bodyPr wrap="square" lIns="0" tIns="0" rIns="0" bIns="0" rtlCol="0" anchor="t"/>
          <a:lstStyle/>
          <a:p>
            <a:pPr indent="0" marL="0">
              <a:buNone/>
            </a:pPr>
            <a:r>
              <a:rPr lang="ko-KR" altLang="en-US" sz="1400" dirty="0">
                <a:solidFill>
                  <a:schemeClr val="tx1"/>
                </a:solidFill>
              </a:rPr>
              <a:t>연 최대 222 → 215.5 (50%) / 209.0 (100%). 재현율 100% 경보가 전제</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4  현장 활용</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축 B 50% 억제 시 연 43만 to 306만 원을 절감합니다</a:t>
            </a:r>
            <a:endParaRPr lang="ko-KR" sz="2800" dirty="0"/>
          </a:p>
        </p:txBody>
      </p:sp>
      <p:sp>
        <p:nvSpPr>
          <p:cNvPr id="4" name="card-300"/>
          <p:cNvSpPr/>
          <p:nvPr/>
        </p:nvSpPr>
        <p:spPr>
          <a:xfrm>
            <a:off x="548640" y="1600200"/>
            <a:ext cx="11091672" cy="868680"/>
          </a:xfrm>
          <a:prstGeom prst="roundRect">
            <a:avLst>
              <a:gd name="adj" fmla="val 8421"/>
            </a:avLst>
          </a:prstGeom>
          <a:solidFill>
            <a:schemeClr val="bg2"/>
          </a:solidFill>
          <a:ln w="12700">
            <a:solidFill>
              <a:schemeClr val="bg2"/>
            </a:solidFill>
            <a:prstDash val="solid"/>
          </a:ln>
        </p:spPr>
      </p:sp>
      <p:sp>
        <p:nvSpPr>
          <p:cNvPr id="5" name="text-301"/>
          <p:cNvSpPr txBox="1"/>
          <p:nvPr/>
        </p:nvSpPr>
        <p:spPr>
          <a:xfrm>
            <a:off x="777240" y="1600200"/>
            <a:ext cx="4206240" cy="868680"/>
          </a:xfrm>
          <a:prstGeom prst="rect">
            <a:avLst/>
          </a:prstGeom>
          <a:noFill/>
          <a:ln/>
        </p:spPr>
        <p:txBody>
          <a:bodyPr wrap="square" lIns="0" tIns="0" rIns="0" bIns="0" rtlCol="0" anchor="ctr"/>
          <a:lstStyle/>
          <a:p>
            <a:pPr indent="0" marL="0">
              <a:buNone/>
            </a:pPr>
            <a:r>
              <a:rPr lang="ko-KR" altLang="en-US" sz="2200" b="1" dirty="0">
                <a:solidFill>
                  <a:schemeClr val="tx2"/>
                </a:solidFill>
              </a:rPr>
              <a:t>절감액 = ΔP × k × U × 12</a:t>
            </a:r>
            <a:endParaRPr lang="ko-KR" sz="2200" dirty="0"/>
          </a:p>
        </p:txBody>
      </p:sp>
      <p:sp>
        <p:nvSpPr>
          <p:cNvPr id="6" name="text-302"/>
          <p:cNvSpPr txBox="1"/>
          <p:nvPr/>
        </p:nvSpPr>
        <p:spPr>
          <a:xfrm>
            <a:off x="5029200" y="1600200"/>
            <a:ext cx="6446520" cy="868680"/>
          </a:xfrm>
          <a:prstGeom prst="rect">
            <a:avLst/>
          </a:prstGeom>
          <a:noFill/>
          <a:ln/>
        </p:spPr>
        <p:txBody>
          <a:bodyPr wrap="square" lIns="0" tIns="0" rIns="0" bIns="0" rtlCol="0" anchor="ctr"/>
          <a:lstStyle/>
          <a:p>
            <a:pPr indent="0" marL="0">
              <a:buNone/>
            </a:pPr>
            <a:r>
              <a:rPr lang="ko-KR" altLang="en-US" sz="1300" dirty="0">
                <a:solidFill>
                  <a:schemeClr val="tx1"/>
                </a:solidFill>
              </a:rPr>
              <a:t>ΔP 연 최대수요전력 저감폭 (축 B 50%: 6.5)  ·  k 전력 열 → kW 환산계수</a:t>
            </a:r>
            <a:endParaRPr lang="ko-KR" sz="1300" dirty="0"/>
          </a:p>
          <a:p>
            <a:pPr indent="0" marL="0">
              <a:buNone/>
            </a:pPr>
            <a:r>
              <a:rPr lang="ko-KR" altLang="en-US" sz="1300" dirty="0">
                <a:solidFill>
                  <a:schemeClr val="tx1"/>
                </a:solidFill>
              </a:rPr>
              <a:t>U 기본요금 단가 (원/kW·월, 2021-01-01 시행 한전 요금표)</a:t>
            </a:r>
            <a:endParaRPr lang="ko-KR" sz="1300" dirty="0"/>
          </a:p>
        </p:txBody>
      </p:sp>
      <p:graphicFrame>
        <p:nvGraphicFramePr>
          <p:cNvPr id="19" name="table-savings"/>
          <p:cNvGraphicFramePr>
            <a:graphicFrameLocks noGrp="1"/>
          </p:cNvGraphicFramePr>
          <p:nvPr>
            <p:extLst>
              <p:ext uri="{D42A27DB-BD31-4B8C-83A1-F6EECF244321}">
                <p14:modId xmlns:p14="http://schemas.microsoft.com/office/powerpoint/2010/main" val="1579011935"/>
              </p:ext>
            </p:extLst>
          </p:nvPr>
        </p:nvGraphicFramePr>
        <p:xfrm>
          <a:off x="548640" y="2697480"/>
          <a:ext cx="7132320" cy="914400"/>
        </p:xfrm>
        <a:graphic>
          <a:graphicData uri="http://schemas.openxmlformats.org/drawingml/2006/table">
            <a:tbl>
              <a:tblPr/>
              <a:tblGrid>
                <a:gridCol w="1051560"/>
                <a:gridCol w="1463040"/>
                <a:gridCol w="1536192"/>
                <a:gridCol w="1536192"/>
                <a:gridCol w="1545336"/>
              </a:tblGrid>
              <a:tr h="457200">
                <a:tc>
                  <a:txBody>
                    <a:bodyPr/>
                    <a:lstStyle/>
                    <a:p>
                      <a:pPr algn="ctr" indent="0" marL="0">
                        <a:buNone/>
                      </a:pPr>
                      <a:r>
                        <a:rPr lang="en-US" sz="1300" b="1" dirty="0">
                          <a:solidFill>
                            <a:srgbClr val="FFFFFF"/>
                          </a:solidFill>
                        </a:rPr>
                        <a:t>가정</a:t>
                      </a:r>
                      <a:endParaRPr lang="en-US" sz="13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15283A"/>
                    </a:solidFill>
                  </a:tcPr>
                </a:tc>
                <a:tc>
                  <a:txBody>
                    <a:bodyPr/>
                    <a:lstStyle/>
                    <a:p>
                      <a:pPr algn="ctr" indent="0" marL="0">
                        <a:buNone/>
                      </a:pPr>
                      <a:r>
                        <a:rPr lang="en-US" sz="1300" b="1" dirty="0">
                          <a:solidFill>
                            <a:srgbClr val="FFFFFF"/>
                          </a:solidFill>
                        </a:rPr>
                        <a:t>해당 종별</a:t>
                      </a:r>
                      <a:endParaRPr lang="en-US" sz="13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15283A"/>
                    </a:solidFill>
                  </a:tcPr>
                </a:tc>
                <a:tc>
                  <a:txBody>
                    <a:bodyPr/>
                    <a:lstStyle/>
                    <a:p>
                      <a:pPr algn="ctr" indent="0" marL="0">
                        <a:buNone/>
                      </a:pPr>
                      <a:r>
                        <a:rPr lang="en-US" sz="1300" b="1" dirty="0">
                          <a:solidFill>
                            <a:srgbClr val="FFFFFF"/>
                          </a:solidFill>
                        </a:rPr>
                        <a:t>① 단가 → 절감액</a:t>
                      </a:r>
                      <a:endParaRPr lang="en-US" sz="13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15283A"/>
                    </a:solidFill>
                  </a:tcPr>
                </a:tc>
                <a:tc>
                  <a:txBody>
                    <a:bodyPr/>
                    <a:lstStyle/>
                    <a:p>
                      <a:pPr algn="ctr" indent="0" marL="0">
                        <a:buNone/>
                      </a:pPr>
                      <a:r>
                        <a:rPr lang="en-US" sz="1300" b="1" dirty="0">
                          <a:solidFill>
                            <a:srgbClr val="FFFFFF"/>
                          </a:solidFill>
                        </a:rPr>
                        <a:t>② 단가 → 절감액</a:t>
                      </a:r>
                      <a:endParaRPr lang="en-US" sz="13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15283A"/>
                    </a:solidFill>
                  </a:tcPr>
                </a:tc>
                <a:tc>
                  <a:txBody>
                    <a:bodyPr/>
                    <a:lstStyle/>
                    <a:p>
                      <a:pPr algn="ctr" indent="0" marL="0">
                        <a:buNone/>
                      </a:pPr>
                      <a:r>
                        <a:rPr lang="en-US" sz="1300" b="1" dirty="0">
                          <a:solidFill>
                            <a:srgbClr val="FFFFFF"/>
                          </a:solidFill>
                        </a:rPr>
                        <a:t>③ 단가 → 절감액</a:t>
                      </a:r>
                      <a:endParaRPr lang="en-US" sz="13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15283A"/>
                    </a:solidFill>
                  </a:tcPr>
                </a:tc>
              </a:tr>
              <a:tr h="960120">
                <a:tc>
                  <a:txBody>
                    <a:bodyPr/>
                    <a:lstStyle/>
                    <a:p>
                      <a:pPr algn="ctr" indent="0" marL="0">
                        <a:buNone/>
                      </a:pPr>
                      <a:r>
                        <a:rPr lang="en-US" sz="1400" b="1" dirty="0">
                          <a:solidFill>
                            <a:srgbClr val="1C2733"/>
                          </a:solidFill>
                        </a:rPr>
                        <a:t>k = 1</a:t>
                      </a:r>
                      <a:endParaRPr lang="en-US" sz="1400" dirty="0"/>
                    </a:p>
                    <a:p>
                      <a:pPr algn="ctr" indent="0" marL="0">
                        <a:buNone/>
                      </a:pPr>
                      <a:r>
                        <a:rPr lang="en-US" sz="1200" dirty="0">
                          <a:solidFill>
                            <a:srgbClr val="1C2733"/>
                          </a:solidFill>
                        </a:rPr>
                        <a:t>순시 kW</a:t>
                      </a:r>
                      <a:endParaRPr lang="en-US" sz="14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733"/>
                          </a:solidFill>
                        </a:rPr>
                        <a:t>산업용(갑)Ⅰ</a:t>
                      </a:r>
                      <a:endParaRPr lang="en-US" sz="1200" dirty="0"/>
                    </a:p>
                    <a:p>
                      <a:pPr algn="ctr" indent="0" marL="0">
                        <a:buNone/>
                      </a:pPr>
                      <a:r>
                        <a:rPr lang="en-US" sz="1200" dirty="0">
                          <a:solidFill>
                            <a:srgbClr val="1C2733"/>
                          </a:solidFill>
                        </a:rPr>
                        <a:t>300kW 미만</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0"/>
                          </a:solidFill>
                        </a:rPr>
                        <a:t>5,550원 →</a:t>
                      </a:r>
                      <a:endParaRPr lang="en-US" sz="1400" dirty="0"/>
                    </a:p>
                    <a:p>
                      <a:pPr algn="ctr" indent="0" marL="0">
                        <a:buNone/>
                      </a:pPr>
                      <a:r>
                        <a:rPr lang="en-US" sz="1600" b="1" dirty="0">
                          <a:solidFill>
                            <a:srgbClr val="D9622B"/>
                          </a:solidFill>
                        </a:rPr>
                        <a:t>432,900원</a:t>
                      </a:r>
                      <a:endParaRPr lang="en-US" sz="14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0"/>
                          </a:solidFill>
                        </a:rPr>
                        <a:t>6,490원 →</a:t>
                      </a:r>
                      <a:endParaRPr lang="en-US" sz="1400" dirty="0"/>
                    </a:p>
                    <a:p>
                      <a:pPr algn="ctr" indent="0" marL="0">
                        <a:buNone/>
                      </a:pPr>
                      <a:r>
                        <a:rPr lang="en-US" sz="1600" b="1" dirty="0">
                          <a:solidFill>
                            <a:srgbClr val="1C2733"/>
                          </a:solidFill>
                        </a:rPr>
                        <a:t>506,220원</a:t>
                      </a:r>
                      <a:endParaRPr lang="en-US" sz="14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0"/>
                          </a:solidFill>
                        </a:rPr>
                        <a:t>7,470원 →</a:t>
                      </a:r>
                      <a:endParaRPr lang="en-US" sz="1400" dirty="0"/>
                    </a:p>
                    <a:p>
                      <a:pPr algn="ctr" indent="0" marL="0">
                        <a:buNone/>
                      </a:pPr>
                      <a:r>
                        <a:rPr lang="en-US" sz="1600" b="1" dirty="0">
                          <a:solidFill>
                            <a:srgbClr val="1C2733"/>
                          </a:solidFill>
                        </a:rPr>
                        <a:t>582,660원</a:t>
                      </a:r>
                      <a:endParaRPr lang="en-US" sz="14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r>
              <a:tr h="960120">
                <a:tc>
                  <a:txBody>
                    <a:bodyPr/>
                    <a:lstStyle/>
                    <a:p>
                      <a:pPr algn="ctr" indent="0" marL="0">
                        <a:buNone/>
                      </a:pPr>
                      <a:r>
                        <a:rPr lang="en-US" sz="1400" b="1" dirty="0">
                          <a:solidFill>
                            <a:srgbClr val="1C2733"/>
                          </a:solidFill>
                        </a:rPr>
                        <a:t>k = 4</a:t>
                      </a:r>
                      <a:endParaRPr lang="en-US" sz="1400" dirty="0"/>
                    </a:p>
                    <a:p>
                      <a:pPr algn="ctr" indent="0" marL="0">
                        <a:buNone/>
                      </a:pPr>
                      <a:r>
                        <a:rPr lang="en-US" sz="1200" dirty="0">
                          <a:solidFill>
                            <a:srgbClr val="1C2733"/>
                          </a:solidFill>
                        </a:rPr>
                        <a:t>15분 사용량</a:t>
                      </a:r>
                      <a:endParaRPr lang="en-US" sz="14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733"/>
                          </a:solidFill>
                        </a:rPr>
                        <a:t>산업용(을) 고압A</a:t>
                      </a:r>
                      <a:endParaRPr lang="en-US" sz="1200" dirty="0"/>
                    </a:p>
                    <a:p>
                      <a:pPr algn="ctr" indent="0" marL="0">
                        <a:buNone/>
                      </a:pPr>
                      <a:r>
                        <a:rPr lang="en-US" sz="1200" dirty="0">
                          <a:solidFill>
                            <a:srgbClr val="1C2733"/>
                          </a:solidFill>
                        </a:rPr>
                        <a:t>300kW 이상</a:t>
                      </a:r>
                      <a:endParaRPr lang="en-US" sz="12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0"/>
                          </a:solidFill>
                        </a:rPr>
                        <a:t>7,220원 →</a:t>
                      </a:r>
                      <a:endParaRPr lang="en-US" sz="1400" dirty="0"/>
                    </a:p>
                    <a:p>
                      <a:pPr algn="ctr" indent="0" marL="0">
                        <a:buNone/>
                      </a:pPr>
                      <a:r>
                        <a:rPr lang="en-US" sz="1600" b="1" dirty="0">
                          <a:solidFill>
                            <a:srgbClr val="1C2733"/>
                          </a:solidFill>
                        </a:rPr>
                        <a:t>2,252,640원</a:t>
                      </a:r>
                      <a:endParaRPr lang="en-US" sz="14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0"/>
                          </a:solidFill>
                        </a:rPr>
                        <a:t>8,320원 →</a:t>
                      </a:r>
                      <a:endParaRPr lang="en-US" sz="1400" dirty="0"/>
                    </a:p>
                    <a:p>
                      <a:pPr algn="ctr" indent="0" marL="0">
                        <a:buNone/>
                      </a:pPr>
                      <a:r>
                        <a:rPr lang="en-US" sz="1600" b="1" dirty="0">
                          <a:solidFill>
                            <a:srgbClr val="1C2733"/>
                          </a:solidFill>
                        </a:rPr>
                        <a:t>2,595,840원</a:t>
                      </a:r>
                      <a:endParaRPr lang="en-US" sz="14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0"/>
                          </a:solidFill>
                        </a:rPr>
                        <a:t>9,810원 →</a:t>
                      </a:r>
                      <a:endParaRPr lang="en-US" sz="1400" dirty="0"/>
                    </a:p>
                    <a:p>
                      <a:pPr algn="ctr" indent="0" marL="0">
                        <a:buNone/>
                      </a:pPr>
                      <a:r>
                        <a:rPr lang="en-US" sz="1600" b="1" dirty="0">
                          <a:solidFill>
                            <a:srgbClr val="D9622B"/>
                          </a:solidFill>
                        </a:rPr>
                        <a:t>3,060,720원</a:t>
                      </a:r>
                      <a:endParaRPr lang="en-US" sz="1400" dirty="0"/>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r>
            </a:tbl>
          </a:graphicData>
        </a:graphic>
      </p:graphicFrame>
      <p:sp>
        <p:nvSpPr>
          <p:cNvPr id="8" name="text-303"/>
          <p:cNvSpPr txBox="1"/>
          <p:nvPr/>
        </p:nvSpPr>
        <p:spPr>
          <a:xfrm>
            <a:off x="548640" y="5257800"/>
            <a:ext cx="7132320" cy="914400"/>
          </a:xfrm>
          <a:prstGeom prst="rect">
            <a:avLst/>
          </a:prstGeom>
          <a:noFill/>
          <a:ln/>
        </p:spPr>
        <p:txBody>
          <a:bodyPr wrap="square" lIns="0" tIns="0" rIns="0" bIns="0" rtlCol="0" anchor="t"/>
          <a:lstStyle/>
          <a:p>
            <a:pPr indent="0" marL="0">
              <a:buNone/>
            </a:pPr>
            <a:r>
              <a:rPr lang="ko-KR" altLang="en-US" sz="1300" dirty="0">
                <a:solidFill>
                  <a:schemeClr val="tx1"/>
                </a:solidFill>
              </a:rPr>
              <a:t>피크를 완전히 억제 (100%)하면 ΔP 13.0 → k = 1에서 86.6만 to 116.5만 원, k = 4에서 최대 612.1만 원 (을 고압A 선택Ⅲ). 축 A를 병행해도 연 절감액은 같고, 7 to 9월 월평균 저감폭이 6.00 → 7.42로 커집니다.</a:t>
            </a:r>
            <a:endParaRPr lang="ko-KR" sz="1300" dirty="0"/>
          </a:p>
        </p:txBody>
      </p:sp>
      <p:sp>
        <p:nvSpPr>
          <p:cNvPr id="9" name="card-304"/>
          <p:cNvSpPr/>
          <p:nvPr/>
        </p:nvSpPr>
        <p:spPr>
          <a:xfrm>
            <a:off x="7955280" y="2697480"/>
            <a:ext cx="3685032" cy="1078992"/>
          </a:xfrm>
          <a:prstGeom prst="roundRect">
            <a:avLst>
              <a:gd name="adj" fmla="val 6780"/>
            </a:avLst>
          </a:prstGeom>
          <a:solidFill>
            <a:schemeClr val="bg2"/>
          </a:solidFill>
          <a:ln w="12700">
            <a:solidFill>
              <a:schemeClr val="bg2"/>
            </a:solidFill>
            <a:prstDash val="solid"/>
          </a:ln>
        </p:spPr>
      </p:sp>
      <p:sp>
        <p:nvSpPr>
          <p:cNvPr id="10" name="text-305"/>
          <p:cNvSpPr txBox="1"/>
          <p:nvPr/>
        </p:nvSpPr>
        <p:spPr>
          <a:xfrm>
            <a:off x="8138160" y="2788920"/>
            <a:ext cx="3383280" cy="292608"/>
          </a:xfrm>
          <a:prstGeom prst="rect">
            <a:avLst/>
          </a:prstGeom>
          <a:noFill/>
          <a:ln/>
        </p:spPr>
        <p:txBody>
          <a:bodyPr wrap="square" lIns="0" tIns="0" rIns="0" bIns="0" rtlCol="0" anchor="t"/>
          <a:lstStyle/>
          <a:p>
            <a:pPr indent="0" marL="0">
              <a:buNone/>
            </a:pPr>
            <a:r>
              <a:rPr lang="ko-KR" altLang="en-US" sz="1400" b="1" dirty="0">
                <a:solidFill>
                  <a:schemeClr val="tx2"/>
                </a:solidFill>
              </a:rPr>
              <a:t>왜 범위로 제시하나</a:t>
            </a:r>
            <a:endParaRPr lang="ko-KR" sz="1400" dirty="0"/>
          </a:p>
        </p:txBody>
      </p:sp>
      <p:sp>
        <p:nvSpPr>
          <p:cNvPr id="11" name="text-306"/>
          <p:cNvSpPr txBox="1"/>
          <p:nvPr/>
        </p:nvSpPr>
        <p:spPr>
          <a:xfrm>
            <a:off x="8138160" y="3081528"/>
            <a:ext cx="3383280" cy="676656"/>
          </a:xfrm>
          <a:prstGeom prst="rect">
            <a:avLst/>
          </a:prstGeom>
          <a:noFill/>
          <a:ln/>
        </p:spPr>
        <p:txBody>
          <a:bodyPr wrap="square" lIns="0" tIns="0" rIns="0" bIns="0" rtlCol="0" anchor="t"/>
          <a:lstStyle/>
          <a:p>
            <a:pPr indent="0" marL="0">
              <a:buNone/>
            </a:pPr>
            <a:r>
              <a:rPr lang="ko-KR" altLang="en-US" sz="1200" dirty="0">
                <a:solidFill>
                  <a:schemeClr val="tx1"/>
                </a:solidFill>
              </a:rPr>
              <a:t>전력 열 단위 (k)와 계약 종별 (U)이 데이터에 없어 정하지 않고 대입표로 남겼습니다. 두 값을 확인하면 금액이 하나로 정해집니다.</a:t>
            </a:r>
            <a:endParaRPr lang="ko-KR" sz="1200" dirty="0"/>
          </a:p>
        </p:txBody>
      </p:sp>
      <p:sp>
        <p:nvSpPr>
          <p:cNvPr id="12" name="card-307"/>
          <p:cNvSpPr/>
          <p:nvPr/>
        </p:nvSpPr>
        <p:spPr>
          <a:xfrm>
            <a:off x="7955280" y="3886200"/>
            <a:ext cx="3685032" cy="1078992"/>
          </a:xfrm>
          <a:prstGeom prst="roundRect">
            <a:avLst>
              <a:gd name="adj" fmla="val 6780"/>
            </a:avLst>
          </a:prstGeom>
          <a:solidFill>
            <a:schemeClr val="bg2"/>
          </a:solidFill>
          <a:ln w="12700">
            <a:solidFill>
              <a:schemeClr val="bg2"/>
            </a:solidFill>
            <a:prstDash val="solid"/>
          </a:ln>
        </p:spPr>
      </p:sp>
      <p:sp>
        <p:nvSpPr>
          <p:cNvPr id="13" name="text-308"/>
          <p:cNvSpPr txBox="1"/>
          <p:nvPr/>
        </p:nvSpPr>
        <p:spPr>
          <a:xfrm>
            <a:off x="8138160" y="3977640"/>
            <a:ext cx="3383280" cy="292608"/>
          </a:xfrm>
          <a:prstGeom prst="rect">
            <a:avLst/>
          </a:prstGeom>
          <a:noFill/>
          <a:ln/>
        </p:spPr>
        <p:txBody>
          <a:bodyPr wrap="square" lIns="0" tIns="0" rIns="0" bIns="0" rtlCol="0" anchor="t"/>
          <a:lstStyle/>
          <a:p>
            <a:pPr indent="0" marL="0">
              <a:buNone/>
            </a:pPr>
            <a:r>
              <a:rPr lang="ko-KR" altLang="en-US" sz="1400" b="1" dirty="0">
                <a:solidFill>
                  <a:schemeClr val="tx2"/>
                </a:solidFill>
              </a:rPr>
              <a:t>왜 50%가 기준인가</a:t>
            </a:r>
            <a:endParaRPr lang="ko-KR" sz="1400" dirty="0"/>
          </a:p>
        </p:txBody>
      </p:sp>
      <p:sp>
        <p:nvSpPr>
          <p:cNvPr id="14" name="text-309"/>
          <p:cNvSpPr txBox="1"/>
          <p:nvPr/>
        </p:nvSpPr>
        <p:spPr>
          <a:xfrm>
            <a:off x="8138160" y="4270248"/>
            <a:ext cx="3383280" cy="676656"/>
          </a:xfrm>
          <a:prstGeom prst="rect">
            <a:avLst/>
          </a:prstGeom>
          <a:noFill/>
          <a:ln/>
        </p:spPr>
        <p:txBody>
          <a:bodyPr wrap="square" lIns="0" tIns="0" rIns="0" bIns="0" rtlCol="0" anchor="t"/>
          <a:lstStyle/>
          <a:p>
            <a:pPr indent="0" marL="0">
              <a:buNone/>
            </a:pPr>
            <a:r>
              <a:rPr lang="ko-KR" altLang="en-US" sz="1200" dirty="0">
                <a:solidFill>
                  <a:schemeClr val="tx1"/>
                </a:solidFill>
              </a:rPr>
              <a:t>옮긴 부하가 인접 시각으로 일부 전이되므로 100%는 이론 상한입니다.</a:t>
            </a:r>
            <a:endParaRPr lang="ko-KR" sz="1200" dirty="0"/>
          </a:p>
        </p:txBody>
      </p:sp>
      <p:sp>
        <p:nvSpPr>
          <p:cNvPr id="15" name="card-310"/>
          <p:cNvSpPr/>
          <p:nvPr/>
        </p:nvSpPr>
        <p:spPr>
          <a:xfrm>
            <a:off x="7955280" y="5074920"/>
            <a:ext cx="3685032" cy="1078992"/>
          </a:xfrm>
          <a:prstGeom prst="roundRect">
            <a:avLst>
              <a:gd name="adj" fmla="val 6780"/>
            </a:avLst>
          </a:prstGeom>
          <a:solidFill>
            <a:schemeClr val="bg2"/>
          </a:solidFill>
          <a:ln w="12700">
            <a:solidFill>
              <a:schemeClr val="bg2"/>
            </a:solidFill>
            <a:prstDash val="solid"/>
          </a:ln>
        </p:spPr>
      </p:sp>
      <p:sp>
        <p:nvSpPr>
          <p:cNvPr id="16" name="text-311"/>
          <p:cNvSpPr txBox="1"/>
          <p:nvPr/>
        </p:nvSpPr>
        <p:spPr>
          <a:xfrm>
            <a:off x="8138160" y="5166360"/>
            <a:ext cx="3383280" cy="292608"/>
          </a:xfrm>
          <a:prstGeom prst="rect">
            <a:avLst/>
          </a:prstGeom>
          <a:noFill/>
          <a:ln/>
        </p:spPr>
        <p:txBody>
          <a:bodyPr wrap="square" lIns="0" tIns="0" rIns="0" bIns="0" rtlCol="0" anchor="t"/>
          <a:lstStyle/>
          <a:p>
            <a:pPr indent="0" marL="0">
              <a:buNone/>
            </a:pPr>
            <a:r>
              <a:rPr lang="ko-KR" altLang="en-US" sz="1400" b="1" dirty="0">
                <a:solidFill>
                  <a:schemeClr val="tx2"/>
                </a:solidFill>
              </a:rPr>
              <a:t>비용은 0</a:t>
            </a:r>
            <a:endParaRPr lang="ko-KR" sz="1400" dirty="0"/>
          </a:p>
        </p:txBody>
      </p:sp>
      <p:sp>
        <p:nvSpPr>
          <p:cNvPr id="17" name="text-312"/>
          <p:cNvSpPr txBox="1"/>
          <p:nvPr/>
        </p:nvSpPr>
        <p:spPr>
          <a:xfrm>
            <a:off x="8138160" y="5458968"/>
            <a:ext cx="3383280" cy="676656"/>
          </a:xfrm>
          <a:prstGeom prst="rect">
            <a:avLst/>
          </a:prstGeom>
          <a:noFill/>
          <a:ln/>
        </p:spPr>
        <p:txBody>
          <a:bodyPr wrap="square" lIns="0" tIns="0" rIns="0" bIns="0" rtlCol="0" anchor="t"/>
          <a:lstStyle/>
          <a:p>
            <a:pPr indent="0" marL="0">
              <a:buNone/>
            </a:pPr>
            <a:r>
              <a:rPr lang="ko-KR" altLang="en-US" sz="1200" dirty="0">
                <a:solidFill>
                  <a:schemeClr val="tx1"/>
                </a:solidFill>
              </a:rPr>
              <a:t>주간 안에서만 옮겨 야간 할증이 없고, 생산 총량을 유지하며 설비 투자도 없습니다.</a:t>
            </a:r>
            <a:endParaRPr lang="ko-KR"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5  운영 화면</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예측, 경보, 일정 권고를 한 화면에 담았습니다</a:t>
            </a:r>
            <a:endParaRPr lang="ko-KR" sz="2800" dirty="0"/>
          </a:p>
        </p:txBody>
      </p:sp>
      <p:pic>
        <p:nvPicPr>
          <p:cNvPr id="4" name="shot-dashboard-1" descr="C:\Users\chiho\AppData\Local\Temp\claude\d--Code-git-kamp-contest\6e2ac53f-732f-4454-9ef9-3cfb3b55fb25\scratchpad\ppt\shot1.png">    </p:cNvPr>
          <p:cNvPicPr>
            <a:picLocks noChangeAspect="1"/>
          </p:cNvPicPr>
          <p:nvPr/>
        </p:nvPicPr>
        <p:blipFill>
          <a:blip r:embed="rId1"/>
          <a:stretch>
            <a:fillRect/>
          </a:stretch>
        </p:blipFill>
        <p:spPr>
          <a:xfrm>
            <a:off x="548640" y="1600200"/>
            <a:ext cx="6675120" cy="3996728"/>
          </a:xfrm>
          <a:prstGeom prst="rect">
            <a:avLst/>
          </a:prstGeom>
        </p:spPr>
      </p:pic>
      <p:sp>
        <p:nvSpPr>
          <p:cNvPr id="5" name="shot-frame-1"/>
          <p:cNvSpPr/>
          <p:nvPr/>
        </p:nvSpPr>
        <p:spPr>
          <a:xfrm>
            <a:off x="548640" y="1600200"/>
            <a:ext cx="6675120" cy="3996728"/>
          </a:xfrm>
          <a:prstGeom prst="rect">
            <a:avLst/>
          </a:prstGeom>
          <a:ln w="9525">
            <a:solidFill>
              <a:schemeClr val="accent3"/>
            </a:solidFill>
            <a:prstDash val="solid"/>
          </a:ln>
        </p:spPr>
      </p:sp>
      <p:sp>
        <p:nvSpPr>
          <p:cNvPr id="6" name="text-313"/>
          <p:cNvSpPr txBox="1"/>
          <p:nvPr/>
        </p:nvSpPr>
        <p:spPr>
          <a:xfrm>
            <a:off x="548640" y="5688368"/>
            <a:ext cx="6675120" cy="274320"/>
          </a:xfrm>
          <a:prstGeom prst="rect">
            <a:avLst/>
          </a:prstGeom>
          <a:noFill/>
          <a:ln/>
        </p:spPr>
        <p:txBody>
          <a:bodyPr wrap="square" lIns="0" tIns="0" rIns="0" bIns="0" rtlCol="0" anchor="t"/>
          <a:lstStyle/>
          <a:p>
            <a:pPr indent="0" marL="0">
              <a:buNone/>
            </a:pPr>
            <a:r>
              <a:rPr lang="ko-KR" altLang="en-US" sz="1200" dirty="0">
                <a:solidFill>
                  <a:schemeClr val="tx1"/>
                </a:solidFill>
              </a:rPr>
              <a:t>운영 화면 1 · 2021-09-10 예측 곡선, 경보 시간, 작업 조건</a:t>
            </a:r>
            <a:endParaRPr lang="ko-KR" sz="1200" dirty="0"/>
          </a:p>
        </p:txBody>
      </p:sp>
      <p:pic>
        <p:nvPicPr>
          <p:cNvPr id="7" name="shot-dashboard-2" descr="C:\Users\chiho\AppData\Local\Temp\claude\d--Code-git-kamp-contest\6e2ac53f-732f-4454-9ef9-3cfb3b55fb25\scratchpad\ppt\shot2.png">    </p:cNvPr>
          <p:cNvPicPr>
            <a:picLocks noChangeAspect="1"/>
          </p:cNvPicPr>
          <p:nvPr/>
        </p:nvPicPr>
        <p:blipFill>
          <a:blip r:embed="rId2"/>
          <a:stretch>
            <a:fillRect/>
          </a:stretch>
        </p:blipFill>
        <p:spPr>
          <a:xfrm>
            <a:off x="7589520" y="1600200"/>
            <a:ext cx="4050792" cy="2230829"/>
          </a:xfrm>
          <a:prstGeom prst="rect">
            <a:avLst/>
          </a:prstGeom>
        </p:spPr>
      </p:pic>
      <p:sp>
        <p:nvSpPr>
          <p:cNvPr id="8" name="shot-frame-2"/>
          <p:cNvSpPr/>
          <p:nvPr/>
        </p:nvSpPr>
        <p:spPr>
          <a:xfrm>
            <a:off x="7589520" y="1600200"/>
            <a:ext cx="4050792" cy="2230829"/>
          </a:xfrm>
          <a:prstGeom prst="rect">
            <a:avLst/>
          </a:prstGeom>
          <a:ln w="9525">
            <a:solidFill>
              <a:schemeClr val="accent3"/>
            </a:solidFill>
            <a:prstDash val="solid"/>
          </a:ln>
        </p:spPr>
      </p:sp>
      <p:sp>
        <p:nvSpPr>
          <p:cNvPr id="9" name="text-314"/>
          <p:cNvSpPr txBox="1"/>
          <p:nvPr/>
        </p:nvSpPr>
        <p:spPr>
          <a:xfrm>
            <a:off x="7589520" y="3922469"/>
            <a:ext cx="4050792" cy="274320"/>
          </a:xfrm>
          <a:prstGeom prst="rect">
            <a:avLst/>
          </a:prstGeom>
          <a:noFill/>
          <a:ln/>
        </p:spPr>
        <p:txBody>
          <a:bodyPr wrap="square" lIns="0" tIns="0" rIns="0" bIns="0" rtlCol="0" anchor="t"/>
          <a:lstStyle/>
          <a:p>
            <a:pPr indent="0" marL="0">
              <a:buNone/>
            </a:pPr>
            <a:r>
              <a:rPr lang="ko-KR" altLang="en-US" sz="1200" dirty="0">
                <a:solidFill>
                  <a:schemeClr val="tx1"/>
                </a:solidFill>
              </a:rPr>
              <a:t>운영 화면 2 · 추천 일정 비교 (가정 부하)</a:t>
            </a:r>
            <a:endParaRPr lang="ko-KR" sz="1200" dirty="0"/>
          </a:p>
        </p:txBody>
      </p:sp>
      <p:sp>
        <p:nvSpPr>
          <p:cNvPr id="10" name="text-315"/>
          <p:cNvSpPr txBox="1"/>
          <p:nvPr/>
        </p:nvSpPr>
        <p:spPr>
          <a:xfrm>
            <a:off x="7589520" y="4206240"/>
            <a:ext cx="4050792" cy="1965960"/>
          </a:xfrm>
          <a:prstGeom prst="rect">
            <a:avLst/>
          </a:prstGeom>
          <a:noFill/>
          <a:ln/>
        </p:spPr>
        <p:txBody>
          <a:bodyPr wrap="square" lIns="0" tIns="0" rIns="0" bIns="0" rtlCol="0" anchor="t"/>
          <a:lstStyle/>
          <a:p>
            <a:pPr marL="203200" indent="-203200">
              <a:spcAft>
                <a:spcPts val="600"/>
              </a:spcAft>
              <a:buSzPct val="100000"/>
              <a:buChar char="•"/>
            </a:pPr>
            <a:r>
              <a:rPr lang="ko-KR" altLang="en-US" sz="1400" dirty="0">
                <a:solidFill>
                  <a:schemeClr val="tx1"/>
                </a:solidFill>
              </a:rPr>
              <a:t>서버 없이 더블클릭으로 여는 오프라인 HTML</a:t>
            </a:r>
            <a:endParaRPr lang="ko-KR" sz="1400" dirty="0"/>
          </a:p>
          <a:p>
            <a:pPr marL="203200" indent="-203200">
              <a:spcAft>
                <a:spcPts val="600"/>
              </a:spcAft>
              <a:buSzPct val="100000"/>
              <a:buChar char="•"/>
            </a:pPr>
            <a:r>
              <a:rPr lang="ko-KR" altLang="en-US" sz="1400" dirty="0">
                <a:solidFill>
                  <a:schemeClr val="tx1"/>
                </a:solidFill>
              </a:rPr>
              <a:t>작업 제약을 지키며 분기한정법으로 일 최대가 가장 낮은 배치를 탐색</a:t>
            </a:r>
            <a:endParaRPr lang="ko-KR" sz="1400" dirty="0"/>
          </a:p>
          <a:p>
            <a:pPr marL="203200" indent="-203200">
              <a:spcAft>
                <a:spcPts val="600"/>
              </a:spcAft>
              <a:buSzPct val="100000"/>
              <a:buChar char="•"/>
            </a:pPr>
            <a:r>
              <a:rPr lang="ko-KR" altLang="en-US" sz="1400" dirty="0">
                <a:solidFill>
                  <a:schemeClr val="tx1"/>
                </a:solidFill>
              </a:rPr>
              <a:t>자동 제어가 아닌 판단 보조. 적용은 현장 책임자가 결정</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5  차별성</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성과는 문제 정의와 검증 설계에서 나왔습니다</a:t>
            </a:r>
            <a:endParaRPr lang="ko-KR" sz="2800" dirty="0"/>
          </a:p>
        </p:txBody>
      </p:sp>
      <p:sp>
        <p:nvSpPr>
          <p:cNvPr id="4" name="card-316"/>
          <p:cNvSpPr/>
          <p:nvPr/>
        </p:nvSpPr>
        <p:spPr>
          <a:xfrm>
            <a:off x="548640" y="1645920"/>
            <a:ext cx="3544824" cy="2194560"/>
          </a:xfrm>
          <a:prstGeom prst="roundRect">
            <a:avLst>
              <a:gd name="adj" fmla="val 3333"/>
            </a:avLst>
          </a:prstGeom>
          <a:solidFill>
            <a:schemeClr val="bg2"/>
          </a:solidFill>
          <a:ln w="12700">
            <a:solidFill>
              <a:schemeClr val="bg2"/>
            </a:solidFill>
            <a:prstDash val="solid"/>
          </a:ln>
        </p:spPr>
      </p:sp>
      <p:sp>
        <p:nvSpPr>
          <p:cNvPr id="5" name="num-bg-317"/>
          <p:cNvSpPr/>
          <p:nvPr/>
        </p:nvSpPr>
        <p:spPr>
          <a:xfrm>
            <a:off x="777240" y="1874520"/>
            <a:ext cx="502920" cy="502920"/>
          </a:xfrm>
          <a:prstGeom prst="ellipse">
            <a:avLst/>
          </a:prstGeom>
          <a:solidFill>
            <a:schemeClr val="accent1"/>
          </a:solidFill>
          <a:ln w="12700">
            <a:solidFill>
              <a:schemeClr val="accent1"/>
            </a:solidFill>
            <a:prstDash val="solid"/>
          </a:ln>
        </p:spPr>
      </p:sp>
      <p:sp>
        <p:nvSpPr>
          <p:cNvPr id="6" name="text-318"/>
          <p:cNvSpPr txBox="1"/>
          <p:nvPr/>
        </p:nvSpPr>
        <p:spPr>
          <a:xfrm>
            <a:off x="777240" y="1874520"/>
            <a:ext cx="502920" cy="502920"/>
          </a:xfrm>
          <a:prstGeom prst="rect">
            <a:avLst/>
          </a:prstGeom>
          <a:noFill/>
          <a:ln/>
        </p:spPr>
        <p:txBody>
          <a:bodyPr wrap="square" lIns="0" tIns="0" rIns="0" bIns="0" rtlCol="0" anchor="ctr"/>
          <a:lstStyle/>
          <a:p>
            <a:pPr algn="ctr" indent="0" marL="0">
              <a:buNone/>
            </a:pPr>
            <a:r>
              <a:rPr lang="ko-KR" altLang="en-US" sz="1600" b="1" dirty="0">
                <a:solidFill>
                  <a:schemeClr val="bg1"/>
                </a:solidFill>
              </a:rPr>
              <a:t>1</a:t>
            </a:r>
            <a:endParaRPr lang="ko-KR" sz="1600" dirty="0"/>
          </a:p>
        </p:txBody>
      </p:sp>
      <p:sp>
        <p:nvSpPr>
          <p:cNvPr id="7" name="text-319"/>
          <p:cNvSpPr txBox="1"/>
          <p:nvPr/>
        </p:nvSpPr>
        <p:spPr>
          <a:xfrm>
            <a:off x="1417320" y="1920240"/>
            <a:ext cx="2493264" cy="411480"/>
          </a:xfrm>
          <a:prstGeom prst="rect">
            <a:avLst/>
          </a:prstGeom>
          <a:noFill/>
          <a:ln/>
        </p:spPr>
        <p:txBody>
          <a:bodyPr wrap="square" lIns="0" tIns="0" rIns="0" bIns="0" rtlCol="0" anchor="ctr"/>
          <a:lstStyle/>
          <a:p>
            <a:pPr indent="0" marL="0">
              <a:buNone/>
            </a:pPr>
            <a:r>
              <a:rPr lang="ko-KR" altLang="en-US" sz="1600" b="1" dirty="0">
                <a:solidFill>
                  <a:schemeClr val="tx2"/>
                </a:solidFill>
              </a:rPr>
              <a:t>탐색 → 운영 규칙</a:t>
            </a:r>
            <a:endParaRPr lang="ko-KR" sz="1600" dirty="0"/>
          </a:p>
        </p:txBody>
      </p:sp>
      <p:sp>
        <p:nvSpPr>
          <p:cNvPr id="8" name="text-320"/>
          <p:cNvSpPr txBox="1"/>
          <p:nvPr/>
        </p:nvSpPr>
        <p:spPr>
          <a:xfrm>
            <a:off x="777240" y="2560320"/>
            <a:ext cx="3087624" cy="868680"/>
          </a:xfrm>
          <a:prstGeom prst="rect">
            <a:avLst/>
          </a:prstGeom>
          <a:noFill/>
          <a:ln/>
        </p:spPr>
        <p:txBody>
          <a:bodyPr wrap="square" lIns="0" tIns="0" rIns="0" bIns="0" rtlCol="0" anchor="t"/>
          <a:lstStyle/>
          <a:p>
            <a:pPr indent="0" marL="0">
              <a:buNone/>
            </a:pPr>
            <a:r>
              <a:rPr lang="ko-KR" altLang="en-US" sz="1400" dirty="0">
                <a:solidFill>
                  <a:schemeClr val="tx1"/>
                </a:solidFill>
              </a:rPr>
              <a:t>상관 역전을 관문 구조로 해석해 피처 (cool·thi), SHAP 확인, 3단계 점검까지 연결</a:t>
            </a:r>
            <a:endParaRPr lang="ko-KR" sz="1400" dirty="0"/>
          </a:p>
        </p:txBody>
      </p:sp>
      <p:sp>
        <p:nvSpPr>
          <p:cNvPr id="9" name="text-321"/>
          <p:cNvSpPr txBox="1"/>
          <p:nvPr/>
        </p:nvSpPr>
        <p:spPr>
          <a:xfrm>
            <a:off x="777240" y="3429000"/>
            <a:ext cx="3087624" cy="274320"/>
          </a:xfrm>
          <a:prstGeom prst="rect">
            <a:avLst/>
          </a:prstGeom>
          <a:noFill/>
          <a:ln/>
        </p:spPr>
        <p:txBody>
          <a:bodyPr wrap="square" lIns="0" tIns="0" rIns="0" bIns="0" rtlCol="0" anchor="t"/>
          <a:lstStyle/>
          <a:p>
            <a:pPr indent="0" marL="0">
              <a:buNone/>
            </a:pPr>
            <a:r>
              <a:rPr lang="ko-KR" altLang="en-US" sz="1100" b="1" dirty="0">
                <a:solidFill>
                  <a:schemeClr val="accent3"/>
                </a:solidFill>
              </a:rPr>
              <a:t>근거: 제1장 · 제2장 · 제4장</a:t>
            </a:r>
            <a:endParaRPr lang="ko-KR" sz="1100" dirty="0"/>
          </a:p>
        </p:txBody>
      </p:sp>
      <p:sp>
        <p:nvSpPr>
          <p:cNvPr id="10" name="card-322"/>
          <p:cNvSpPr/>
          <p:nvPr/>
        </p:nvSpPr>
        <p:spPr>
          <a:xfrm>
            <a:off x="4322064" y="1645920"/>
            <a:ext cx="3544824" cy="2194560"/>
          </a:xfrm>
          <a:prstGeom prst="roundRect">
            <a:avLst>
              <a:gd name="adj" fmla="val 3333"/>
            </a:avLst>
          </a:prstGeom>
          <a:solidFill>
            <a:schemeClr val="bg2"/>
          </a:solidFill>
          <a:ln w="12700">
            <a:solidFill>
              <a:schemeClr val="bg2"/>
            </a:solidFill>
            <a:prstDash val="solid"/>
          </a:ln>
        </p:spPr>
      </p:sp>
      <p:sp>
        <p:nvSpPr>
          <p:cNvPr id="11" name="num-bg-323"/>
          <p:cNvSpPr/>
          <p:nvPr/>
        </p:nvSpPr>
        <p:spPr>
          <a:xfrm>
            <a:off x="4550664" y="1874520"/>
            <a:ext cx="502920" cy="502920"/>
          </a:xfrm>
          <a:prstGeom prst="ellipse">
            <a:avLst/>
          </a:prstGeom>
          <a:solidFill>
            <a:schemeClr val="accent2"/>
          </a:solidFill>
          <a:ln w="12700">
            <a:solidFill>
              <a:schemeClr val="accent2"/>
            </a:solidFill>
            <a:prstDash val="solid"/>
          </a:ln>
        </p:spPr>
      </p:sp>
      <p:sp>
        <p:nvSpPr>
          <p:cNvPr id="12" name="text-324"/>
          <p:cNvSpPr txBox="1"/>
          <p:nvPr/>
        </p:nvSpPr>
        <p:spPr>
          <a:xfrm>
            <a:off x="4550664" y="1874520"/>
            <a:ext cx="502920" cy="502920"/>
          </a:xfrm>
          <a:prstGeom prst="rect">
            <a:avLst/>
          </a:prstGeom>
          <a:noFill/>
          <a:ln/>
        </p:spPr>
        <p:txBody>
          <a:bodyPr wrap="square" lIns="0" tIns="0" rIns="0" bIns="0" rtlCol="0" anchor="ctr"/>
          <a:lstStyle/>
          <a:p>
            <a:pPr algn="ctr" indent="0" marL="0">
              <a:buNone/>
            </a:pPr>
            <a:r>
              <a:rPr lang="ko-KR" altLang="en-US" sz="1600" b="1" dirty="0">
                <a:solidFill>
                  <a:schemeClr val="bg1"/>
                </a:solidFill>
              </a:rPr>
              <a:t>2</a:t>
            </a:r>
            <a:endParaRPr lang="ko-KR" sz="1600" dirty="0"/>
          </a:p>
        </p:txBody>
      </p:sp>
      <p:sp>
        <p:nvSpPr>
          <p:cNvPr id="13" name="text-325"/>
          <p:cNvSpPr txBox="1"/>
          <p:nvPr/>
        </p:nvSpPr>
        <p:spPr>
          <a:xfrm>
            <a:off x="5190744" y="1920240"/>
            <a:ext cx="2493264" cy="411480"/>
          </a:xfrm>
          <a:prstGeom prst="rect">
            <a:avLst/>
          </a:prstGeom>
          <a:noFill/>
          <a:ln/>
        </p:spPr>
        <p:txBody>
          <a:bodyPr wrap="square" lIns="0" tIns="0" rIns="0" bIns="0" rtlCol="0" anchor="ctr"/>
          <a:lstStyle/>
          <a:p>
            <a:pPr indent="0" marL="0">
              <a:buNone/>
            </a:pPr>
            <a:r>
              <a:rPr lang="ko-KR" altLang="en-US" sz="1600" b="1" dirty="0">
                <a:solidFill>
                  <a:schemeClr val="tx2"/>
                </a:solidFill>
              </a:rPr>
              <a:t>요금 제도에서 역산한 타깃</a:t>
            </a:r>
            <a:endParaRPr lang="ko-KR" sz="1600" dirty="0"/>
          </a:p>
        </p:txBody>
      </p:sp>
      <p:sp>
        <p:nvSpPr>
          <p:cNvPr id="14" name="text-326"/>
          <p:cNvSpPr txBox="1"/>
          <p:nvPr/>
        </p:nvSpPr>
        <p:spPr>
          <a:xfrm>
            <a:off x="4550664" y="2560320"/>
            <a:ext cx="3087624" cy="868680"/>
          </a:xfrm>
          <a:prstGeom prst="rect">
            <a:avLst/>
          </a:prstGeom>
          <a:noFill/>
          <a:ln/>
        </p:spPr>
        <p:txBody>
          <a:bodyPr wrap="square" lIns="0" tIns="0" rIns="0" bIns="0" rtlCol="0" anchor="t"/>
          <a:lstStyle/>
          <a:p>
            <a:pPr indent="0" marL="0">
              <a:buNone/>
            </a:pPr>
            <a:r>
              <a:rPr lang="ko-KR" altLang="en-US" sz="1400" dirty="0">
                <a:solidFill>
                  <a:schemeClr val="tx1"/>
                </a:solidFill>
              </a:rPr>
              <a:t>15분 최대를 직접 학습. 같은 임계에서 재현율 L1 64.3% → P90 100%</a:t>
            </a:r>
            <a:endParaRPr lang="ko-KR" sz="1400" dirty="0"/>
          </a:p>
        </p:txBody>
      </p:sp>
      <p:sp>
        <p:nvSpPr>
          <p:cNvPr id="15" name="text-327"/>
          <p:cNvSpPr txBox="1"/>
          <p:nvPr/>
        </p:nvSpPr>
        <p:spPr>
          <a:xfrm>
            <a:off x="4550664" y="3429000"/>
            <a:ext cx="3087624" cy="274320"/>
          </a:xfrm>
          <a:prstGeom prst="rect">
            <a:avLst/>
          </a:prstGeom>
          <a:noFill/>
          <a:ln/>
        </p:spPr>
        <p:txBody>
          <a:bodyPr wrap="square" lIns="0" tIns="0" rIns="0" bIns="0" rtlCol="0" anchor="t"/>
          <a:lstStyle/>
          <a:p>
            <a:pPr indent="0" marL="0">
              <a:buNone/>
            </a:pPr>
            <a:r>
              <a:rPr lang="ko-KR" altLang="en-US" sz="1100" b="1" dirty="0">
                <a:solidFill>
                  <a:schemeClr val="accent3"/>
                </a:solidFill>
              </a:rPr>
              <a:t>근거: 제1장 · 제3장</a:t>
            </a:r>
            <a:endParaRPr lang="ko-KR" sz="1100" dirty="0"/>
          </a:p>
        </p:txBody>
      </p:sp>
      <p:sp>
        <p:nvSpPr>
          <p:cNvPr id="16" name="card-328"/>
          <p:cNvSpPr/>
          <p:nvPr/>
        </p:nvSpPr>
        <p:spPr>
          <a:xfrm>
            <a:off x="8095488" y="1645920"/>
            <a:ext cx="3544824" cy="2194560"/>
          </a:xfrm>
          <a:prstGeom prst="roundRect">
            <a:avLst>
              <a:gd name="adj" fmla="val 3333"/>
            </a:avLst>
          </a:prstGeom>
          <a:solidFill>
            <a:schemeClr val="bg2"/>
          </a:solidFill>
          <a:ln w="12700">
            <a:solidFill>
              <a:schemeClr val="bg2"/>
            </a:solidFill>
            <a:prstDash val="solid"/>
          </a:ln>
        </p:spPr>
      </p:sp>
      <p:sp>
        <p:nvSpPr>
          <p:cNvPr id="17" name="num-bg-329"/>
          <p:cNvSpPr/>
          <p:nvPr/>
        </p:nvSpPr>
        <p:spPr>
          <a:xfrm>
            <a:off x="8324088" y="1874520"/>
            <a:ext cx="502920" cy="502920"/>
          </a:xfrm>
          <a:prstGeom prst="ellipse">
            <a:avLst/>
          </a:prstGeom>
          <a:solidFill>
            <a:schemeClr val="accent1"/>
          </a:solidFill>
          <a:ln w="12700">
            <a:solidFill>
              <a:schemeClr val="accent1"/>
            </a:solidFill>
            <a:prstDash val="solid"/>
          </a:ln>
        </p:spPr>
      </p:sp>
      <p:sp>
        <p:nvSpPr>
          <p:cNvPr id="18" name="text-330"/>
          <p:cNvSpPr txBox="1"/>
          <p:nvPr/>
        </p:nvSpPr>
        <p:spPr>
          <a:xfrm>
            <a:off x="8324088" y="1874520"/>
            <a:ext cx="502920" cy="502920"/>
          </a:xfrm>
          <a:prstGeom prst="rect">
            <a:avLst/>
          </a:prstGeom>
          <a:noFill/>
          <a:ln/>
        </p:spPr>
        <p:txBody>
          <a:bodyPr wrap="square" lIns="0" tIns="0" rIns="0" bIns="0" rtlCol="0" anchor="ctr"/>
          <a:lstStyle/>
          <a:p>
            <a:pPr algn="ctr" indent="0" marL="0">
              <a:buNone/>
            </a:pPr>
            <a:r>
              <a:rPr lang="ko-KR" altLang="en-US" sz="1600" b="1" dirty="0">
                <a:solidFill>
                  <a:schemeClr val="bg1"/>
                </a:solidFill>
              </a:rPr>
              <a:t>3</a:t>
            </a:r>
            <a:endParaRPr lang="ko-KR" sz="1600" dirty="0"/>
          </a:p>
        </p:txBody>
      </p:sp>
      <p:sp>
        <p:nvSpPr>
          <p:cNvPr id="19" name="text-331"/>
          <p:cNvSpPr txBox="1"/>
          <p:nvPr/>
        </p:nvSpPr>
        <p:spPr>
          <a:xfrm>
            <a:off x="8964168" y="1920240"/>
            <a:ext cx="2493264" cy="411480"/>
          </a:xfrm>
          <a:prstGeom prst="rect">
            <a:avLst/>
          </a:prstGeom>
          <a:noFill/>
          <a:ln/>
        </p:spPr>
        <p:txBody>
          <a:bodyPr wrap="square" lIns="0" tIns="0" rIns="0" bIns="0" rtlCol="0" anchor="ctr"/>
          <a:lstStyle/>
          <a:p>
            <a:pPr indent="0" marL="0">
              <a:buNone/>
            </a:pPr>
            <a:r>
              <a:rPr lang="ko-KR" altLang="en-US" sz="1600" b="1" dirty="0">
                <a:solidFill>
                  <a:schemeClr val="tx2"/>
                </a:solidFill>
              </a:rPr>
              <a:t>직관에 반하는 처리</a:t>
            </a:r>
            <a:endParaRPr lang="ko-KR" sz="1600" dirty="0"/>
          </a:p>
        </p:txBody>
      </p:sp>
      <p:sp>
        <p:nvSpPr>
          <p:cNvPr id="20" name="text-332"/>
          <p:cNvSpPr txBox="1"/>
          <p:nvPr/>
        </p:nvSpPr>
        <p:spPr>
          <a:xfrm>
            <a:off x="8324088" y="2560320"/>
            <a:ext cx="3087624" cy="868680"/>
          </a:xfrm>
          <a:prstGeom prst="rect">
            <a:avLst/>
          </a:prstGeom>
          <a:noFill/>
          <a:ln/>
        </p:spPr>
        <p:txBody>
          <a:bodyPr wrap="square" lIns="0" tIns="0" rIns="0" bIns="0" rtlCol="0" anchor="t"/>
          <a:lstStyle/>
          <a:p>
            <a:pPr indent="0" marL="0">
              <a:buNone/>
            </a:pPr>
            <a:r>
              <a:rPr lang="ko-KR" altLang="en-US" sz="1400" dirty="0">
                <a:solidFill>
                  <a:schemeClr val="tx1"/>
                </a:solidFill>
              </a:rPr>
              <a:t>어제 데이터 배제 (MAE −1.10), 휴무 구간을 일부러 결측으로 두고 L군 피처로 보완</a:t>
            </a:r>
            <a:endParaRPr lang="ko-KR" sz="1400" dirty="0"/>
          </a:p>
        </p:txBody>
      </p:sp>
      <p:sp>
        <p:nvSpPr>
          <p:cNvPr id="21" name="text-333"/>
          <p:cNvSpPr txBox="1"/>
          <p:nvPr/>
        </p:nvSpPr>
        <p:spPr>
          <a:xfrm>
            <a:off x="8324088" y="3429000"/>
            <a:ext cx="3087624" cy="274320"/>
          </a:xfrm>
          <a:prstGeom prst="rect">
            <a:avLst/>
          </a:prstGeom>
          <a:noFill/>
          <a:ln/>
        </p:spPr>
        <p:txBody>
          <a:bodyPr wrap="square" lIns="0" tIns="0" rIns="0" bIns="0" rtlCol="0" anchor="t"/>
          <a:lstStyle/>
          <a:p>
            <a:pPr indent="0" marL="0">
              <a:buNone/>
            </a:pPr>
            <a:r>
              <a:rPr lang="ko-KR" altLang="en-US" sz="1100" b="1" dirty="0">
                <a:solidFill>
                  <a:schemeClr val="accent3"/>
                </a:solidFill>
              </a:rPr>
              <a:t>근거: 제2장</a:t>
            </a:r>
            <a:endParaRPr lang="ko-KR" sz="1100" dirty="0"/>
          </a:p>
        </p:txBody>
      </p:sp>
      <p:sp>
        <p:nvSpPr>
          <p:cNvPr id="22" name="card-334"/>
          <p:cNvSpPr/>
          <p:nvPr/>
        </p:nvSpPr>
        <p:spPr>
          <a:xfrm>
            <a:off x="548640" y="4069080"/>
            <a:ext cx="3544824" cy="2194560"/>
          </a:xfrm>
          <a:prstGeom prst="roundRect">
            <a:avLst>
              <a:gd name="adj" fmla="val 3333"/>
            </a:avLst>
          </a:prstGeom>
          <a:solidFill>
            <a:schemeClr val="bg2"/>
          </a:solidFill>
          <a:ln w="12700">
            <a:solidFill>
              <a:schemeClr val="bg2"/>
            </a:solidFill>
            <a:prstDash val="solid"/>
          </a:ln>
        </p:spPr>
      </p:sp>
      <p:sp>
        <p:nvSpPr>
          <p:cNvPr id="23" name="num-bg-335"/>
          <p:cNvSpPr/>
          <p:nvPr/>
        </p:nvSpPr>
        <p:spPr>
          <a:xfrm>
            <a:off x="777240" y="4297680"/>
            <a:ext cx="502920" cy="502920"/>
          </a:xfrm>
          <a:prstGeom prst="ellipse">
            <a:avLst/>
          </a:prstGeom>
          <a:solidFill>
            <a:schemeClr val="accent1"/>
          </a:solidFill>
          <a:ln w="12700">
            <a:solidFill>
              <a:schemeClr val="accent1"/>
            </a:solidFill>
            <a:prstDash val="solid"/>
          </a:ln>
        </p:spPr>
      </p:sp>
      <p:sp>
        <p:nvSpPr>
          <p:cNvPr id="24" name="text-336"/>
          <p:cNvSpPr txBox="1"/>
          <p:nvPr/>
        </p:nvSpPr>
        <p:spPr>
          <a:xfrm>
            <a:off x="777240" y="4297680"/>
            <a:ext cx="502920" cy="502920"/>
          </a:xfrm>
          <a:prstGeom prst="rect">
            <a:avLst/>
          </a:prstGeom>
          <a:noFill/>
          <a:ln/>
        </p:spPr>
        <p:txBody>
          <a:bodyPr wrap="square" lIns="0" tIns="0" rIns="0" bIns="0" rtlCol="0" anchor="ctr"/>
          <a:lstStyle/>
          <a:p>
            <a:pPr algn="ctr" indent="0" marL="0">
              <a:buNone/>
            </a:pPr>
            <a:r>
              <a:rPr lang="ko-KR" altLang="en-US" sz="1600" b="1" dirty="0">
                <a:solidFill>
                  <a:schemeClr val="bg1"/>
                </a:solidFill>
              </a:rPr>
              <a:t>4</a:t>
            </a:r>
            <a:endParaRPr lang="ko-KR" sz="1600" dirty="0"/>
          </a:p>
        </p:txBody>
      </p:sp>
      <p:sp>
        <p:nvSpPr>
          <p:cNvPr id="25" name="text-337"/>
          <p:cNvSpPr txBox="1"/>
          <p:nvPr/>
        </p:nvSpPr>
        <p:spPr>
          <a:xfrm>
            <a:off x="1417320" y="4343400"/>
            <a:ext cx="2493264" cy="411480"/>
          </a:xfrm>
          <a:prstGeom prst="rect">
            <a:avLst/>
          </a:prstGeom>
          <a:noFill/>
          <a:ln/>
        </p:spPr>
        <p:txBody>
          <a:bodyPr wrap="square" lIns="0" tIns="0" rIns="0" bIns="0" rtlCol="0" anchor="ctr"/>
          <a:lstStyle/>
          <a:p>
            <a:pPr indent="0" marL="0">
              <a:buNone/>
            </a:pPr>
            <a:r>
              <a:rPr lang="ko-KR" altLang="en-US" sz="1600" b="1" dirty="0">
                <a:solidFill>
                  <a:schemeClr val="tx2"/>
                </a:solidFill>
              </a:rPr>
              <a:t>수치보다 검증 규칙</a:t>
            </a:r>
            <a:endParaRPr lang="ko-KR" sz="1600" dirty="0"/>
          </a:p>
        </p:txBody>
      </p:sp>
      <p:sp>
        <p:nvSpPr>
          <p:cNvPr id="26" name="text-338"/>
          <p:cNvSpPr txBox="1"/>
          <p:nvPr/>
        </p:nvSpPr>
        <p:spPr>
          <a:xfrm>
            <a:off x="777240" y="4983480"/>
            <a:ext cx="3087624" cy="868680"/>
          </a:xfrm>
          <a:prstGeom prst="rect">
            <a:avLst/>
          </a:prstGeom>
          <a:noFill/>
          <a:ln/>
        </p:spPr>
        <p:txBody>
          <a:bodyPr wrap="square" lIns="0" tIns="0" rIns="0" bIns="0" rtlCol="0" anchor="t"/>
          <a:lstStyle/>
          <a:p>
            <a:pPr indent="0" marL="0">
              <a:buNone/>
            </a:pPr>
            <a:r>
              <a:rPr lang="ko-KR" altLang="en-US" sz="1400" dirty="0">
                <a:solidFill>
                  <a:schemeClr val="tx1"/>
                </a:solidFill>
              </a:rPr>
              <a:t>누수 교정으로 13.36 → 25.32 악화도 그대로 보고, 시드 기준과 176회 누수 점검</a:t>
            </a:r>
            <a:endParaRPr lang="ko-KR" sz="1400" dirty="0"/>
          </a:p>
        </p:txBody>
      </p:sp>
      <p:sp>
        <p:nvSpPr>
          <p:cNvPr id="27" name="text-339"/>
          <p:cNvSpPr txBox="1"/>
          <p:nvPr/>
        </p:nvSpPr>
        <p:spPr>
          <a:xfrm>
            <a:off x="777240" y="5852160"/>
            <a:ext cx="3087624" cy="274320"/>
          </a:xfrm>
          <a:prstGeom prst="rect">
            <a:avLst/>
          </a:prstGeom>
          <a:noFill/>
          <a:ln/>
        </p:spPr>
        <p:txBody>
          <a:bodyPr wrap="square" lIns="0" tIns="0" rIns="0" bIns="0" rtlCol="0" anchor="t"/>
          <a:lstStyle/>
          <a:p>
            <a:pPr indent="0" marL="0">
              <a:buNone/>
            </a:pPr>
            <a:r>
              <a:rPr lang="ko-KR" altLang="en-US" sz="1100" b="1" dirty="0">
                <a:solidFill>
                  <a:schemeClr val="accent3"/>
                </a:solidFill>
              </a:rPr>
              <a:t>근거: 제2장 · 제3장</a:t>
            </a:r>
            <a:endParaRPr lang="ko-KR" sz="1100" dirty="0"/>
          </a:p>
        </p:txBody>
      </p:sp>
      <p:sp>
        <p:nvSpPr>
          <p:cNvPr id="28" name="card-340"/>
          <p:cNvSpPr/>
          <p:nvPr/>
        </p:nvSpPr>
        <p:spPr>
          <a:xfrm>
            <a:off x="4322064" y="4069080"/>
            <a:ext cx="3544824" cy="2194560"/>
          </a:xfrm>
          <a:prstGeom prst="roundRect">
            <a:avLst>
              <a:gd name="adj" fmla="val 3333"/>
            </a:avLst>
          </a:prstGeom>
          <a:solidFill>
            <a:schemeClr val="bg2"/>
          </a:solidFill>
          <a:ln w="12700">
            <a:solidFill>
              <a:schemeClr val="bg2"/>
            </a:solidFill>
            <a:prstDash val="solid"/>
          </a:ln>
        </p:spPr>
      </p:sp>
      <p:sp>
        <p:nvSpPr>
          <p:cNvPr id="29" name="num-bg-341"/>
          <p:cNvSpPr/>
          <p:nvPr/>
        </p:nvSpPr>
        <p:spPr>
          <a:xfrm>
            <a:off x="4550664" y="4297680"/>
            <a:ext cx="502920" cy="502920"/>
          </a:xfrm>
          <a:prstGeom prst="ellipse">
            <a:avLst/>
          </a:prstGeom>
          <a:solidFill>
            <a:schemeClr val="accent1"/>
          </a:solidFill>
          <a:ln w="12700">
            <a:solidFill>
              <a:schemeClr val="accent1"/>
            </a:solidFill>
            <a:prstDash val="solid"/>
          </a:ln>
        </p:spPr>
      </p:sp>
      <p:sp>
        <p:nvSpPr>
          <p:cNvPr id="30" name="text-342"/>
          <p:cNvSpPr txBox="1"/>
          <p:nvPr/>
        </p:nvSpPr>
        <p:spPr>
          <a:xfrm>
            <a:off x="4550664" y="4297680"/>
            <a:ext cx="502920" cy="502920"/>
          </a:xfrm>
          <a:prstGeom prst="rect">
            <a:avLst/>
          </a:prstGeom>
          <a:noFill/>
          <a:ln/>
        </p:spPr>
        <p:txBody>
          <a:bodyPr wrap="square" lIns="0" tIns="0" rIns="0" bIns="0" rtlCol="0" anchor="ctr"/>
          <a:lstStyle/>
          <a:p>
            <a:pPr algn="ctr" indent="0" marL="0">
              <a:buNone/>
            </a:pPr>
            <a:r>
              <a:rPr lang="ko-KR" altLang="en-US" sz="1600" b="1" dirty="0">
                <a:solidFill>
                  <a:schemeClr val="bg1"/>
                </a:solidFill>
              </a:rPr>
              <a:t>5</a:t>
            </a:r>
            <a:endParaRPr lang="ko-KR" sz="1600" dirty="0"/>
          </a:p>
        </p:txBody>
      </p:sp>
      <p:sp>
        <p:nvSpPr>
          <p:cNvPr id="31" name="text-343"/>
          <p:cNvSpPr txBox="1"/>
          <p:nvPr/>
        </p:nvSpPr>
        <p:spPr>
          <a:xfrm>
            <a:off x="5190744" y="4343400"/>
            <a:ext cx="2493264" cy="411480"/>
          </a:xfrm>
          <a:prstGeom prst="rect">
            <a:avLst/>
          </a:prstGeom>
          <a:noFill/>
          <a:ln/>
        </p:spPr>
        <p:txBody>
          <a:bodyPr wrap="square" lIns="0" tIns="0" rIns="0" bIns="0" rtlCol="0" anchor="ctr"/>
          <a:lstStyle/>
          <a:p>
            <a:pPr indent="0" marL="0">
              <a:buNone/>
            </a:pPr>
            <a:r>
              <a:rPr lang="ko-KR" altLang="en-US" sz="1600" b="1" dirty="0">
                <a:solidFill>
                  <a:schemeClr val="tx2"/>
                </a:solidFill>
              </a:rPr>
              <a:t>기각과 미확정의 명시</a:t>
            </a:r>
            <a:endParaRPr lang="ko-KR" sz="1600" dirty="0"/>
          </a:p>
        </p:txBody>
      </p:sp>
      <p:sp>
        <p:nvSpPr>
          <p:cNvPr id="32" name="text-344"/>
          <p:cNvSpPr txBox="1"/>
          <p:nvPr/>
        </p:nvSpPr>
        <p:spPr>
          <a:xfrm>
            <a:off x="4550664" y="4983480"/>
            <a:ext cx="3087624" cy="868680"/>
          </a:xfrm>
          <a:prstGeom prst="rect">
            <a:avLst/>
          </a:prstGeom>
          <a:noFill/>
          <a:ln/>
        </p:spPr>
        <p:txBody>
          <a:bodyPr wrap="square" lIns="0" tIns="0" rIns="0" bIns="0" rtlCol="0" anchor="t"/>
          <a:lstStyle/>
          <a:p>
            <a:pPr indent="0" marL="0">
              <a:buNone/>
            </a:pPr>
            <a:r>
              <a:rPr lang="ko-KR" altLang="en-US" sz="1400" dirty="0">
                <a:solidFill>
                  <a:schemeClr val="tx1"/>
                </a:solidFill>
              </a:rPr>
              <a:t>축 D 기각 (적중 48.2%), 기각 설정을 사유와 함께 남기고 k·U는 대입표로</a:t>
            </a:r>
            <a:endParaRPr lang="ko-KR" sz="1400" dirty="0"/>
          </a:p>
        </p:txBody>
      </p:sp>
      <p:sp>
        <p:nvSpPr>
          <p:cNvPr id="33" name="text-345"/>
          <p:cNvSpPr txBox="1"/>
          <p:nvPr/>
        </p:nvSpPr>
        <p:spPr>
          <a:xfrm>
            <a:off x="4550664" y="5852160"/>
            <a:ext cx="3087624" cy="274320"/>
          </a:xfrm>
          <a:prstGeom prst="rect">
            <a:avLst/>
          </a:prstGeom>
          <a:noFill/>
          <a:ln/>
        </p:spPr>
        <p:txBody>
          <a:bodyPr wrap="square" lIns="0" tIns="0" rIns="0" bIns="0" rtlCol="0" anchor="t"/>
          <a:lstStyle/>
          <a:p>
            <a:pPr indent="0" marL="0">
              <a:buNone/>
            </a:pPr>
            <a:r>
              <a:rPr lang="ko-KR" altLang="en-US" sz="1100" b="1" dirty="0">
                <a:solidFill>
                  <a:schemeClr val="accent3"/>
                </a:solidFill>
              </a:rPr>
              <a:t>근거: 제2장 · 제4장</a:t>
            </a:r>
            <a:endParaRPr lang="ko-KR" sz="1100" dirty="0"/>
          </a:p>
        </p:txBody>
      </p:sp>
      <p:sp>
        <p:nvSpPr>
          <p:cNvPr id="34" name="card-346"/>
          <p:cNvSpPr/>
          <p:nvPr/>
        </p:nvSpPr>
        <p:spPr>
          <a:xfrm>
            <a:off x="8095488" y="4069080"/>
            <a:ext cx="3544824" cy="2194560"/>
          </a:xfrm>
          <a:prstGeom prst="roundRect">
            <a:avLst>
              <a:gd name="adj" fmla="val 3333"/>
            </a:avLst>
          </a:prstGeom>
          <a:solidFill>
            <a:schemeClr val="bg2"/>
          </a:solidFill>
          <a:ln w="12700">
            <a:solidFill>
              <a:schemeClr val="bg2"/>
            </a:solidFill>
            <a:prstDash val="solid"/>
          </a:ln>
        </p:spPr>
      </p:sp>
      <p:sp>
        <p:nvSpPr>
          <p:cNvPr id="35" name="num-bg-347"/>
          <p:cNvSpPr/>
          <p:nvPr/>
        </p:nvSpPr>
        <p:spPr>
          <a:xfrm>
            <a:off x="8324088" y="4297680"/>
            <a:ext cx="502920" cy="502920"/>
          </a:xfrm>
          <a:prstGeom prst="ellipse">
            <a:avLst/>
          </a:prstGeom>
          <a:solidFill>
            <a:schemeClr val="accent1"/>
          </a:solidFill>
          <a:ln w="12700">
            <a:solidFill>
              <a:schemeClr val="accent1"/>
            </a:solidFill>
            <a:prstDash val="solid"/>
          </a:ln>
        </p:spPr>
      </p:sp>
      <p:sp>
        <p:nvSpPr>
          <p:cNvPr id="36" name="text-348"/>
          <p:cNvSpPr txBox="1"/>
          <p:nvPr/>
        </p:nvSpPr>
        <p:spPr>
          <a:xfrm>
            <a:off x="8324088" y="4297680"/>
            <a:ext cx="502920" cy="502920"/>
          </a:xfrm>
          <a:prstGeom prst="rect">
            <a:avLst/>
          </a:prstGeom>
          <a:noFill/>
          <a:ln/>
        </p:spPr>
        <p:txBody>
          <a:bodyPr wrap="square" lIns="0" tIns="0" rIns="0" bIns="0" rtlCol="0" anchor="ctr"/>
          <a:lstStyle/>
          <a:p>
            <a:pPr algn="ctr" indent="0" marL="0">
              <a:buNone/>
            </a:pPr>
            <a:r>
              <a:rPr lang="ko-KR" altLang="en-US" sz="1600" b="1" dirty="0">
                <a:solidFill>
                  <a:schemeClr val="bg1"/>
                </a:solidFill>
              </a:rPr>
              <a:t>6</a:t>
            </a:r>
            <a:endParaRPr lang="ko-KR" sz="1600" dirty="0"/>
          </a:p>
        </p:txBody>
      </p:sp>
      <p:sp>
        <p:nvSpPr>
          <p:cNvPr id="37" name="text-349"/>
          <p:cNvSpPr txBox="1"/>
          <p:nvPr/>
        </p:nvSpPr>
        <p:spPr>
          <a:xfrm>
            <a:off x="8964168" y="4343400"/>
            <a:ext cx="2493264" cy="411480"/>
          </a:xfrm>
          <a:prstGeom prst="rect">
            <a:avLst/>
          </a:prstGeom>
          <a:noFill/>
          <a:ln/>
        </p:spPr>
        <p:txBody>
          <a:bodyPr wrap="square" lIns="0" tIns="0" rIns="0" bIns="0" rtlCol="0" anchor="ctr"/>
          <a:lstStyle/>
          <a:p>
            <a:pPr indent="0" marL="0">
              <a:buNone/>
            </a:pPr>
            <a:r>
              <a:rPr lang="ko-KR" altLang="en-US" sz="1600" b="1" dirty="0">
                <a:solidFill>
                  <a:schemeClr val="tx2"/>
                </a:solidFill>
              </a:rPr>
              <a:t>의사결정 지원 화면</a:t>
            </a:r>
            <a:endParaRPr lang="ko-KR" sz="1600" dirty="0"/>
          </a:p>
        </p:txBody>
      </p:sp>
      <p:sp>
        <p:nvSpPr>
          <p:cNvPr id="38" name="text-350"/>
          <p:cNvSpPr txBox="1"/>
          <p:nvPr/>
        </p:nvSpPr>
        <p:spPr>
          <a:xfrm>
            <a:off x="8324088" y="4983480"/>
            <a:ext cx="3087624" cy="868680"/>
          </a:xfrm>
          <a:prstGeom prst="rect">
            <a:avLst/>
          </a:prstGeom>
          <a:noFill/>
          <a:ln/>
        </p:spPr>
        <p:txBody>
          <a:bodyPr wrap="square" lIns="0" tIns="0" rIns="0" bIns="0" rtlCol="0" anchor="t"/>
          <a:lstStyle/>
          <a:p>
            <a:pPr indent="0" marL="0">
              <a:buNone/>
            </a:pPr>
            <a:r>
              <a:rPr lang="ko-KR" altLang="en-US" sz="1400" dirty="0">
                <a:solidFill>
                  <a:schemeClr val="tx1"/>
                </a:solidFill>
              </a:rPr>
              <a:t>오프라인 운영 화면과 일정 권고. 최종 판단은 현장이 내림</a:t>
            </a:r>
            <a:endParaRPr lang="ko-KR" sz="1400" dirty="0"/>
          </a:p>
        </p:txBody>
      </p:sp>
      <p:sp>
        <p:nvSpPr>
          <p:cNvPr id="39" name="text-351"/>
          <p:cNvSpPr txBox="1"/>
          <p:nvPr/>
        </p:nvSpPr>
        <p:spPr>
          <a:xfrm>
            <a:off x="8324088" y="5852160"/>
            <a:ext cx="3087624" cy="274320"/>
          </a:xfrm>
          <a:prstGeom prst="rect">
            <a:avLst/>
          </a:prstGeom>
          <a:noFill/>
          <a:ln/>
        </p:spPr>
        <p:txBody>
          <a:bodyPr wrap="square" lIns="0" tIns="0" rIns="0" bIns="0" rtlCol="0" anchor="t"/>
          <a:lstStyle/>
          <a:p>
            <a:pPr indent="0" marL="0">
              <a:buNone/>
            </a:pPr>
            <a:r>
              <a:rPr lang="ko-KR" altLang="en-US" sz="1100" b="1" dirty="0">
                <a:solidFill>
                  <a:schemeClr val="accent3"/>
                </a:solidFill>
              </a:rPr>
              <a:t>근거: 제5장</a:t>
            </a:r>
            <a:endParaRPr lang="ko-KR"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1"/>
                </a:solidFill>
              </a:rPr>
              <a:t>6  재현성</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tx2"/>
                </a:solidFill>
              </a:rPr>
              <a:t>코드와 원자료만으로 결과를 다시 만들 수 있습니다</a:t>
            </a:r>
            <a:endParaRPr lang="ko-KR" sz="2800" dirty="0"/>
          </a:p>
        </p:txBody>
      </p:sp>
      <p:sp>
        <p:nvSpPr>
          <p:cNvPr id="4" name="card-352"/>
          <p:cNvSpPr/>
          <p:nvPr/>
        </p:nvSpPr>
        <p:spPr>
          <a:xfrm>
            <a:off x="548640" y="1645920"/>
            <a:ext cx="5394960" cy="566928"/>
          </a:xfrm>
          <a:prstGeom prst="roundRect">
            <a:avLst>
              <a:gd name="adj" fmla="val 12903"/>
            </a:avLst>
          </a:prstGeom>
          <a:solidFill>
            <a:schemeClr val="tx1"/>
          </a:solidFill>
          <a:ln w="12700">
            <a:solidFill>
              <a:schemeClr val="tx1"/>
            </a:solidFill>
            <a:prstDash val="solid"/>
          </a:ln>
        </p:spPr>
      </p:sp>
      <p:sp>
        <p:nvSpPr>
          <p:cNvPr id="5" name="text-353"/>
          <p:cNvSpPr txBox="1"/>
          <p:nvPr/>
        </p:nvSpPr>
        <p:spPr>
          <a:xfrm>
            <a:off x="777240" y="1645920"/>
            <a:ext cx="5029200" cy="566928"/>
          </a:xfrm>
          <a:prstGeom prst="rect">
            <a:avLst/>
          </a:prstGeom>
          <a:noFill/>
          <a:ln/>
        </p:spPr>
        <p:txBody>
          <a:bodyPr wrap="square" lIns="0" tIns="0" rIns="0" bIns="0" rtlCol="0" anchor="ctr"/>
          <a:lstStyle/>
          <a:p>
            <a:pPr indent="0" marL="0">
              <a:buNone/>
            </a:pPr>
            <a:r>
              <a:rPr lang="ko-KR" altLang="en-US" sz="1500" dirty="0">
                <a:solidFill>
                  <a:schemeClr val="accent5"/>
                </a:solidFill>
                <a:latin typeface="Consolas" pitchFamily="34" charset="0"/>
                <a:ea typeface="Consolas" pitchFamily="34" charset="-122"/>
                <a:cs typeface="Consolas" pitchFamily="34" charset="-120"/>
              </a:rPr>
              <a:t>$ python run_all.py</a:t>
            </a:r>
            <a:endParaRPr lang="ko-KR" sz="1500" dirty="0"/>
          </a:p>
        </p:txBody>
      </p:sp>
      <p:sp>
        <p:nvSpPr>
          <p:cNvPr id="6" name="text-354"/>
          <p:cNvSpPr txBox="1"/>
          <p:nvPr/>
        </p:nvSpPr>
        <p:spPr>
          <a:xfrm>
            <a:off x="548640" y="2331720"/>
            <a:ext cx="5394960" cy="731520"/>
          </a:xfrm>
          <a:prstGeom prst="rect">
            <a:avLst/>
          </a:prstGeom>
          <a:noFill/>
          <a:ln/>
        </p:spPr>
        <p:txBody>
          <a:bodyPr wrap="square" lIns="0" tIns="0" rIns="0" bIns="0" rtlCol="0" anchor="t"/>
          <a:lstStyle/>
          <a:p>
            <a:pPr indent="0" marL="0">
              <a:buNone/>
            </a:pPr>
            <a:r>
              <a:rPr lang="ko-KR" altLang="en-US" sz="1400" dirty="0">
                <a:solidFill>
                  <a:schemeClr val="tx1"/>
                </a:solidFill>
              </a:rPr>
              <a:t>전처리부터 보고서 표·그림 데이터까지 전체 파이프라인을 다시 생성합니다.</a:t>
            </a:r>
            <a:endParaRPr lang="ko-KR" sz="1400" dirty="0"/>
          </a:p>
        </p:txBody>
      </p:sp>
      <p:sp>
        <p:nvSpPr>
          <p:cNvPr id="7" name="card-355"/>
          <p:cNvSpPr/>
          <p:nvPr/>
        </p:nvSpPr>
        <p:spPr>
          <a:xfrm>
            <a:off x="548640" y="3246120"/>
            <a:ext cx="5394960" cy="566928"/>
          </a:xfrm>
          <a:prstGeom prst="roundRect">
            <a:avLst>
              <a:gd name="adj" fmla="val 12903"/>
            </a:avLst>
          </a:prstGeom>
          <a:solidFill>
            <a:schemeClr val="tx1"/>
          </a:solidFill>
          <a:ln w="12700">
            <a:solidFill>
              <a:schemeClr val="tx1"/>
            </a:solidFill>
            <a:prstDash val="solid"/>
          </a:ln>
        </p:spPr>
      </p:sp>
      <p:sp>
        <p:nvSpPr>
          <p:cNvPr id="8" name="text-356"/>
          <p:cNvSpPr txBox="1"/>
          <p:nvPr/>
        </p:nvSpPr>
        <p:spPr>
          <a:xfrm>
            <a:off x="777240" y="3246120"/>
            <a:ext cx="5029200" cy="566928"/>
          </a:xfrm>
          <a:prstGeom prst="rect">
            <a:avLst/>
          </a:prstGeom>
          <a:noFill/>
          <a:ln/>
        </p:spPr>
        <p:txBody>
          <a:bodyPr wrap="square" lIns="0" tIns="0" rIns="0" bIns="0" rtlCol="0" anchor="ctr"/>
          <a:lstStyle/>
          <a:p>
            <a:pPr indent="0" marL="0">
              <a:buNone/>
            </a:pPr>
            <a:r>
              <a:rPr lang="ko-KR" altLang="en-US" sz="1500" dirty="0">
                <a:solidFill>
                  <a:schemeClr val="accent5"/>
                </a:solidFill>
                <a:latin typeface="Consolas" pitchFamily="34" charset="0"/>
                <a:ea typeface="Consolas" pitchFamily="34" charset="-122"/>
                <a:cs typeface="Consolas" pitchFamily="34" charset="-120"/>
              </a:rPr>
              <a:t>$ python "Resource optimization AI.py"</a:t>
            </a:r>
            <a:endParaRPr lang="ko-KR" sz="1500" dirty="0"/>
          </a:p>
        </p:txBody>
      </p:sp>
      <p:sp>
        <p:nvSpPr>
          <p:cNvPr id="9" name="text-357"/>
          <p:cNvSpPr txBox="1"/>
          <p:nvPr/>
        </p:nvSpPr>
        <p:spPr>
          <a:xfrm>
            <a:off x="548640" y="3931920"/>
            <a:ext cx="5394960" cy="731520"/>
          </a:xfrm>
          <a:prstGeom prst="rect">
            <a:avLst/>
          </a:prstGeom>
          <a:noFill/>
          <a:ln/>
        </p:spPr>
        <p:txBody>
          <a:bodyPr wrap="square" lIns="0" tIns="0" rIns="0" bIns="0" rtlCol="0" anchor="t"/>
          <a:lstStyle/>
          <a:p>
            <a:pPr indent="0" marL="0">
              <a:buNone/>
            </a:pPr>
            <a:r>
              <a:rPr lang="ko-KR" altLang="en-US" sz="1400" dirty="0">
                <a:solidFill>
                  <a:schemeClr val="tx1"/>
                </a:solidFill>
              </a:rPr>
              <a:t>단일 파일 실행본. 약 4분 만에 핵심 수치를 출력하고 스스로 대조합니다.</a:t>
            </a:r>
            <a:endParaRPr lang="ko-KR" sz="1400" dirty="0"/>
          </a:p>
        </p:txBody>
      </p:sp>
      <p:sp>
        <p:nvSpPr>
          <p:cNvPr id="10" name="card-358"/>
          <p:cNvSpPr/>
          <p:nvPr/>
        </p:nvSpPr>
        <p:spPr>
          <a:xfrm>
            <a:off x="548640" y="4983480"/>
            <a:ext cx="5394960" cy="1188720"/>
          </a:xfrm>
          <a:prstGeom prst="roundRect">
            <a:avLst>
              <a:gd name="adj" fmla="val 6154"/>
            </a:avLst>
          </a:prstGeom>
          <a:solidFill>
            <a:schemeClr val="bg2"/>
          </a:solidFill>
          <a:ln w="12700">
            <a:solidFill>
              <a:schemeClr val="bg2"/>
            </a:solidFill>
            <a:prstDash val="solid"/>
          </a:ln>
        </p:spPr>
      </p:sp>
      <p:sp>
        <p:nvSpPr>
          <p:cNvPr id="11" name="text-359"/>
          <p:cNvSpPr txBox="1"/>
          <p:nvPr/>
        </p:nvSpPr>
        <p:spPr>
          <a:xfrm>
            <a:off x="777240" y="5102352"/>
            <a:ext cx="4937760" cy="292608"/>
          </a:xfrm>
          <a:prstGeom prst="rect">
            <a:avLst/>
          </a:prstGeom>
          <a:noFill/>
          <a:ln/>
        </p:spPr>
        <p:txBody>
          <a:bodyPr wrap="square" lIns="0" tIns="0" rIns="0" bIns="0" rtlCol="0" anchor="t"/>
          <a:lstStyle/>
          <a:p>
            <a:pPr indent="0" marL="0">
              <a:buNone/>
            </a:pPr>
            <a:r>
              <a:rPr lang="ko-KR" altLang="en-US" sz="1400" b="1" dirty="0">
                <a:solidFill>
                  <a:schemeClr val="tx2"/>
                </a:solidFill>
              </a:rPr>
              <a:t>environment.yml</a:t>
            </a:r>
            <a:endParaRPr lang="ko-KR" sz="1400" dirty="0"/>
          </a:p>
        </p:txBody>
      </p:sp>
      <p:sp>
        <p:nvSpPr>
          <p:cNvPr id="12" name="text-360"/>
          <p:cNvSpPr txBox="1"/>
          <p:nvPr/>
        </p:nvSpPr>
        <p:spPr>
          <a:xfrm>
            <a:off x="777240" y="5413248"/>
            <a:ext cx="4983480" cy="685800"/>
          </a:xfrm>
          <a:prstGeom prst="rect">
            <a:avLst/>
          </a:prstGeom>
          <a:noFill/>
          <a:ln/>
        </p:spPr>
        <p:txBody>
          <a:bodyPr wrap="square" lIns="0" tIns="0" rIns="0" bIns="0" rtlCol="0" anchor="t"/>
          <a:lstStyle/>
          <a:p>
            <a:pPr indent="0" marL="0">
              <a:buNone/>
            </a:pPr>
            <a:r>
              <a:rPr lang="ko-KR" altLang="en-US" sz="1300" dirty="0">
                <a:solidFill>
                  <a:schemeClr val="tx1"/>
                </a:solidFill>
              </a:rPr>
              <a:t>Python 3.12 · numpy 2.5.3 · pandas 3.0.6 · scikit-learn 1.9.1 · LightGBM 4.7.0 (OpenBLAS)</a:t>
            </a:r>
            <a:endParaRPr lang="ko-KR" sz="1300" dirty="0"/>
          </a:p>
        </p:txBody>
      </p:sp>
      <p:sp>
        <p:nvSpPr>
          <p:cNvPr id="13" name="icon-bg-361"/>
          <p:cNvSpPr/>
          <p:nvPr/>
        </p:nvSpPr>
        <p:spPr>
          <a:xfrm>
            <a:off x="6400800" y="1691640"/>
            <a:ext cx="566928" cy="566928"/>
          </a:xfrm>
          <a:prstGeom prst="ellipse">
            <a:avLst/>
          </a:prstGeom>
          <a:solidFill>
            <a:schemeClr val="accent1"/>
          </a:solidFill>
          <a:ln w="12700">
            <a:solidFill>
              <a:schemeClr val="accent1"/>
            </a:solidFill>
            <a:prstDash val="solid"/>
          </a:ln>
        </p:spPr>
      </p:sp>
      <p:pic>
        <p:nvPicPr>
          <p:cNvPr id="14" name="icon-362" descr="preencoded.png">    </p:cNvPr>
          <p:cNvPicPr>
            <a:picLocks noChangeAspect="1"/>
          </p:cNvPicPr>
          <p:nvPr/>
        </p:nvPicPr>
        <p:blipFill>
          <a:blip r:embed="rId1"/>
          <a:stretch>
            <a:fillRect/>
          </a:stretch>
        </p:blipFill>
        <p:spPr>
          <a:xfrm>
            <a:off x="6548201" y="1839041"/>
            <a:ext cx="272125" cy="272125"/>
          </a:xfrm>
          <a:prstGeom prst="rect">
            <a:avLst/>
          </a:prstGeom>
        </p:spPr>
      </p:pic>
      <p:sp>
        <p:nvSpPr>
          <p:cNvPr id="15" name="text-363"/>
          <p:cNvSpPr txBox="1"/>
          <p:nvPr/>
        </p:nvSpPr>
        <p:spPr>
          <a:xfrm>
            <a:off x="7168896" y="1673352"/>
            <a:ext cx="4471416" cy="329184"/>
          </a:xfrm>
          <a:prstGeom prst="rect">
            <a:avLst/>
          </a:prstGeom>
          <a:noFill/>
          <a:ln/>
        </p:spPr>
        <p:txBody>
          <a:bodyPr wrap="square" lIns="0" tIns="0" rIns="0" bIns="0" rtlCol="0" anchor="t"/>
          <a:lstStyle/>
          <a:p>
            <a:pPr indent="0" marL="0">
              <a:buNone/>
            </a:pPr>
            <a:r>
              <a:rPr lang="ko-KR" altLang="en-US" sz="1600" b="1" dirty="0">
                <a:solidFill>
                  <a:schemeClr val="tx2"/>
                </a:solidFill>
              </a:rPr>
              <a:t>평가 규약 단일 출처</a:t>
            </a:r>
            <a:endParaRPr lang="ko-KR" sz="1600" dirty="0"/>
          </a:p>
        </p:txBody>
      </p:sp>
      <p:sp>
        <p:nvSpPr>
          <p:cNvPr id="16" name="text-364"/>
          <p:cNvSpPr txBox="1"/>
          <p:nvPr/>
        </p:nvSpPr>
        <p:spPr>
          <a:xfrm>
            <a:off x="7168896" y="2020824"/>
            <a:ext cx="4471416" cy="685800"/>
          </a:xfrm>
          <a:prstGeom prst="rect">
            <a:avLst/>
          </a:prstGeom>
          <a:noFill/>
          <a:ln/>
        </p:spPr>
        <p:txBody>
          <a:bodyPr wrap="square" lIns="0" tIns="0" rIns="0" bIns="0" rtlCol="0" anchor="t"/>
          <a:lstStyle/>
          <a:p>
            <a:pPr indent="0" marL="0">
              <a:buNone/>
            </a:pPr>
            <a:r>
              <a:rPr lang="ko-KR" altLang="en-US" sz="1400" dirty="0">
                <a:solidFill>
                  <a:schemeClr val="tx1"/>
                </a:solidFill>
              </a:rPr>
              <a:t>평가 행·폴드·시드·최종 설정을 src/model.py 한 곳에 정의</a:t>
            </a:r>
            <a:endParaRPr lang="ko-KR" sz="1400" dirty="0"/>
          </a:p>
        </p:txBody>
      </p:sp>
      <p:sp>
        <p:nvSpPr>
          <p:cNvPr id="17" name="icon-bg-365"/>
          <p:cNvSpPr/>
          <p:nvPr/>
        </p:nvSpPr>
        <p:spPr>
          <a:xfrm>
            <a:off x="6400800" y="2816352"/>
            <a:ext cx="566928" cy="566928"/>
          </a:xfrm>
          <a:prstGeom prst="ellipse">
            <a:avLst/>
          </a:prstGeom>
          <a:solidFill>
            <a:schemeClr val="accent1"/>
          </a:solidFill>
          <a:ln w="12700">
            <a:solidFill>
              <a:schemeClr val="accent1"/>
            </a:solidFill>
            <a:prstDash val="solid"/>
          </a:ln>
        </p:spPr>
      </p:sp>
      <p:pic>
        <p:nvPicPr>
          <p:cNvPr id="18" name="icon-366" descr="preencoded.png">    </p:cNvPr>
          <p:cNvPicPr>
            <a:picLocks noChangeAspect="1"/>
          </p:cNvPicPr>
          <p:nvPr/>
        </p:nvPicPr>
        <p:blipFill>
          <a:blip r:embed="rId2"/>
          <a:stretch>
            <a:fillRect/>
          </a:stretch>
        </p:blipFill>
        <p:spPr>
          <a:xfrm>
            <a:off x="6548201" y="2963753"/>
            <a:ext cx="272125" cy="272125"/>
          </a:xfrm>
          <a:prstGeom prst="rect">
            <a:avLst/>
          </a:prstGeom>
        </p:spPr>
      </p:pic>
      <p:sp>
        <p:nvSpPr>
          <p:cNvPr id="19" name="text-367"/>
          <p:cNvSpPr txBox="1"/>
          <p:nvPr/>
        </p:nvSpPr>
        <p:spPr>
          <a:xfrm>
            <a:off x="7168896" y="2798064"/>
            <a:ext cx="4471416" cy="329184"/>
          </a:xfrm>
          <a:prstGeom prst="rect">
            <a:avLst/>
          </a:prstGeom>
          <a:noFill/>
          <a:ln/>
        </p:spPr>
        <p:txBody>
          <a:bodyPr wrap="square" lIns="0" tIns="0" rIns="0" bIns="0" rtlCol="0" anchor="t"/>
          <a:lstStyle/>
          <a:p>
            <a:pPr indent="0" marL="0">
              <a:buNone/>
            </a:pPr>
            <a:r>
              <a:rPr lang="ko-KR" altLang="en-US" sz="1600" b="1" dirty="0">
                <a:solidFill>
                  <a:schemeClr val="tx2"/>
                </a:solidFill>
              </a:rPr>
              <a:t>시드 고정과 평균 보고</a:t>
            </a:r>
            <a:endParaRPr lang="ko-KR" sz="1600" dirty="0"/>
          </a:p>
        </p:txBody>
      </p:sp>
      <p:sp>
        <p:nvSpPr>
          <p:cNvPr id="20" name="text-368"/>
          <p:cNvSpPr txBox="1"/>
          <p:nvPr/>
        </p:nvSpPr>
        <p:spPr>
          <a:xfrm>
            <a:off x="7168896" y="3145536"/>
            <a:ext cx="4471416" cy="685800"/>
          </a:xfrm>
          <a:prstGeom prst="rect">
            <a:avLst/>
          </a:prstGeom>
          <a:noFill/>
          <a:ln/>
        </p:spPr>
        <p:txBody>
          <a:bodyPr wrap="square" lIns="0" tIns="0" rIns="0" bIns="0" rtlCol="0" anchor="t"/>
          <a:lstStyle/>
          <a:p>
            <a:pPr indent="0" marL="0">
              <a:buNone/>
            </a:pPr>
            <a:r>
              <a:rPr lang="ko-KR" altLang="en-US" sz="1400" dirty="0">
                <a:solidFill>
                  <a:schemeClr val="tx1"/>
                </a:solidFill>
              </a:rPr>
              <a:t>시드 0·1·2 반복, 평균과 표준편차를 함께 보고</a:t>
            </a:r>
            <a:endParaRPr lang="ko-KR" sz="1400" dirty="0"/>
          </a:p>
        </p:txBody>
      </p:sp>
      <p:sp>
        <p:nvSpPr>
          <p:cNvPr id="21" name="icon-bg-369"/>
          <p:cNvSpPr/>
          <p:nvPr/>
        </p:nvSpPr>
        <p:spPr>
          <a:xfrm>
            <a:off x="6400800" y="3941064"/>
            <a:ext cx="566928" cy="566928"/>
          </a:xfrm>
          <a:prstGeom prst="ellipse">
            <a:avLst/>
          </a:prstGeom>
          <a:solidFill>
            <a:schemeClr val="accent1"/>
          </a:solidFill>
          <a:ln w="12700">
            <a:solidFill>
              <a:schemeClr val="accent1"/>
            </a:solidFill>
            <a:prstDash val="solid"/>
          </a:ln>
        </p:spPr>
      </p:sp>
      <p:pic>
        <p:nvPicPr>
          <p:cNvPr id="22" name="icon-370" descr="preencoded.png">    </p:cNvPr>
          <p:cNvPicPr>
            <a:picLocks noChangeAspect="1"/>
          </p:cNvPicPr>
          <p:nvPr/>
        </p:nvPicPr>
        <p:blipFill>
          <a:blip r:embed="rId3"/>
          <a:stretch>
            <a:fillRect/>
          </a:stretch>
        </p:blipFill>
        <p:spPr>
          <a:xfrm>
            <a:off x="6548201" y="4088465"/>
            <a:ext cx="272125" cy="272125"/>
          </a:xfrm>
          <a:prstGeom prst="rect">
            <a:avLst/>
          </a:prstGeom>
        </p:spPr>
      </p:pic>
      <p:sp>
        <p:nvSpPr>
          <p:cNvPr id="23" name="text-371"/>
          <p:cNvSpPr txBox="1"/>
          <p:nvPr/>
        </p:nvSpPr>
        <p:spPr>
          <a:xfrm>
            <a:off x="7168896" y="3922776"/>
            <a:ext cx="4471416" cy="329184"/>
          </a:xfrm>
          <a:prstGeom prst="rect">
            <a:avLst/>
          </a:prstGeom>
          <a:noFill/>
          <a:ln/>
        </p:spPr>
        <p:txBody>
          <a:bodyPr wrap="square" lIns="0" tIns="0" rIns="0" bIns="0" rtlCol="0" anchor="t"/>
          <a:lstStyle/>
          <a:p>
            <a:pPr indent="0" marL="0">
              <a:buNone/>
            </a:pPr>
            <a:r>
              <a:rPr lang="ko-KR" altLang="en-US" sz="1600" b="1" dirty="0">
                <a:solidFill>
                  <a:schemeClr val="tx2"/>
                </a:solidFill>
              </a:rPr>
              <a:t>실행본 자기 검증</a:t>
            </a:r>
            <a:endParaRPr lang="ko-KR" sz="1600" dirty="0"/>
          </a:p>
        </p:txBody>
      </p:sp>
      <p:sp>
        <p:nvSpPr>
          <p:cNvPr id="24" name="text-372"/>
          <p:cNvSpPr txBox="1"/>
          <p:nvPr/>
        </p:nvSpPr>
        <p:spPr>
          <a:xfrm>
            <a:off x="7168896" y="4270248"/>
            <a:ext cx="4471416" cy="685800"/>
          </a:xfrm>
          <a:prstGeom prst="rect">
            <a:avLst/>
          </a:prstGeom>
          <a:noFill/>
          <a:ln/>
        </p:spPr>
        <p:txBody>
          <a:bodyPr wrap="square" lIns="0" tIns="0" rIns="0" bIns="0" rtlCol="0" anchor="t"/>
          <a:lstStyle/>
          <a:p>
            <a:pPr indent="0" marL="0">
              <a:buNone/>
            </a:pPr>
            <a:r>
              <a:rPr lang="ko-KR" altLang="en-US" sz="1400" dirty="0">
                <a:solidFill>
                  <a:schemeClr val="tx1"/>
                </a:solidFill>
              </a:rPr>
              <a:t>MAE 6.57 · 피크 12.49 · 일 최대 8.61 · 재현율 100% · 시각 적중 20.4% · 학습 5,788행</a:t>
            </a:r>
            <a:endParaRPr lang="ko-KR" sz="1400" dirty="0"/>
          </a:p>
        </p:txBody>
      </p:sp>
      <p:sp>
        <p:nvSpPr>
          <p:cNvPr id="25" name="icon-bg-373"/>
          <p:cNvSpPr/>
          <p:nvPr/>
        </p:nvSpPr>
        <p:spPr>
          <a:xfrm>
            <a:off x="6400800" y="5065776"/>
            <a:ext cx="566928" cy="566928"/>
          </a:xfrm>
          <a:prstGeom prst="ellipse">
            <a:avLst/>
          </a:prstGeom>
          <a:solidFill>
            <a:schemeClr val="accent1"/>
          </a:solidFill>
          <a:ln w="12700">
            <a:solidFill>
              <a:schemeClr val="accent1"/>
            </a:solidFill>
            <a:prstDash val="solid"/>
          </a:ln>
        </p:spPr>
      </p:sp>
      <p:pic>
        <p:nvPicPr>
          <p:cNvPr id="26" name="icon-374" descr="preencoded.png">    </p:cNvPr>
          <p:cNvPicPr>
            <a:picLocks noChangeAspect="1"/>
          </p:cNvPicPr>
          <p:nvPr/>
        </p:nvPicPr>
        <p:blipFill>
          <a:blip r:embed="rId4"/>
          <a:stretch>
            <a:fillRect/>
          </a:stretch>
        </p:blipFill>
        <p:spPr>
          <a:xfrm>
            <a:off x="6548201" y="5213177"/>
            <a:ext cx="272125" cy="272125"/>
          </a:xfrm>
          <a:prstGeom prst="rect">
            <a:avLst/>
          </a:prstGeom>
        </p:spPr>
      </p:pic>
      <p:sp>
        <p:nvSpPr>
          <p:cNvPr id="27" name="text-375"/>
          <p:cNvSpPr txBox="1"/>
          <p:nvPr/>
        </p:nvSpPr>
        <p:spPr>
          <a:xfrm>
            <a:off x="7168896" y="5047488"/>
            <a:ext cx="4471416" cy="329184"/>
          </a:xfrm>
          <a:prstGeom prst="rect">
            <a:avLst/>
          </a:prstGeom>
          <a:noFill/>
          <a:ln/>
        </p:spPr>
        <p:txBody>
          <a:bodyPr wrap="square" lIns="0" tIns="0" rIns="0" bIns="0" rtlCol="0" anchor="t"/>
          <a:lstStyle/>
          <a:p>
            <a:pPr indent="0" marL="0">
              <a:buNone/>
            </a:pPr>
            <a:r>
              <a:rPr lang="ko-KR" altLang="en-US" sz="1600" b="1" dirty="0">
                <a:solidFill>
                  <a:schemeClr val="tx2"/>
                </a:solidFill>
              </a:rPr>
              <a:t>자동 테스트</a:t>
            </a:r>
            <a:endParaRPr lang="ko-KR" sz="1600" dirty="0"/>
          </a:p>
        </p:txBody>
      </p:sp>
      <p:sp>
        <p:nvSpPr>
          <p:cNvPr id="28" name="text-376"/>
          <p:cNvSpPr txBox="1"/>
          <p:nvPr/>
        </p:nvSpPr>
        <p:spPr>
          <a:xfrm>
            <a:off x="7168896" y="5394960"/>
            <a:ext cx="4471416" cy="685800"/>
          </a:xfrm>
          <a:prstGeom prst="rect">
            <a:avLst/>
          </a:prstGeom>
          <a:noFill/>
          <a:ln/>
        </p:spPr>
        <p:txBody>
          <a:bodyPr wrap="square" lIns="0" tIns="0" rIns="0" bIns="0" rtlCol="0" anchor="t"/>
          <a:lstStyle/>
          <a:p>
            <a:pPr indent="0" marL="0">
              <a:buNone/>
            </a:pPr>
            <a:r>
              <a:rPr lang="ko-KR" altLang="en-US" sz="1400" dirty="0">
                <a:solidFill>
                  <a:schemeClr val="tx1"/>
                </a:solidFill>
              </a:rPr>
              <a:t>176회 누수 검증을 테스트로 고정해 코드를 고쳐도 바로 확인</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ko-KR" altLang="en-US" sz="1300" b="1" dirty="0">
                <a:solidFill>
                  <a:schemeClr val="accent5"/>
                </a:solidFill>
              </a:rPr>
              <a:t>결론</a:t>
            </a:r>
            <a:endParaRPr lang="ko-KR" sz="13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ko-KR" altLang="en-US" sz="2800" b="1" dirty="0">
                <a:solidFill>
                  <a:schemeClr val="bg1"/>
                </a:solidFill>
              </a:rPr>
              <a:t>정리와 다음 단계</a:t>
            </a:r>
            <a:endParaRPr lang="ko-KR" sz="2800" dirty="0"/>
          </a:p>
        </p:txBody>
      </p:sp>
      <p:sp>
        <p:nvSpPr>
          <p:cNvPr id="4" name="text-377"/>
          <p:cNvSpPr txBox="1"/>
          <p:nvPr/>
        </p:nvSpPr>
        <p:spPr>
          <a:xfrm>
            <a:off x="548640" y="1645920"/>
            <a:ext cx="5120640" cy="365760"/>
          </a:xfrm>
          <a:prstGeom prst="rect">
            <a:avLst/>
          </a:prstGeom>
          <a:noFill/>
          <a:ln/>
        </p:spPr>
        <p:txBody>
          <a:bodyPr wrap="square" lIns="0" tIns="0" rIns="0" bIns="0" rtlCol="0" anchor="t"/>
          <a:lstStyle/>
          <a:p>
            <a:pPr indent="0" marL="0">
              <a:buNone/>
            </a:pPr>
            <a:r>
              <a:rPr lang="ko-KR" altLang="en-US" sz="1800" b="1" dirty="0">
                <a:solidFill>
                  <a:schemeClr val="accent5"/>
                </a:solidFill>
              </a:rPr>
              <a:t>결론</a:t>
            </a:r>
            <a:endParaRPr lang="ko-KR" sz="1800" dirty="0"/>
          </a:p>
        </p:txBody>
      </p:sp>
      <p:sp>
        <p:nvSpPr>
          <p:cNvPr id="5" name="text-378"/>
          <p:cNvSpPr txBox="1"/>
          <p:nvPr/>
        </p:nvSpPr>
        <p:spPr>
          <a:xfrm>
            <a:off x="548640" y="2148840"/>
            <a:ext cx="5120640" cy="2743200"/>
          </a:xfrm>
          <a:prstGeom prst="rect">
            <a:avLst/>
          </a:prstGeom>
          <a:noFill/>
          <a:ln/>
        </p:spPr>
        <p:txBody>
          <a:bodyPr wrap="square" lIns="0" tIns="0" rIns="0" bIns="0" rtlCol="0" anchor="t"/>
          <a:lstStyle/>
          <a:p>
            <a:pPr marL="203200" indent="-203200">
              <a:spcAft>
                <a:spcPts val="1200"/>
              </a:spcAft>
              <a:buSzPct val="100000"/>
              <a:buChar char="•"/>
            </a:pPr>
            <a:r>
              <a:rPr lang="ko-KR" altLang="en-US" sz="1600" dirty="0">
                <a:solidFill>
                  <a:schemeClr val="bg1"/>
                </a:solidFill>
              </a:rPr>
              <a:t>복제·누락을 걸러낸 평가에서 목표선 대비 오차 71%, 피크 구간 65% 감소</a:t>
            </a:r>
            <a:endParaRPr lang="ko-KR" sz="1600" dirty="0"/>
          </a:p>
          <a:p>
            <a:pPr marL="203200" indent="-203200">
              <a:spcAft>
                <a:spcPts val="1200"/>
              </a:spcAft>
              <a:buSzPct val="100000"/>
              <a:buChar char="•"/>
            </a:pPr>
            <a:r>
              <a:rPr lang="ko-KR" altLang="en-US" sz="1600" dirty="0">
                <a:solidFill>
                  <a:schemeClr val="bg1"/>
                </a:solidFill>
              </a:rPr>
              <a:t>15분 최대 P90 경보로 평가 69일 위험일 미탐지 0건</a:t>
            </a:r>
            <a:endParaRPr lang="ko-KR" sz="1600" dirty="0"/>
          </a:p>
          <a:p>
            <a:pPr marL="203200" indent="-203200">
              <a:spcAft>
                <a:spcPts val="1200"/>
              </a:spcAft>
              <a:buSzPct val="100000"/>
              <a:buChar char="•"/>
            </a:pPr>
            <a:r>
              <a:rPr lang="ko-KR" altLang="en-US" sz="1600" dirty="0">
                <a:solidFill>
                  <a:schemeClr val="bg1"/>
                </a:solidFill>
              </a:rPr>
              <a:t>평상시 기동 분산 + 경보일 피크 억제로 연 43만 to 306만 원 절감 (축 B 50%)</a:t>
            </a:r>
            <a:endParaRPr lang="ko-KR" sz="1600" dirty="0"/>
          </a:p>
        </p:txBody>
      </p:sp>
      <p:sp>
        <p:nvSpPr>
          <p:cNvPr id="6" name="text-379"/>
          <p:cNvSpPr txBox="1"/>
          <p:nvPr/>
        </p:nvSpPr>
        <p:spPr>
          <a:xfrm>
            <a:off x="6217920" y="1645920"/>
            <a:ext cx="5422392" cy="365760"/>
          </a:xfrm>
          <a:prstGeom prst="rect">
            <a:avLst/>
          </a:prstGeom>
          <a:noFill/>
          <a:ln/>
        </p:spPr>
        <p:txBody>
          <a:bodyPr wrap="square" lIns="0" tIns="0" rIns="0" bIns="0" rtlCol="0" anchor="t"/>
          <a:lstStyle/>
          <a:p>
            <a:pPr indent="0" marL="0">
              <a:buNone/>
            </a:pPr>
            <a:r>
              <a:rPr lang="ko-KR" altLang="en-US" sz="1800" b="1" dirty="0">
                <a:solidFill>
                  <a:schemeClr val="accent5"/>
                </a:solidFill>
              </a:rPr>
              <a:t>한계와 다음 단계</a:t>
            </a:r>
            <a:endParaRPr lang="ko-KR" sz="1800" dirty="0"/>
          </a:p>
        </p:txBody>
      </p:sp>
      <p:sp>
        <p:nvSpPr>
          <p:cNvPr id="7" name="card-380"/>
          <p:cNvSpPr/>
          <p:nvPr/>
        </p:nvSpPr>
        <p:spPr>
          <a:xfrm>
            <a:off x="6217920" y="2148840"/>
            <a:ext cx="5422392" cy="804672"/>
          </a:xfrm>
          <a:prstGeom prst="roundRect">
            <a:avLst>
              <a:gd name="adj" fmla="val 9091"/>
            </a:avLst>
          </a:prstGeom>
          <a:solidFill>
            <a:srgbClr val="213A52"/>
          </a:solidFill>
          <a:ln w="12700">
            <a:solidFill>
              <a:srgbClr val="213A52"/>
            </a:solidFill>
            <a:prstDash val="solid"/>
          </a:ln>
        </p:spPr>
      </p:sp>
      <p:sp>
        <p:nvSpPr>
          <p:cNvPr id="8" name="text-381"/>
          <p:cNvSpPr txBox="1"/>
          <p:nvPr/>
        </p:nvSpPr>
        <p:spPr>
          <a:xfrm>
            <a:off x="6400800" y="2148840"/>
            <a:ext cx="2468880" cy="804672"/>
          </a:xfrm>
          <a:prstGeom prst="rect">
            <a:avLst/>
          </a:prstGeom>
          <a:noFill/>
          <a:ln/>
        </p:spPr>
        <p:txBody>
          <a:bodyPr wrap="square" lIns="0" tIns="0" rIns="0" bIns="0" rtlCol="0" anchor="ctr"/>
          <a:lstStyle/>
          <a:p>
            <a:pPr indent="0" marL="0">
              <a:buNone/>
            </a:pPr>
            <a:r>
              <a:rPr lang="ko-KR" altLang="en-US" sz="1400" b="1" dirty="0">
                <a:solidFill>
                  <a:schemeClr val="bg1"/>
                </a:solidFill>
              </a:rPr>
              <a:t>독립 검증 구간 없음</a:t>
            </a:r>
            <a:endParaRPr lang="ko-KR" sz="1400" dirty="0"/>
          </a:p>
        </p:txBody>
      </p:sp>
      <p:sp>
        <p:nvSpPr>
          <p:cNvPr id="9" name="text-382"/>
          <p:cNvSpPr txBox="1"/>
          <p:nvPr/>
        </p:nvSpPr>
        <p:spPr>
          <a:xfrm>
            <a:off x="8869680" y="2148840"/>
            <a:ext cx="2651760" cy="804672"/>
          </a:xfrm>
          <a:prstGeom prst="rect">
            <a:avLst/>
          </a:prstGeom>
          <a:noFill/>
          <a:ln/>
        </p:spPr>
        <p:txBody>
          <a:bodyPr wrap="square" lIns="0" tIns="0" rIns="0" bIns="0" rtlCol="0" anchor="ctr"/>
          <a:lstStyle/>
          <a:p>
            <a:pPr indent="0" marL="0">
              <a:buNone/>
            </a:pPr>
            <a:r>
              <a:rPr lang="ko-KR" altLang="en-US" sz="1400" dirty="0">
                <a:solidFill>
                  <a:schemeClr val="bg2"/>
                </a:solidFill>
              </a:rPr>
              <a:t>→ 새 기간 데이터로 성능 재확인</a:t>
            </a:r>
            <a:endParaRPr lang="ko-KR" sz="1400" dirty="0"/>
          </a:p>
        </p:txBody>
      </p:sp>
      <p:sp>
        <p:nvSpPr>
          <p:cNvPr id="10" name="card-383"/>
          <p:cNvSpPr/>
          <p:nvPr/>
        </p:nvSpPr>
        <p:spPr>
          <a:xfrm>
            <a:off x="6217920" y="3108960"/>
            <a:ext cx="5422392" cy="804672"/>
          </a:xfrm>
          <a:prstGeom prst="roundRect">
            <a:avLst>
              <a:gd name="adj" fmla="val 9091"/>
            </a:avLst>
          </a:prstGeom>
          <a:solidFill>
            <a:srgbClr val="213A52"/>
          </a:solidFill>
          <a:ln w="12700">
            <a:solidFill>
              <a:srgbClr val="213A52"/>
            </a:solidFill>
            <a:prstDash val="solid"/>
          </a:ln>
        </p:spPr>
      </p:sp>
      <p:sp>
        <p:nvSpPr>
          <p:cNvPr id="11" name="text-384"/>
          <p:cNvSpPr txBox="1"/>
          <p:nvPr/>
        </p:nvSpPr>
        <p:spPr>
          <a:xfrm>
            <a:off x="6400800" y="3108960"/>
            <a:ext cx="2468880" cy="804672"/>
          </a:xfrm>
          <a:prstGeom prst="rect">
            <a:avLst/>
          </a:prstGeom>
          <a:noFill/>
          <a:ln/>
        </p:spPr>
        <p:txBody>
          <a:bodyPr wrap="square" lIns="0" tIns="0" rIns="0" bIns="0" rtlCol="0" anchor="ctr"/>
          <a:lstStyle/>
          <a:p>
            <a:pPr indent="0" marL="0">
              <a:buNone/>
            </a:pPr>
            <a:r>
              <a:rPr lang="ko-KR" altLang="en-US" sz="1400" b="1" dirty="0">
                <a:solidFill>
                  <a:schemeClr val="bg1"/>
                </a:solidFill>
              </a:rPr>
              <a:t>부분 가동 공휴일 과대예측</a:t>
            </a:r>
            <a:endParaRPr lang="ko-KR" sz="1400" dirty="0"/>
          </a:p>
        </p:txBody>
      </p:sp>
      <p:sp>
        <p:nvSpPr>
          <p:cNvPr id="12" name="text-385"/>
          <p:cNvSpPr txBox="1"/>
          <p:nvPr/>
        </p:nvSpPr>
        <p:spPr>
          <a:xfrm>
            <a:off x="8869680" y="3108960"/>
            <a:ext cx="2651760" cy="804672"/>
          </a:xfrm>
          <a:prstGeom prst="rect">
            <a:avLst/>
          </a:prstGeom>
          <a:noFill/>
          <a:ln/>
        </p:spPr>
        <p:txBody>
          <a:bodyPr wrap="square" lIns="0" tIns="0" rIns="0" bIns="0" rtlCol="0" anchor="ctr"/>
          <a:lstStyle/>
          <a:p>
            <a:pPr indent="0" marL="0">
              <a:buNone/>
            </a:pPr>
            <a:r>
              <a:rPr lang="ko-KR" altLang="en-US" sz="1400" dirty="0">
                <a:solidFill>
                  <a:schemeClr val="bg2"/>
                </a:solidFill>
              </a:rPr>
              <a:t>→ 공휴일 조업 계획을 입력으로 확보</a:t>
            </a:r>
            <a:endParaRPr lang="ko-KR" sz="1400" dirty="0"/>
          </a:p>
        </p:txBody>
      </p:sp>
      <p:sp>
        <p:nvSpPr>
          <p:cNvPr id="13" name="card-386"/>
          <p:cNvSpPr/>
          <p:nvPr/>
        </p:nvSpPr>
        <p:spPr>
          <a:xfrm>
            <a:off x="6217920" y="4069080"/>
            <a:ext cx="5422392" cy="804672"/>
          </a:xfrm>
          <a:prstGeom prst="roundRect">
            <a:avLst>
              <a:gd name="adj" fmla="val 9091"/>
            </a:avLst>
          </a:prstGeom>
          <a:solidFill>
            <a:srgbClr val="213A52"/>
          </a:solidFill>
          <a:ln w="12700">
            <a:solidFill>
              <a:srgbClr val="213A52"/>
            </a:solidFill>
            <a:prstDash val="solid"/>
          </a:ln>
        </p:spPr>
      </p:sp>
      <p:sp>
        <p:nvSpPr>
          <p:cNvPr id="14" name="text-387"/>
          <p:cNvSpPr txBox="1"/>
          <p:nvPr/>
        </p:nvSpPr>
        <p:spPr>
          <a:xfrm>
            <a:off x="6400800" y="4069080"/>
            <a:ext cx="2468880" cy="804672"/>
          </a:xfrm>
          <a:prstGeom prst="rect">
            <a:avLst/>
          </a:prstGeom>
          <a:noFill/>
          <a:ln/>
        </p:spPr>
        <p:txBody>
          <a:bodyPr wrap="square" lIns="0" tIns="0" rIns="0" bIns="0" rtlCol="0" anchor="ctr"/>
          <a:lstStyle/>
          <a:p>
            <a:pPr indent="0" marL="0">
              <a:buNone/>
            </a:pPr>
            <a:r>
              <a:rPr lang="ko-KR" altLang="en-US" sz="1400" b="1" dirty="0">
                <a:solidFill>
                  <a:schemeClr val="bg1"/>
                </a:solidFill>
              </a:rPr>
              <a:t>전력 단위·계약 종별 미확인</a:t>
            </a:r>
            <a:endParaRPr lang="ko-KR" sz="1400" dirty="0"/>
          </a:p>
        </p:txBody>
      </p:sp>
      <p:sp>
        <p:nvSpPr>
          <p:cNvPr id="15" name="text-388"/>
          <p:cNvSpPr txBox="1"/>
          <p:nvPr/>
        </p:nvSpPr>
        <p:spPr>
          <a:xfrm>
            <a:off x="8869680" y="4069080"/>
            <a:ext cx="2651760" cy="804672"/>
          </a:xfrm>
          <a:prstGeom prst="rect">
            <a:avLst/>
          </a:prstGeom>
          <a:noFill/>
          <a:ln/>
        </p:spPr>
        <p:txBody>
          <a:bodyPr wrap="square" lIns="0" tIns="0" rIns="0" bIns="0" rtlCol="0" anchor="ctr"/>
          <a:lstStyle/>
          <a:p>
            <a:pPr indent="0" marL="0">
              <a:buNone/>
            </a:pPr>
            <a:r>
              <a:rPr lang="ko-KR" altLang="en-US" sz="1400" dirty="0">
                <a:solidFill>
                  <a:schemeClr val="bg2"/>
                </a:solidFill>
              </a:rPr>
              <a:t>→ 확인 즉시 금액 확정, 계약전력을 경보 임계로 전환</a:t>
            </a:r>
            <a:endParaRPr lang="ko-KR" sz="1400" dirty="0"/>
          </a:p>
        </p:txBody>
      </p:sp>
      <p:sp>
        <p:nvSpPr>
          <p:cNvPr id="16" name="text-389"/>
          <p:cNvSpPr txBox="1"/>
          <p:nvPr/>
        </p:nvSpPr>
        <p:spPr>
          <a:xfrm>
            <a:off x="548640" y="5394960"/>
            <a:ext cx="11091672" cy="640080"/>
          </a:xfrm>
          <a:prstGeom prst="rect">
            <a:avLst/>
          </a:prstGeom>
          <a:noFill/>
          <a:ln/>
        </p:spPr>
        <p:txBody>
          <a:bodyPr wrap="square" lIns="0" tIns="0" rIns="0" bIns="0" rtlCol="0" anchor="ctr"/>
          <a:lstStyle/>
          <a:p>
            <a:pPr algn="ctr" indent="0" marL="0">
              <a:buNone/>
            </a:pPr>
            <a:r>
              <a:rPr lang="ko-KR" altLang="en-US" sz="2800" b="1" dirty="0">
                <a:solidFill>
                  <a:schemeClr val="bg1"/>
                </a:solidFill>
              </a:rPr>
              <a:t>감사합니다</a:t>
            </a:r>
            <a:endParaRPr lang="ko-KR" sz="28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AMP Power Ops">
  <a:themeElements>
    <a:clrScheme name="KAMP Power Ops">
      <a:dk1>
        <a:srgbClr val="1C2733"/>
      </a:dk1>
      <a:lt1>
        <a:srgbClr val="FFFFFF"/>
      </a:lt1>
      <a:dk2>
        <a:srgbClr val="15283A"/>
      </a:dk2>
      <a:lt2>
        <a:srgbClr val="F1F4F3"/>
      </a:lt2>
      <a:accent1>
        <a:srgbClr val="0E7C61"/>
      </a:accent1>
      <a:accent2>
        <a:srgbClr val="D9622B"/>
      </a:accent2>
      <a:accent3>
        <a:srgbClr val="8C9AA6"/>
      </a:accent3>
      <a:accent4>
        <a:srgbClr val="B83A3A"/>
      </a:accent4>
      <a:accent5>
        <a:srgbClr val="7DC4A6"/>
      </a:accent5>
      <a:accent6>
        <a:srgbClr val="E0A23A"/>
      </a:accent6>
      <a:hlink>
        <a:srgbClr val="0E7C61"/>
      </a:hlink>
      <a:folHlink>
        <a:srgbClr val="5B6B7A"/>
      </a:folHlink>
    </a:clrScheme>
    <a:fontScheme name="KAMP Power Ops">
      <a:majorFont>
        <a:latin typeface="Malgun Gothic"/>
        <a:ea typeface="Malgun 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Malgun 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FirstPlaceSolution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전력사용량 예측과 최대피크 위험조건 분석</dc:title>
  <dc:subject>PptxGenJS Presentation</dc:subject>
  <dc:creator>FirstPlaceSolution</dc:creator>
  <cp:lastModifiedBy>FirstPlaceSolution</cp:lastModifiedBy>
  <cp:revision>1</cp:revision>
  <dcterms:created xsi:type="dcterms:W3CDTF">2026-10-06T23:55:32Z</dcterms:created>
  <dcterms:modified xsi:type="dcterms:W3CDTF">2026-10-06T23:55:32Z</dcterms:modified>
</cp:coreProperties>
</file>